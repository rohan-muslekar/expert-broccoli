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5BDB"/>
                </a:solidFill>
                <a:latin typeface="Calibri"/>
              </a:defRPr>
            </a:pPr>
            <a:r>
              <a:t>ENGR 5785G - Real-Time Data Analytics for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  <a:latin typeface="Calibri"/>
              </a:defRPr>
            </a:pPr>
            <a:r>
              <a:t>Real-Time Cheat Detection</a:t>
            </a:r>
            <a:br/>
            <a:r>
              <a:t>for Multiplayer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A5F6D"/>
                </a:solidFill>
                <a:latin typeface="Calibri"/>
              </a:defRPr>
            </a:pPr>
            <a:r>
              <a:t>A server-side streaming analytics pipeline using Kafka, Go, XGBoost,</a:t>
            </a:r>
            <a:br/>
            <a:r>
              <a:t>and LSTM Autoencoder to detect cheats in under 5 seconds</a:t>
            </a:r>
            <a:br/>
            <a:r>
              <a:t>with full Grafana observability.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B5BDB"/>
                </a:solidFill>
                <a:latin typeface="Calibri"/>
              </a:defRPr>
            </a:pPr>
            <a:r>
              <a:t>Go 1.22  |  Python 3.11  |  Apache Kafka  |  XGBoost + LSTM  |  Real-Time 60Hz  |  Docker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F6D"/>
                </a:solidFill>
                <a:latin typeface="Calibri"/>
              </a:defRPr>
            </a:pPr>
            <a:r>
              <a:t>Ontario Tech University |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Problem Definition &amp; IoT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F6D"/>
                </a:solidFill>
                <a:latin typeface="Calibri"/>
              </a:defRPr>
            </a:pPr>
            <a:r>
              <a:t>Why real-time cheat detection matters and how it maps to IoT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Cheating costs the gaming industry billions annually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Client-side anti-cheat (VAC, EAC) is bypassable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Post-match analysis takes hours to days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Client kernel drivers raise privacy concerns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Server-side: </a:t>
            </a:r>
            <a:r>
              <a:rPr sz="1300">
                <a:solidFill>
                  <a:srgbClr val="5A5F6D"/>
                </a:solidFill>
                <a:latin typeface="Calibri"/>
              </a:rPr>
              <a:t>behavioral detection, no client trust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Real-time: </a:t>
            </a:r>
            <a:r>
              <a:rPr sz="1300">
                <a:solidFill>
                  <a:srgbClr val="5A5F6D"/>
                </a:solidFill>
                <a:latin typeface="Calibri"/>
              </a:rPr>
              <a:t>streaming pipeline via Apache Kafka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Dual-paradigm ML: </a:t>
            </a:r>
            <a:r>
              <a:rPr sz="1300">
                <a:solidFill>
                  <a:srgbClr val="5A5F6D"/>
                </a:solidFill>
                <a:latin typeface="Calibri"/>
              </a:rPr>
              <a:t>supervised + unsupervised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Rule engine: </a:t>
            </a:r>
            <a:r>
              <a:rPr sz="1300">
                <a:solidFill>
                  <a:srgbClr val="5A5F6D"/>
                </a:solidFill>
                <a:latin typeface="Calibri"/>
              </a:rPr>
              <a:t>deterministic, zero false positives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Detection in under 5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IoT Parallels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Sensors: </a:t>
            </a:r>
            <a:r>
              <a:rPr sz="1300">
                <a:solidFill>
                  <a:srgbClr val="5A5F6D"/>
                </a:solidFill>
                <a:latin typeface="Calibri"/>
              </a:rPr>
              <a:t>60Hz telemetry like industrial IoT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Edge Processing: </a:t>
            </a:r>
            <a:r>
              <a:rPr sz="1300">
                <a:solidFill>
                  <a:srgbClr val="5A5F6D"/>
                </a:solidFill>
                <a:latin typeface="Calibri"/>
              </a:rPr>
              <a:t>sliding-window aggregation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Stream Processing: </a:t>
            </a:r>
            <a:r>
              <a:rPr sz="1300">
                <a:solidFill>
                  <a:srgbClr val="5A5F6D"/>
                </a:solidFill>
                <a:latin typeface="Calibri"/>
              </a:rPr>
              <a:t>Kafka (~540 events/sec)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Anomaly Detection: </a:t>
            </a:r>
            <a:r>
              <a:rPr sz="1300">
                <a:solidFill>
                  <a:srgbClr val="5A5F6D"/>
                </a:solidFill>
                <a:latin typeface="Calibri"/>
              </a:rPr>
              <a:t>LSTM autoencoder (same as IoT sensor anomaly detection)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Related Work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7548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Client-Side 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VAC, EAC, BattlEye, Vanguard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Detects known cheat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Kernel access; bypassable; privacy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Statistical Post-Match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CSGO Overwatch, manual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Human judgment, low 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Hours/days delay; doesn't scale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ML-Based Behavioral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Research papers (CS2CD)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Detects behavioral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Usually offline; single-paradigm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F6D"/>
                </a:solidFill>
                <a:latin typeface="Calibri"/>
              </a:defRPr>
            </a:pPr>
            <a:r>
              <a:t>7 Docker containers, 4 Kafka topics, 3 detection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194560" cy="1097280"/>
          </a:xfrm>
          <a:prstGeom prst="round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Browser (:80)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HTML5 Canvas
WASD + Mouse
F5-F8 Cheats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554480"/>
            <a:ext cx="3200400" cy="1097280"/>
          </a:xfrm>
          <a:prstGeom prst="roundRect">
            <a:avLst/>
          </a:prstGeom>
          <a:solidFill>
            <a:srgbClr val="0C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Game Server (:8080)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Authoritative Game Loop
60Hz Tick | 8 Bots + Humans
Physics | Raycast | Spatial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554480"/>
            <a:ext cx="3200400" cy="1097280"/>
          </a:xfrm>
          <a:prstGeom prst="roundRect">
            <a:avLst/>
          </a:prstGeom>
          <a:solidFill>
            <a:srgbClr val="704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Apache Kafka (:9092)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telemetry.raw | events.kills
features.computed
alerts.detections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200400"/>
            <a:ext cx="3200400" cy="914400"/>
          </a:xfrm>
          <a:prstGeom prst="roundRect">
            <a:avLst/>
          </a:prstGeom>
          <a:solidFill>
            <a:srgbClr val="0C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Feature Engine (Go)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Embedded in Game Server
3 Windows (1s, 5s, 30s) | 18 Features | 6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663440"/>
            <a:ext cx="3200400" cy="914400"/>
          </a:xfrm>
          <a:prstGeom prst="roundRect">
            <a:avLst/>
          </a:prstGeom>
          <a:solidFill>
            <a:srgbClr val="E6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ML Service (:8000)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Python | XGBoost (per-tick)
LSTM Autoencoder (per-sec)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200400"/>
            <a:ext cx="1463040" cy="914400"/>
          </a:xfrm>
          <a:prstGeom prst="roundRect">
            <a:avLst/>
          </a:prstGeom>
          <a:solidFill>
            <a:srgbClr val="864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Prometheus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(:9091)
Scrapes every 5s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3200400"/>
            <a:ext cx="1371600" cy="914400"/>
          </a:xfrm>
          <a:prstGeom prst="roundRect">
            <a:avLst/>
          </a:prstGeom>
          <a:solidFill>
            <a:srgbClr val="2B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Grafana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(:3000)
2 Dashboards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103120"/>
            <a:ext cx="1005840" cy="0"/>
          </a:xfrm>
          <a:prstGeom prst="line">
            <a:avLst/>
          </a:prstGeom>
          <a:ln w="25400">
            <a:solidFill>
              <a:srgbClr val="5A5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0" y="1783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5F6D"/>
                </a:solidFill>
                <a:latin typeface="Calibri"/>
              </a:defRPr>
            </a:pPr>
            <a:r>
              <a:t>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0" y="2103120"/>
            <a:ext cx="1371600" cy="0"/>
          </a:xfrm>
          <a:prstGeom prst="line">
            <a:avLst/>
          </a:prstGeom>
          <a:ln w="25400">
            <a:solidFill>
              <a:srgbClr val="5A5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57800" y="2651760"/>
            <a:ext cx="0" cy="548640"/>
          </a:xfrm>
          <a:prstGeom prst="line">
            <a:avLst/>
          </a:prstGeom>
          <a:ln w="25400">
            <a:solidFill>
              <a:srgbClr val="5A5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3566160"/>
            <a:ext cx="1371600" cy="0"/>
          </a:xfrm>
          <a:prstGeom prst="line">
            <a:avLst/>
          </a:prstGeom>
          <a:ln w="25400">
            <a:solidFill>
              <a:srgbClr val="5A5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57800" y="4114800"/>
            <a:ext cx="0" cy="548640"/>
          </a:xfrm>
          <a:prstGeom prst="line">
            <a:avLst/>
          </a:prstGeom>
          <a:ln w="25400">
            <a:solidFill>
              <a:srgbClr val="5A5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858000" y="4937760"/>
            <a:ext cx="1371600" cy="0"/>
          </a:xfrm>
          <a:prstGeom prst="line">
            <a:avLst/>
          </a:prstGeom>
          <a:ln w="25400">
            <a:solidFill>
              <a:srgbClr val="5A5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5120640"/>
            <a:ext cx="1371600" cy="0"/>
          </a:xfrm>
          <a:prstGeom prst="line">
            <a:avLst/>
          </a:prstGeom>
          <a:ln w="25400">
            <a:solidFill>
              <a:srgbClr val="5A5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692640" y="2651760"/>
            <a:ext cx="0" cy="548640"/>
          </a:xfrm>
          <a:prstGeom prst="line">
            <a:avLst/>
          </a:prstGeom>
          <a:ln w="25400">
            <a:solidFill>
              <a:srgbClr val="5A5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692640" y="3657600"/>
            <a:ext cx="365760" cy="0"/>
          </a:xfrm>
          <a:prstGeom prst="line">
            <a:avLst/>
          </a:prstGeom>
          <a:ln w="25400">
            <a:solidFill>
              <a:srgbClr val="5A5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0" y="4663440"/>
            <a:ext cx="3200400" cy="640080"/>
          </a:xfrm>
          <a:prstGeom prst="roundRect">
            <a:avLst/>
          </a:prstGeom>
          <a:solidFill>
            <a:srgbClr val="E8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/>
            <a:r>
              <a:rPr sz="1000" b="1">
                <a:solidFill>
                  <a:srgbClr val="7048E8"/>
                </a:solidFill>
                <a:latin typeface="Calibri"/>
              </a:rPr>
              <a:t>Kafka Topics (4 partitions each, player_id key)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5F6D"/>
                </a:solidFill>
                <a:latin typeface="Calibri"/>
              </a:defRPr>
            </a:pPr>
            <a:r>
              <a:t>Data flow: Player input (WebSocket) -&gt; Game Server (physics + feature extraction) -&gt; Kafka (4 topics) -&gt; ML Service (inference) -&gt; Kafka (alerts) -&gt; Grafana (dashboards)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Data Pipeline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F6D"/>
                </a:solidFill>
                <a:latin typeface="Calibri"/>
              </a:defRPr>
            </a:pPr>
            <a:r>
              <a:t>From raw input to computed features via Kafka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Telemetry Generation (60Hz)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Player sends raw input (keys, mouse) via WebSocket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Server computes position, velocity, aim, hit detection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Spatial context: </a:t>
            </a:r>
            <a:r>
              <a:rPr sz="1300">
                <a:solidFill>
                  <a:srgbClr val="5A5F6D"/>
                </a:solidFill>
                <a:latin typeface="Calibri"/>
              </a:rPr>
              <a:t>nearest enemy distance, angle, LOS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18 raw fields per player per tick to Kafka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Feature Engineering (Go)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3 sliding windows: </a:t>
            </a:r>
            <a:r>
              <a:rPr sz="1300">
                <a:solidFill>
                  <a:srgbClr val="5A5F6D"/>
                </a:solidFill>
                <a:latin typeface="Calibri"/>
              </a:rPr>
              <a:t>1s (60 ticks), 5s (300), 30s (1800)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18 computed features: </a:t>
            </a:r>
            <a:r>
              <a:rPr sz="1300">
                <a:solidFill>
                  <a:srgbClr val="5A5F6D"/>
                </a:solidFill>
                <a:latin typeface="Calibri"/>
              </a:rPr>
              <a:t>aim dynamics, combat stats, movement, spatial correlation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Ring buffer per player, 60s cleanup for inactive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Feature vectors sent to ML on every tick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Kafka Topics (KRaft)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0" y="1828800"/>
          <a:ext cx="3200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telemetry.raw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Raw state/tick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events.kills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Kill events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features.computed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18-feature vectors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alerts.detections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Rule + ML alerts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Cheat Simulation (Server-Side)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5720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Cheat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Toggle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Server-Side Behavior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Detectable Signature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Rule Threshold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Snaps aim to nearest enemy via atan2()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aim_delta &gt; 2.0 rad/tick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Normal: 0-0.5 rad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Speedhack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2.5x velocity 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speed &gt; 7.0 (cap is 5.0)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Normal: 0-5.0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Wallhack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 tracks enemy through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prefire_ratio &gt; 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Normal: 0-15%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Triggerbot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F8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Auto-fires within 0.1 rad of enemy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reaction_time &lt; 3 ticks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Normal: 9-15 ticks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Detection Layer 1: Rule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F6D"/>
                </a:solidFill>
                <a:latin typeface="Calibri"/>
              </a:defRPr>
            </a:pPr>
            <a:r>
              <a:t>Physics-derived thresholds with zero false positive rate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918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Detects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Normal Range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Cheat Range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speed_cap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speed_max_1s &gt; 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Speedhack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0 - 5.0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~12.5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Physics cap 5.0; 40% buffer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aim_snap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aim_delta_max_1s &gt;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0 - 0.5 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~3.14 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Mouse can't exceed 0.5 rad/tick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inhuman_accuracy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hit_rate_5s &gt; 85%, shots &gt;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20 - 50%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~100%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85% over 30+ shots unsustainable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aim_lock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aim_lock_ratio &gt;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5 - 30%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~100%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Aim within 0.1 rad 90%+ of time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prefire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prefire_ratio &gt; 60%, shots &gt;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Wallhack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0 - 15%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&gt; 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Consistently shooting through walls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triggerbot_reaction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reaction_time &lt; 3 ticks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Triggerbot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9 - 15 ticks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1 - 2 ticks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3 ticks = 50ms; human min ~150ms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Key insight: Every threshold sits in a dead zone between what's physically possible for a human and what the cheat produces. No statistical tuning needed. Derived directly from game physics constants.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Rule alerts include specific cheat type classification (aimbot, speedhack, wallhack, triggerbot)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5-second per-player cooldown prevents alert flooding while detection continues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Detection Layers 2 &amp; 3: ML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F6D"/>
                </a:solidFill>
                <a:latin typeface="Calibri"/>
              </a:defRPr>
            </a:pPr>
            <a:r>
              <a:t>XGBoost (supervised, known cheats) + LSTM Autoencoder (unsupervised, novel cheats)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5BDB"/>
                </a:solidFill>
                <a:latin typeface="Calibri"/>
              </a:defRPr>
            </a:pPr>
            <a:r>
              <a:t>XGBoost Binary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Input: </a:t>
            </a:r>
            <a:r>
              <a:rPr sz="1300">
                <a:solidFill>
                  <a:srgbClr val="5A5F6D"/>
                </a:solidFill>
                <a:latin typeface="Calibri"/>
              </a:rPr>
              <a:t>18-feature normalized vector (per tick)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Output: </a:t>
            </a:r>
            <a:r>
              <a:rPr sz="1300">
                <a:solidFill>
                  <a:srgbClr val="5A5F6D"/>
                </a:solidFill>
                <a:latin typeface="Calibri"/>
              </a:rPr>
              <a:t>Binary probability (none vs cheater), threshold &gt; 80%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Explainability: </a:t>
            </a:r>
            <a:r>
              <a:rPr sz="1300">
                <a:solidFill>
                  <a:srgbClr val="5A5F6D"/>
                </a:solidFill>
                <a:latin typeface="Calibri"/>
              </a:rPr>
              <a:t>Top-3 feature importances per alert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Split by player ID (80/20) to prevent data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A5F6D"/>
                </a:solidFill>
                <a:latin typeface="Consolas"/>
              </a:rPr>
              <a:t>max_depth: 6 | learning_rate: 0.1 | n_estimators: 200 | subsample: 0.8 | objective: binary:logistic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Why XGBoost?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Outperforms neural nets on tabular data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Microsecond inference (real-time capable)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Built-in feature importance for explainability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5BDB"/>
                </a:solidFill>
                <a:latin typeface="Calibri"/>
              </a:defRPr>
            </a:pPr>
            <a:r>
              <a:t>LSTM Autoencoder (Anomaly Detection)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Encoder: </a:t>
            </a:r>
            <a:r>
              <a:rPr sz="1300">
                <a:solidFill>
                  <a:srgbClr val="5A5F6D"/>
                </a:solidFill>
                <a:latin typeface="Calibri"/>
              </a:rPr>
              <a:t>LSTM(18-&gt;64) then LSTM(64-&gt;32)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Decoder: </a:t>
            </a:r>
            <a:r>
              <a:rPr sz="1300">
                <a:solidFill>
                  <a:srgbClr val="5A5F6D"/>
                </a:solidFill>
                <a:latin typeface="Calibri"/>
              </a:rPr>
              <a:t>RepeatVector(60) -&gt; LSTM(32-&gt;32) -&gt; LSTM(32-&gt;64) -&gt; Dense(18)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Input: </a:t>
            </a:r>
            <a:r>
              <a:rPr sz="1300">
                <a:solidFill>
                  <a:srgbClr val="5A5F6D"/>
                </a:solidFill>
                <a:latin typeface="Calibri"/>
              </a:rPr>
              <a:t>60 consecutive feature vectors (1 second at 60Hz)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Loss: </a:t>
            </a:r>
            <a:r>
              <a:rPr sz="1300">
                <a:solidFill>
                  <a:srgbClr val="5A5F6D"/>
                </a:solidFill>
                <a:latin typeface="Calibri"/>
              </a:rPr>
              <a:t>MSE reconstruction error; threshold: mean + 3 std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Trained only on clean (non-cheating) player data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Learns to reconstruct "normal" behavior sequences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Cheating = high reconstruction error (anomaly)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Why Unsupervised?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94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F6D"/>
                </a:solidFill>
                <a:latin typeface="Calibri"/>
              </a:defRPr>
            </a:pPr>
            <a:r>
              <a:t>XGBoost only detects cheats it was trained on. A novel cheat type not in training data would be classified as "none". The autoencoder catches it because the behavior deviates from normal, regardless of cheat 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Training: CS2CD Dataset +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F6D"/>
                </a:solidFill>
                <a:latin typeface="Calibri"/>
              </a:defRPr>
            </a:pPr>
            <a:r>
              <a:t>Public Counter-Strike 2 Cheat Detection dataset with VAC-confirmed labels, augmented with game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CS2CD Public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795 real CS2 competitive matches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451 with VAC-banned cheaters, 344 clean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Ground-truth labels from Valve's VAC system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Parquet format, ~247 columns per tick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Our Feature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Map CS2 3D fields to our 2D schema (drop Z axis)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Recompute spatial context from positions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Extract same 18 sliding-window features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Tick downsampling (30K max) for memory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Synthetic Augmentation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Bot-generated labeled telemetry from our game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Bridges 3D/2D feature distribution gap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Bots cycle all 4 cheat types randomly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Exact feature distributions our game produces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Alert Combiner (Ensemble Logic)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57200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XGBoost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Model probability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Autoencoder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autoencoder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Anomaly score (0-1)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Both 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max(both)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Rule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rule-engine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A5F6D"/>
                          </a:solidFill>
                          <a:latin typeface="Calibri"/>
                        </a:defRPr>
                      </a:pPr>
                      <a:r>
                        <a:t>1.0 (deterministic)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Why Three Detection Layers?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Rules: </a:t>
            </a:r>
            <a:r>
              <a:rPr sz="1300">
                <a:solidFill>
                  <a:srgbClr val="5A5F6D"/>
                </a:solidFill>
                <a:latin typeface="Calibri"/>
              </a:rPr>
              <a:t>Instant, deterministic, zero false positives for blatant cheats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XGBoost: </a:t>
            </a:r>
            <a:r>
              <a:rPr sz="1300">
                <a:solidFill>
                  <a:srgbClr val="5A5F6D"/>
                </a:solidFill>
                <a:latin typeface="Calibri"/>
              </a:rPr>
              <a:t>Catches subtle multi-feature combinations individually within normal ranges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LSTM: </a:t>
            </a:r>
            <a:r>
              <a:rPr sz="1300">
                <a:solidFill>
                  <a:srgbClr val="5A5F6D"/>
                </a:solidFill>
                <a:latin typeface="Calibri"/>
              </a:rPr>
              <a:t>Catches novel cheats via behavioral deviation from normal patterns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Graceful degradation: </a:t>
            </a:r>
            <a:r>
              <a:rPr sz="1300">
                <a:solidFill>
                  <a:srgbClr val="5A5F6D"/>
                </a:solidFill>
                <a:latin typeface="Calibri"/>
              </a:rPr>
              <a:t>rules still work if ML service is down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Observability &amp;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F6D"/>
                </a:solidFill>
                <a:latin typeface="Calibri"/>
              </a:defRPr>
            </a:pPr>
            <a:r>
              <a:t>Prometheus (17 metrics) + Grafana (2 dashboards, auto-provisioned via Docker)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Pipeline Health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Active Players (gauge)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Tick Duration histogram (16.6ms budget at 60Hz)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WebSocket Connections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Telemetry / Feature publish rates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Kafka error counter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Feature processing latency (p99)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Model loaded status (XGBoost + Autoencoder)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Detection Analytics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Rule Engine Alerts (stacked by rule name)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ML Alerts by Model (xgboost / autoencoder / ensemble)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Total Alert Rate (color-coded green/yellow/red)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Predictions by Type (pie chart: </a:t>
            </a:r>
            <a:r>
              <a:rPr sz="1400">
                <a:solidFill>
                  <a:srgbClr val="5A5F6D"/>
                </a:solidFill>
                <a:latin typeface="Calibri"/>
              </a:rPr>
              <a:t>none vs cheater)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Anomaly Score Distribution (heatmap)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XGBoost + Autoencoder inference latency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5A5F6D"/>
                </a:solidFill>
                <a:latin typeface="Calibri"/>
              </a:rPr>
              <a:t>Training samples collected, service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F6D"/>
                </a:solidFill>
                <a:latin typeface="Calibri"/>
              </a:defRPr>
            </a:pPr>
            <a:r>
              <a:t>Both dashboards are auto-provisioned via Docker volume mounts. No manual setup required. Prometheus scrapes game server and ML service every 5 seconds. Grafana provides real-time visualization of pipeline health and detection analytics.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8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6C9"/>
                </a:solidFill>
                <a:latin typeface="Calibri"/>
              </a:defRPr>
            </a:pPr>
            <a:r>
              <a:t>Demonstrating real-time cheat detection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Step 1: </a:t>
            </a:r>
            <a:r>
              <a:rPr sz="1500">
                <a:solidFill>
                  <a:srgbClr val="FFFFFF"/>
                </a:solidFill>
                <a:latin typeface="Calibri"/>
              </a:rPr>
              <a:t>Open game client at localhost:80, show clean gameplay with bots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Step 2: </a:t>
            </a:r>
            <a:r>
              <a:rPr sz="1500">
                <a:solidFill>
                  <a:srgbClr val="FFFFFF"/>
                </a:solidFill>
                <a:latin typeface="Calibri"/>
              </a:rPr>
              <a:t>Open Grafana dashboards (localhost:3000), show zero alerts baseline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Step 3: </a:t>
            </a:r>
            <a:r>
              <a:rPr sz="1500">
                <a:solidFill>
                  <a:srgbClr val="FFFFFF"/>
                </a:solidFill>
                <a:latin typeface="Calibri"/>
              </a:rPr>
              <a:t>Toggle Aimbot (F5), watch aim_snap + aim_lock rules fire instantly on dashboard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Step 4: </a:t>
            </a:r>
            <a:r>
              <a:rPr sz="1500">
                <a:solidFill>
                  <a:srgbClr val="FFFFFF"/>
                </a:solidFill>
                <a:latin typeface="Calibri"/>
              </a:rPr>
              <a:t>Toggle Speedhack (F6), speed_cap rule fires, ML prediction changes to "cheater"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Step 5: </a:t>
            </a:r>
            <a:r>
              <a:rPr sz="1500">
                <a:solidFill>
                  <a:srgbClr val="FFFFFF"/>
                </a:solidFill>
                <a:latin typeface="Calibri"/>
              </a:rPr>
              <a:t>Toggle Wallhack (F7), prefire rule fires after shot accumulation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Step 6: </a:t>
            </a:r>
            <a:r>
              <a:rPr sz="1500">
                <a:solidFill>
                  <a:srgbClr val="FFFFFF"/>
                </a:solidFill>
                <a:latin typeface="Calibri"/>
              </a:rPr>
              <a:t>Toggle Triggerbot (F8), reaction_time rule fires within 1 second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Step 7: </a:t>
            </a:r>
            <a:r>
              <a:rPr sz="1500">
                <a:solidFill>
                  <a:srgbClr val="FFFFFF"/>
                </a:solidFill>
                <a:latin typeface="Calibri"/>
              </a:rPr>
              <a:t>Disable all cheats (F5-F8 again), alerts stop, pie chart returns to "none"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Calibri"/>
              </a:rPr>
              <a:t>Step 8: </a:t>
            </a:r>
            <a:r>
              <a:rPr sz="1500">
                <a:solidFill>
                  <a:srgbClr val="FFFFFF"/>
                </a:solidFill>
                <a:latin typeface="Calibri"/>
              </a:rPr>
              <a:t>Show ML service health endpoint confirming inference mode with trained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Evaluation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F6D"/>
                </a:solidFill>
                <a:latin typeface="Calibri"/>
              </a:defRPr>
            </a:pPr>
            <a:r>
              <a:t>Measurable performance across latency, throughput, and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3B5BDB"/>
                </a:solidFill>
                <a:latin typeface="Calibri"/>
              </a:rPr>
              <a:t>&lt; 17ms</a:t>
            </a:r>
          </a:p>
          <a:p>
            <a:pPr algn="ctr"/>
            <a:r>
              <a:rPr sz="1100">
                <a:solidFill>
                  <a:srgbClr val="5A5F6D"/>
                </a:solidFill>
                <a:latin typeface="Calibri"/>
              </a:rPr>
              <a:t>Rule Engine Latency
(same-tick detection)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3B5BDB"/>
                </a:solidFill>
                <a:latin typeface="Calibri"/>
              </a:rPr>
              <a:t>&lt; 5s</a:t>
            </a:r>
          </a:p>
          <a:p>
            <a:pPr algn="ctr"/>
            <a:r>
              <a:rPr sz="1100">
                <a:solidFill>
                  <a:srgbClr val="5A5F6D"/>
                </a:solidFill>
                <a:latin typeface="Calibri"/>
              </a:rPr>
              <a:t>End-to-End Alert
(cheat to dashboard)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3B5BDB"/>
                </a:solidFill>
                <a:latin typeface="Calibri"/>
              </a:rPr>
              <a:t>540/s</a:t>
            </a:r>
          </a:p>
          <a:p>
            <a:pPr algn="ctr"/>
            <a:r>
              <a:rPr sz="1100">
                <a:solidFill>
                  <a:srgbClr val="5A5F6D"/>
                </a:solidFill>
                <a:latin typeface="Calibri"/>
              </a:rPr>
              <a:t>Telemetry Throughput
(events per second)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5448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3B5BDB"/>
                </a:solidFill>
                <a:latin typeface="Calibri"/>
              </a:rPr>
              <a:t>0%</a:t>
            </a:r>
          </a:p>
          <a:p>
            <a:pPr algn="ctr"/>
            <a:r>
              <a:rPr sz="1100">
                <a:solidFill>
                  <a:srgbClr val="5A5F6D"/>
                </a:solidFill>
                <a:latin typeface="Calibri"/>
              </a:rPr>
              <a:t>Rule Engine FP Rate
(physics thresholds)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3B5BDB"/>
                </a:solidFill>
                <a:latin typeface="Calibri"/>
              </a:rPr>
              <a:t>18</a:t>
            </a:r>
          </a:p>
          <a:p>
            <a:pPr algn="ctr"/>
            <a:r>
              <a:rPr sz="1100">
                <a:solidFill>
                  <a:srgbClr val="5A5F6D"/>
                </a:solidFill>
                <a:latin typeface="Calibri"/>
              </a:rPr>
              <a:t>Computed Features
(sliding window)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329184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3B5BDB"/>
                </a:solidFill>
                <a:latin typeface="Calibri"/>
              </a:rPr>
              <a:t>41K</a:t>
            </a:r>
          </a:p>
          <a:p>
            <a:pPr algn="ctr"/>
            <a:r>
              <a:rPr sz="1100">
                <a:solidFill>
                  <a:srgbClr val="5A5F6D"/>
                </a:solidFill>
                <a:latin typeface="Calibri"/>
              </a:rPr>
              <a:t>Training Samples
(CS2CD + synthetic)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3B5BDB"/>
                </a:solidFill>
                <a:latin typeface="Calibri"/>
              </a:rPr>
              <a:t>7</a:t>
            </a:r>
          </a:p>
          <a:p>
            <a:pPr algn="ctr"/>
            <a:r>
              <a:rPr sz="1100">
                <a:solidFill>
                  <a:srgbClr val="5A5F6D"/>
                </a:solidFill>
                <a:latin typeface="Calibri"/>
              </a:rPr>
              <a:t>Docker Containers
(fully orchestrated)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291840"/>
            <a:ext cx="2286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3B5BDB"/>
                </a:solidFill>
                <a:latin typeface="Calibri"/>
              </a:rPr>
              <a:t>17</a:t>
            </a:r>
          </a:p>
          <a:p>
            <a:pPr algn="ctr"/>
            <a:r>
              <a:rPr sz="1100">
                <a:solidFill>
                  <a:srgbClr val="5A5F6D"/>
                </a:solidFill>
                <a:latin typeface="Calibri"/>
              </a:rPr>
              <a:t>Prometheus Metrics
(2 dashboards)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XGBoost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F6D"/>
                </a:solidFill>
                <a:latin typeface="Calibri"/>
              </a:defRPr>
            </a:pPr>
            <a:r>
              <a:t>Trained on 31K CS2CD + 10K synthetic samples. Binary classification (none vs cheater). Cross-domain accuracy bounded by 3D/2D feature distribution gap, but correctly classifies cheats in live gameplay.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LSTM Autoencoder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3949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F6D"/>
                </a:solidFill>
                <a:latin typeface="Calibri"/>
              </a:defRPr>
            </a:pPr>
            <a:r>
              <a:t>Trained on clean player sequences only. Anomaly threshold calibrated at mean + 3 std of reconstruction errors. Fires on behavioral patterns unseen during training, complementing supervised detection.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F6D"/>
                </a:solidFill>
                <a:latin typeface="Calibri"/>
              </a:defRPr>
            </a:pPr>
            <a:r>
              <a:t>Honest assessment of constraints and potential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Feature distribution gap: </a:t>
            </a:r>
            <a:r>
              <a:rPr sz="1400">
                <a:solidFill>
                  <a:srgbClr val="5A5F6D"/>
                </a:solidFill>
                <a:latin typeface="Calibri"/>
              </a:rPr>
              <a:t>CS2 (3D) vs our game (2D) bounds cross-domain accuracy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Scale: </a:t>
            </a:r>
            <a:r>
              <a:rPr sz="1400">
                <a:solidFill>
                  <a:srgbClr val="5A5F6D"/>
                </a:solidFill>
                <a:latin typeface="Calibri"/>
              </a:rPr>
              <a:t>Tested with 9 players; horizontal scaling (consumer groups) not implemented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Information-only cheats: </a:t>
            </a:r>
            <a:r>
              <a:rPr sz="1400">
                <a:solidFill>
                  <a:srgbClr val="5A5F6D"/>
                </a:solidFill>
                <a:latin typeface="Calibri"/>
              </a:rPr>
              <a:t>Wallhack without aim tracking produces subtle signals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No online learning: </a:t>
            </a:r>
            <a:r>
              <a:rPr sz="1400">
                <a:solidFill>
                  <a:srgbClr val="5A5F6D"/>
                </a:solidFill>
                <a:latin typeface="Calibri"/>
              </a:rPr>
              <a:t>Models require manual retrain when player behavior drifts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CPU-only inference: </a:t>
            </a:r>
            <a:r>
              <a:rPr sz="1400">
                <a:solidFill>
                  <a:srgbClr val="5A5F6D"/>
                </a:solidFill>
                <a:latin typeface="Calibri"/>
              </a:rPr>
              <a:t>LSTM autoencoder limited throughput without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Temporal transformer: </a:t>
            </a:r>
            <a:r>
              <a:rPr sz="1400">
                <a:solidFill>
                  <a:srgbClr val="5A5F6D"/>
                </a:solidFill>
                <a:latin typeface="Calibri"/>
              </a:rPr>
              <a:t>Better long-range pattern detection than LSTM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Graph neural network: </a:t>
            </a:r>
            <a:r>
              <a:rPr sz="1400">
                <a:solidFill>
                  <a:srgbClr val="5A5F6D"/>
                </a:solidFill>
                <a:latin typeface="Calibri"/>
              </a:rPr>
              <a:t>Multi-player collusion detection via kill-graph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Adversarial training: </a:t>
            </a:r>
            <a:r>
              <a:rPr sz="1400">
                <a:solidFill>
                  <a:srgbClr val="5A5F6D"/>
                </a:solidFill>
                <a:latin typeface="Calibri"/>
              </a:rPr>
              <a:t>Generator creates stealthy cheats, detector learns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Federated learning: </a:t>
            </a:r>
            <a:r>
              <a:rPr sz="1400">
                <a:solidFill>
                  <a:srgbClr val="5A5F6D"/>
                </a:solidFill>
                <a:latin typeface="Calibri"/>
              </a:rPr>
              <a:t>Train across multiple game titles without sharing data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Online threshold calibration: </a:t>
            </a:r>
            <a:r>
              <a:rPr sz="1400">
                <a:solidFill>
                  <a:srgbClr val="5A5F6D"/>
                </a:solidFill>
                <a:latin typeface="Calibri"/>
              </a:rPr>
              <a:t>Autoencoder threshold adapts to population shifts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1A1A2E"/>
                </a:solidFill>
                <a:latin typeface="Calibri"/>
              </a:rPr>
              <a:t>Tiered inference: </a:t>
            </a:r>
            <a:r>
              <a:rPr sz="1400">
                <a:solidFill>
                  <a:srgbClr val="5A5F6D"/>
                </a:solidFill>
                <a:latin typeface="Calibri"/>
              </a:rPr>
              <a:t>Run expensive LSTM only for XGBoost/rule-flagged players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Key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End-to-end real-time pipeline: </a:t>
            </a:r>
            <a:r>
              <a:rPr sz="1300">
                <a:solidFill>
                  <a:srgbClr val="5A5F6D"/>
                </a:solidFill>
                <a:latin typeface="Calibri"/>
              </a:rPr>
              <a:t>from 60Hz telemetry to Grafana alert in under 5 seconds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Dual-paradigm ML: </a:t>
            </a:r>
            <a:r>
              <a:rPr sz="1300">
                <a:solidFill>
                  <a:srgbClr val="5A5F6D"/>
                </a:solidFill>
                <a:latin typeface="Calibri"/>
              </a:rPr>
              <a:t>supervised XGBoost for known cheats + unsupervised LSTM for novel cheats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Calibri"/>
              </a:rPr>
              <a:t>Physics-derived rule engine: </a:t>
            </a:r>
            <a:r>
              <a:rPr sz="1300">
                <a:solidFill>
                  <a:srgbClr val="5A5F6D"/>
                </a:solidFill>
                <a:latin typeface="Calibri"/>
              </a:rPr>
              <a:t>zero false positives, no ML dependency, deterministic detection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5A5F6D"/>
                </a:solidFill>
                <a:latin typeface="Calibri"/>
              </a:rPr>
              <a:t>Trained on public CS2CD dataset (795 real matches) for reproducibility and academic rigor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5B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D2F0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2E0"/>
                </a:solidFill>
                <a:latin typeface="Calibri"/>
              </a:defRPr>
            </a:pPr>
            <a:r>
              <a:t>Source Code: Docker Compose one-command deployment</a:t>
            </a:r>
            <a:br/>
            <a:r>
              <a:t>Tech Stack: Go 1.22 | Python 3.11 | Apache Kafka | XGBoost | LSTM | Prometheus | Grafana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