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4108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real-time, server-side cheat detection for multiplayer games using a Kafka streaming pipeline with three detection layers. Course context: ENGR 5785G at Ontario Tech.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cheating is costly, client-side anti-cheat is bypassable and invasive, post-match analysis is too slow. Our objectives, and how this maps cleanly onto IoT streaming concepts.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end-to-end pipeline left to right: browser client to game server to Kafka, then rules and ML, then Prometheus and Grafana. Highlight the four Kafka topics and the under-5-second budget.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raw 60Hz telemetry becomes an 18-feature vector across three sliding windows, the ring-buffer design, and how each of the four cheats is simulated server-side with its detection threshold.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1 is six physics-derived rules. The key point is every threshold sits in a dead zone between the human maximum and the cheat minimum, which is why the false-positive rate is zero with no statistical tuning.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the two model choices against alternatives. XGBoost for fast, interpretable supervised classification; LSTM autoencoder for temporal, unsupervised anomaly detection trained only on clean data so it catches novel cheats.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three layers combine. Each layer scores the same feature vector independently; an ensemble combiner raises a HIGH CONFIDENCE alert when 2 of 3 agree and a WARNING on 1 of 3. Alerts flow to Kafka, Prometheus, and Grafana.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data: the CS2CD dataset of 795 real matches labeled by VAC ban status. The target is a binary per-player label, and the model input is the 18-feature vector listed on the right.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into the raw files: each match is a Parquet file of 225 columns plus a JSON of cheater steamids. We use 12 columns, derive aim deltas and enemy distance, and feed the sliding-window extractor to produce labeled training rows.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Grafana dashboards. Clean play: all green, flat zero alerts, anomaly scores 0.3 to 0.6. Cheats on: red pie slice grows, rule and ML bars spike, anomaly scores jump to 2 and beyond. Note the PromQL queries driving each panel.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demo script: open the game and Grafana baseline, toggle each cheat F5 through F8 and watch the matching rule fire, then disable everything and confirm alerts clear and the ML service health endpoint reports trained inference mode.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results across 175K samples with a player-ID split. 85.9% accuracy, 85.1% F1, zero rule false positives. Walk the key findings on how each cheat is detected and how confidence gating removes low-confidence ML false positives.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responsibilities: Ankit on client and Kafka, Rohan on game server and feature pipeline, Sid on XGBoost training, Priyanka on the LSTM autoencoder, Nithilan on Grafana dashboards. Each owns a distinct slice of the pipeline.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to AntiCheatPT, a transformer-based offline classifier on the same dataset. Our system is real-time, multi-paradigm, catches novel cheats, has near-zero false positives, and ships as one-command Docker. The framing: post-match question vs live question.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limitations: domain gap, scale, subtle wallhacks, no online learning, CPU-only LSTM. Then the roadmap - transformers, graph nets, adversarial and federated training, tiered inference. Close on the four key contributions.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open the floor for questions. Recap the one-command Docker deployment, the full tech stack, and the course context.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confusion matrix on the held-out test set. Strong diagonal: 14,230 true negatives and 15,818 true positives, with relatively few false positives and false negatives. Derived metrics: 85.9% accuracy, 85.1% weighted F1, 88.3% cheater recall, 83.3% clean precision.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06101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01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B8EE6">
                  <a:alpha val="22000"/>
                </a:srgbClr>
              </a:gs>
              <a:gs pos="45000">
                <a:srgbClr val="3B8EE6">
                  <a:alpha val="0"/>
                </a:srgbClr>
              </a:gs>
            </a:gsLst>
            <a:path path="circle">
              <a:fillToRect l="14000" t="12000" r="86000" b="88000"/>
            </a:path>
          </a:gradFill>
          <a:ln/>
        </p:spPr>
        <p:txBody>
          <a:bodyPr/>
          <a:lstStyle/>
          <a:p>
            <a:endParaRPr lang="en-US"/>
          </a:p>
        </p:txBody>
      </p:sp>
      <p:sp>
        <p:nvSpPr>
          <p:cNvPr id="3" name="Shape 1"/>
          <p:cNvSpPr/>
          <p:nvPr/>
        </p:nvSpPr>
        <p:spPr>
          <a:xfrm>
            <a:off x="800100" y="1702395"/>
            <a:ext cx="571500" cy="571500"/>
          </a:xfrm>
          <a:prstGeom prst="roundRect">
            <a:avLst>
              <a:gd name="adj" fmla="val 21667"/>
            </a:avLst>
          </a:prstGeom>
          <a:gradFill rotWithShape="1">
            <a:gsLst>
              <a:gs pos="0">
                <a:srgbClr val="3B8EE6">
                  <a:alpha val="100000"/>
                </a:srgbClr>
              </a:gs>
              <a:gs pos="100000">
                <a:srgbClr val="F2A33C">
                  <a:alpha val="100000"/>
                </a:srgbClr>
              </a:gs>
            </a:gsLst>
            <a:lin ang="2700000" scaled="0"/>
          </a:gradFill>
          <a:ln/>
          <a:effectLst>
            <a:outerShdw blurRad="323850" dist="50800" dir="16200000" algn="bl" rotWithShape="0">
              <a:srgbClr val="3B8EE6">
                <a:alpha val="55000"/>
              </a:srgbClr>
            </a:outerShdw>
          </a:effectLst>
        </p:spPr>
        <p:txBody>
          <a:bodyPr/>
          <a:lstStyle/>
          <a:p>
            <a:endParaRPr lang="en-US"/>
          </a:p>
        </p:txBody>
      </p:sp>
      <p:sp>
        <p:nvSpPr>
          <p:cNvPr id="4" name="Text 2"/>
          <p:cNvSpPr/>
          <p:nvPr/>
        </p:nvSpPr>
        <p:spPr>
          <a:xfrm>
            <a:off x="762000" y="1702395"/>
            <a:ext cx="647700" cy="609600"/>
          </a:xfrm>
          <a:prstGeom prst="rect">
            <a:avLst/>
          </a:prstGeom>
          <a:noFill/>
          <a:ln/>
        </p:spPr>
        <p:txBody>
          <a:bodyPr wrap="square" lIns="25400" tIns="25400" rIns="25400" bIns="25400" rtlCol="0" anchor="ctr">
            <a:normAutofit/>
          </a:bodyPr>
          <a:lstStyle/>
          <a:p>
            <a:pPr marL="0" indent="0" algn="ctr">
              <a:buNone/>
            </a:pPr>
            <a:r>
              <a:rPr lang="en-US" sz="2400" b="1" dirty="0">
                <a:solidFill>
                  <a:srgbClr val="06101F"/>
                </a:solidFill>
                <a:latin typeface="Arial" pitchFamily="34" charset="0"/>
                <a:ea typeface="Arial" pitchFamily="34" charset="-122"/>
                <a:cs typeface="Arial" pitchFamily="34" charset="-120"/>
              </a:rPr>
              <a:t>⌖</a:t>
            </a:r>
            <a:endParaRPr lang="en-US" sz="2400" dirty="0"/>
          </a:p>
        </p:txBody>
      </p:sp>
      <p:sp>
        <p:nvSpPr>
          <p:cNvPr id="5" name="Text 3"/>
          <p:cNvSpPr/>
          <p:nvPr/>
        </p:nvSpPr>
        <p:spPr>
          <a:xfrm>
            <a:off x="1543050" y="1835745"/>
            <a:ext cx="8797390" cy="342900"/>
          </a:xfrm>
          <a:prstGeom prst="rect">
            <a:avLst/>
          </a:prstGeom>
          <a:noFill/>
          <a:ln/>
        </p:spPr>
        <p:txBody>
          <a:bodyPr wrap="square" lIns="25400" tIns="25400" rIns="25400" bIns="25400" rtlCol="0" anchor="t">
            <a:normAutofit/>
          </a:bodyPr>
          <a:lstStyle/>
          <a:p>
            <a:pPr marL="0" indent="0" algn="l">
              <a:buNone/>
            </a:pPr>
            <a:r>
              <a:rPr lang="en-US" sz="1725" b="1" kern="0" spc="300" dirty="0">
                <a:solidFill>
                  <a:srgbClr val="7FB6EE"/>
                </a:solidFill>
                <a:latin typeface="Arial" pitchFamily="34" charset="0"/>
                <a:ea typeface="Arial" pitchFamily="34" charset="-122"/>
                <a:cs typeface="Arial" pitchFamily="34" charset="-120"/>
              </a:rPr>
              <a:t>ENGR 5785G · REAL-TIME DATA ANALYTICS FOR IoT</a:t>
            </a:r>
            <a:endParaRPr lang="en-US" sz="1725" dirty="0"/>
          </a:p>
        </p:txBody>
      </p:sp>
      <p:sp>
        <p:nvSpPr>
          <p:cNvPr id="6" name="Text 4"/>
          <p:cNvSpPr/>
          <p:nvPr/>
        </p:nvSpPr>
        <p:spPr>
          <a:xfrm>
            <a:off x="800100" y="2559646"/>
            <a:ext cx="10459383" cy="933450"/>
          </a:xfrm>
          <a:prstGeom prst="rect">
            <a:avLst/>
          </a:prstGeom>
          <a:noFill/>
          <a:ln/>
        </p:spPr>
        <p:txBody>
          <a:bodyPr wrap="square" lIns="25400" tIns="25400" rIns="25400" bIns="25400" rtlCol="0" anchor="t">
            <a:normAutofit/>
          </a:bodyPr>
          <a:lstStyle/>
          <a:p>
            <a:pPr marL="0" indent="0" algn="l">
              <a:lnSpc>
                <a:spcPct val="100000"/>
              </a:lnSpc>
              <a:buNone/>
            </a:pPr>
            <a:r>
              <a:rPr lang="en-US" sz="7050" b="1" kern="0" spc="-150" dirty="0">
                <a:solidFill>
                  <a:srgbClr val="FFFFFF"/>
                </a:solidFill>
                <a:latin typeface="Arial" pitchFamily="34" charset="0"/>
                <a:ea typeface="Arial" pitchFamily="34" charset="-122"/>
                <a:cs typeface="Arial" pitchFamily="34" charset="-120"/>
              </a:rPr>
              <a:t>Real-Time Cheat</a:t>
            </a:r>
            <a:endParaRPr lang="en-US" sz="7050" dirty="0"/>
          </a:p>
        </p:txBody>
      </p:sp>
      <p:sp>
        <p:nvSpPr>
          <p:cNvPr id="7" name="Text 5"/>
          <p:cNvSpPr/>
          <p:nvPr/>
        </p:nvSpPr>
        <p:spPr>
          <a:xfrm>
            <a:off x="800100" y="3454996"/>
            <a:ext cx="10459383" cy="951309"/>
          </a:xfrm>
          <a:prstGeom prst="rect">
            <a:avLst/>
          </a:prstGeom>
          <a:noFill/>
          <a:ln/>
        </p:spPr>
        <p:txBody>
          <a:bodyPr wrap="square" lIns="25400" tIns="25400" rIns="25400" bIns="25400" rtlCol="0" anchor="t">
            <a:normAutofit/>
          </a:bodyPr>
          <a:lstStyle/>
          <a:p>
            <a:pPr marL="0" indent="0" algn="l">
              <a:lnSpc>
                <a:spcPct val="102000"/>
              </a:lnSpc>
              <a:buNone/>
            </a:pPr>
            <a:r>
              <a:rPr lang="en-US" sz="7050" b="1" kern="0" spc="-150" dirty="0">
                <a:gradFill rotWithShape="1">
                  <a:gsLst>
                    <a:gs pos="0">
                      <a:srgbClr val="5BA6F0">
                        <a:alpha val="100000"/>
                      </a:srgbClr>
                    </a:gs>
                    <a:gs pos="100000">
                      <a:srgbClr val="F2A33C">
                        <a:alpha val="100000"/>
                      </a:srgbClr>
                    </a:gs>
                  </a:gsLst>
                  <a:lin ang="600000" scaled="0"/>
                </a:gradFill>
                <a:latin typeface="Arial" pitchFamily="34" charset="0"/>
                <a:ea typeface="Arial" pitchFamily="34" charset="-122"/>
                <a:cs typeface="Arial" pitchFamily="34" charset="-120"/>
              </a:rPr>
              <a:t>Detection</a:t>
            </a:r>
            <a:endParaRPr lang="en-US" sz="7050" dirty="0"/>
          </a:p>
        </p:txBody>
      </p:sp>
      <p:sp>
        <p:nvSpPr>
          <p:cNvPr id="8" name="Text 6"/>
          <p:cNvSpPr/>
          <p:nvPr/>
        </p:nvSpPr>
        <p:spPr>
          <a:xfrm>
            <a:off x="800100" y="4425355"/>
            <a:ext cx="10459383" cy="561975"/>
          </a:xfrm>
          <a:prstGeom prst="rect">
            <a:avLst/>
          </a:prstGeom>
          <a:noFill/>
          <a:ln/>
        </p:spPr>
        <p:txBody>
          <a:bodyPr wrap="square" lIns="25400" tIns="25400" rIns="25400" bIns="25400" rtlCol="0" anchor="t">
            <a:normAutofit/>
          </a:bodyPr>
          <a:lstStyle/>
          <a:p>
            <a:pPr marL="0" indent="0" algn="l">
              <a:lnSpc>
                <a:spcPct val="110000"/>
              </a:lnSpc>
              <a:buNone/>
            </a:pPr>
            <a:r>
              <a:rPr lang="en-US" sz="3750" kern="0" spc="-37" dirty="0">
                <a:solidFill>
                  <a:srgbClr val="AFC6DE"/>
                </a:solidFill>
                <a:latin typeface="Arial" pitchFamily="34" charset="0"/>
                <a:ea typeface="Arial" pitchFamily="34" charset="-122"/>
                <a:cs typeface="Arial" pitchFamily="34" charset="-120"/>
              </a:rPr>
              <a:t>for Multiplayer Games</a:t>
            </a:r>
            <a:endParaRPr lang="en-US" sz="3750" dirty="0"/>
          </a:p>
        </p:txBody>
      </p:sp>
      <p:sp>
        <p:nvSpPr>
          <p:cNvPr id="9" name="Text 7"/>
          <p:cNvSpPr/>
          <p:nvPr/>
        </p:nvSpPr>
        <p:spPr>
          <a:xfrm>
            <a:off x="800100" y="5234980"/>
            <a:ext cx="8633460" cy="12382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C6D7E8"/>
                </a:solidFill>
                <a:latin typeface="Arial" pitchFamily="34" charset="0"/>
                <a:ea typeface="Arial" pitchFamily="34" charset="-122"/>
                <a:cs typeface="Arial" pitchFamily="34" charset="-120"/>
              </a:rPr>
              <a:t>A server-side streaming analytics pipeline using Kafka, Go, XGBoost, and an LSTM Autoencoder - detecting cheats in under 5 seconds with full Grafana observability.</a:t>
            </a:r>
            <a:endParaRPr lang="en-US" sz="2100" dirty="0"/>
          </a:p>
        </p:txBody>
      </p:sp>
      <p:sp>
        <p:nvSpPr>
          <p:cNvPr id="10" name="Shape 8"/>
          <p:cNvSpPr/>
          <p:nvPr/>
        </p:nvSpPr>
        <p:spPr>
          <a:xfrm>
            <a:off x="800100" y="6758980"/>
            <a:ext cx="1167209" cy="482600"/>
          </a:xfrm>
          <a:prstGeom prst="roundRect">
            <a:avLst>
              <a:gd name="adj" fmla="val 15789"/>
            </a:avLst>
          </a:prstGeom>
          <a:solidFill>
            <a:srgbClr val="3B8EE6">
              <a:alpha val="10000"/>
            </a:srgbClr>
          </a:solidFill>
          <a:ln w="12700">
            <a:solidFill>
              <a:srgbClr val="7FB6EE">
                <a:alpha val="35000"/>
              </a:srgbClr>
            </a:solidFill>
            <a:prstDash val="solid"/>
          </a:ln>
        </p:spPr>
        <p:txBody>
          <a:bodyPr/>
          <a:lstStyle/>
          <a:p>
            <a:endParaRPr lang="en-US"/>
          </a:p>
        </p:txBody>
      </p:sp>
      <p:sp>
        <p:nvSpPr>
          <p:cNvPr id="11" name="Text 9"/>
          <p:cNvSpPr/>
          <p:nvPr/>
        </p:nvSpPr>
        <p:spPr>
          <a:xfrm>
            <a:off x="1022350" y="6885980"/>
            <a:ext cx="798909"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DCEAF8"/>
                </a:solidFill>
                <a:latin typeface="Arial" pitchFamily="34" charset="0"/>
                <a:ea typeface="Arial" pitchFamily="34" charset="-122"/>
                <a:cs typeface="Arial" pitchFamily="34" charset="-120"/>
              </a:rPr>
              <a:t>Go 1.22</a:t>
            </a:r>
            <a:endParaRPr lang="en-US" sz="1575" dirty="0"/>
          </a:p>
        </p:txBody>
      </p:sp>
      <p:sp>
        <p:nvSpPr>
          <p:cNvPr id="12" name="Shape 10"/>
          <p:cNvSpPr/>
          <p:nvPr/>
        </p:nvSpPr>
        <p:spPr>
          <a:xfrm>
            <a:off x="2091134" y="6758980"/>
            <a:ext cx="1556345" cy="482600"/>
          </a:xfrm>
          <a:prstGeom prst="roundRect">
            <a:avLst>
              <a:gd name="adj" fmla="val 15789"/>
            </a:avLst>
          </a:prstGeom>
          <a:solidFill>
            <a:srgbClr val="3B8EE6">
              <a:alpha val="10000"/>
            </a:srgbClr>
          </a:solidFill>
          <a:ln w="12700">
            <a:solidFill>
              <a:srgbClr val="7FB6EE">
                <a:alpha val="35000"/>
              </a:srgbClr>
            </a:solidFill>
            <a:prstDash val="solid"/>
          </a:ln>
        </p:spPr>
        <p:txBody>
          <a:bodyPr/>
          <a:lstStyle/>
          <a:p>
            <a:endParaRPr lang="en-US"/>
          </a:p>
        </p:txBody>
      </p:sp>
      <p:sp>
        <p:nvSpPr>
          <p:cNvPr id="13" name="Text 11"/>
          <p:cNvSpPr/>
          <p:nvPr/>
        </p:nvSpPr>
        <p:spPr>
          <a:xfrm>
            <a:off x="2313384" y="6885980"/>
            <a:ext cx="1188045"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DCEAF8"/>
                </a:solidFill>
                <a:latin typeface="Arial" pitchFamily="34" charset="0"/>
                <a:ea typeface="Arial" pitchFamily="34" charset="-122"/>
                <a:cs typeface="Arial" pitchFamily="34" charset="-120"/>
              </a:rPr>
              <a:t>Python 3.11</a:t>
            </a:r>
            <a:endParaRPr lang="en-US" sz="1575" dirty="0"/>
          </a:p>
        </p:txBody>
      </p:sp>
      <p:sp>
        <p:nvSpPr>
          <p:cNvPr id="14" name="Shape 12"/>
          <p:cNvSpPr/>
          <p:nvPr/>
        </p:nvSpPr>
        <p:spPr>
          <a:xfrm>
            <a:off x="3771305" y="6758980"/>
            <a:ext cx="1767483" cy="482600"/>
          </a:xfrm>
          <a:prstGeom prst="roundRect">
            <a:avLst>
              <a:gd name="adj" fmla="val 15789"/>
            </a:avLst>
          </a:prstGeom>
          <a:solidFill>
            <a:srgbClr val="3B8EE6">
              <a:alpha val="10000"/>
            </a:srgbClr>
          </a:solidFill>
          <a:ln w="12700">
            <a:solidFill>
              <a:srgbClr val="7FB6EE">
                <a:alpha val="35000"/>
              </a:srgbClr>
            </a:solidFill>
            <a:prstDash val="solid"/>
          </a:ln>
        </p:spPr>
        <p:txBody>
          <a:bodyPr/>
          <a:lstStyle/>
          <a:p>
            <a:endParaRPr lang="en-US"/>
          </a:p>
        </p:txBody>
      </p:sp>
      <p:sp>
        <p:nvSpPr>
          <p:cNvPr id="15" name="Text 13"/>
          <p:cNvSpPr/>
          <p:nvPr/>
        </p:nvSpPr>
        <p:spPr>
          <a:xfrm>
            <a:off x="3993555" y="6885980"/>
            <a:ext cx="1399183"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DCEAF8"/>
                </a:solidFill>
                <a:latin typeface="Arial" pitchFamily="34" charset="0"/>
                <a:ea typeface="Arial" pitchFamily="34" charset="-122"/>
                <a:cs typeface="Arial" pitchFamily="34" charset="-120"/>
              </a:rPr>
              <a:t>Apache Kafka</a:t>
            </a:r>
            <a:endParaRPr lang="en-US" sz="1575" dirty="0"/>
          </a:p>
        </p:txBody>
      </p:sp>
      <p:sp>
        <p:nvSpPr>
          <p:cNvPr id="16" name="Shape 14"/>
          <p:cNvSpPr/>
          <p:nvPr/>
        </p:nvSpPr>
        <p:spPr>
          <a:xfrm>
            <a:off x="5662613" y="6758980"/>
            <a:ext cx="2072680" cy="482600"/>
          </a:xfrm>
          <a:prstGeom prst="roundRect">
            <a:avLst>
              <a:gd name="adj" fmla="val 15789"/>
            </a:avLst>
          </a:prstGeom>
          <a:solidFill>
            <a:srgbClr val="3B8EE6">
              <a:alpha val="10000"/>
            </a:srgbClr>
          </a:solidFill>
          <a:ln w="12700">
            <a:solidFill>
              <a:srgbClr val="7FB6EE">
                <a:alpha val="35000"/>
              </a:srgbClr>
            </a:solidFill>
            <a:prstDash val="solid"/>
          </a:ln>
        </p:spPr>
        <p:txBody>
          <a:bodyPr/>
          <a:lstStyle/>
          <a:p>
            <a:endParaRPr lang="en-US"/>
          </a:p>
        </p:txBody>
      </p:sp>
      <p:sp>
        <p:nvSpPr>
          <p:cNvPr id="17" name="Text 15"/>
          <p:cNvSpPr/>
          <p:nvPr/>
        </p:nvSpPr>
        <p:spPr>
          <a:xfrm>
            <a:off x="5884862" y="6885980"/>
            <a:ext cx="1704380"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DCEAF8"/>
                </a:solidFill>
                <a:latin typeface="Arial" pitchFamily="34" charset="0"/>
                <a:ea typeface="Arial" pitchFamily="34" charset="-122"/>
                <a:cs typeface="Arial" pitchFamily="34" charset="-120"/>
              </a:rPr>
              <a:t>XGBoost + LSTM</a:t>
            </a:r>
            <a:endParaRPr lang="en-US" sz="1575" dirty="0"/>
          </a:p>
        </p:txBody>
      </p:sp>
      <p:sp>
        <p:nvSpPr>
          <p:cNvPr id="18" name="Shape 16"/>
          <p:cNvSpPr/>
          <p:nvPr/>
        </p:nvSpPr>
        <p:spPr>
          <a:xfrm>
            <a:off x="7859117" y="6758980"/>
            <a:ext cx="1919486" cy="482600"/>
          </a:xfrm>
          <a:prstGeom prst="roundRect">
            <a:avLst>
              <a:gd name="adj" fmla="val 15789"/>
            </a:avLst>
          </a:prstGeom>
          <a:solidFill>
            <a:srgbClr val="3B8EE6">
              <a:alpha val="10000"/>
            </a:srgbClr>
          </a:solidFill>
          <a:ln w="12700">
            <a:solidFill>
              <a:srgbClr val="7FB6EE">
                <a:alpha val="35000"/>
              </a:srgbClr>
            </a:solidFill>
            <a:prstDash val="solid"/>
          </a:ln>
        </p:spPr>
        <p:txBody>
          <a:bodyPr/>
          <a:lstStyle/>
          <a:p>
            <a:endParaRPr lang="en-US"/>
          </a:p>
        </p:txBody>
      </p:sp>
      <p:sp>
        <p:nvSpPr>
          <p:cNvPr id="19" name="Text 17"/>
          <p:cNvSpPr/>
          <p:nvPr/>
        </p:nvSpPr>
        <p:spPr>
          <a:xfrm>
            <a:off x="8081367" y="6885980"/>
            <a:ext cx="1551186"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DCEAF8"/>
                </a:solidFill>
                <a:latin typeface="Arial" pitchFamily="34" charset="0"/>
                <a:ea typeface="Arial" pitchFamily="34" charset="-122"/>
                <a:cs typeface="Arial" pitchFamily="34" charset="-120"/>
              </a:rPr>
              <a:t>60Hz Real-Time</a:t>
            </a:r>
            <a:endParaRPr lang="en-US" sz="1575" dirty="0"/>
          </a:p>
        </p:txBody>
      </p:sp>
      <p:sp>
        <p:nvSpPr>
          <p:cNvPr id="20" name="Shape 18"/>
          <p:cNvSpPr/>
          <p:nvPr/>
        </p:nvSpPr>
        <p:spPr>
          <a:xfrm>
            <a:off x="800100" y="7365405"/>
            <a:ext cx="2089745" cy="482600"/>
          </a:xfrm>
          <a:prstGeom prst="roundRect">
            <a:avLst>
              <a:gd name="adj" fmla="val 15789"/>
            </a:avLst>
          </a:prstGeom>
          <a:solidFill>
            <a:srgbClr val="3B8EE6">
              <a:alpha val="10000"/>
            </a:srgbClr>
          </a:solidFill>
          <a:ln w="12700">
            <a:solidFill>
              <a:srgbClr val="7FB6EE">
                <a:alpha val="35000"/>
              </a:srgbClr>
            </a:solidFill>
            <a:prstDash val="solid"/>
          </a:ln>
        </p:spPr>
        <p:txBody>
          <a:bodyPr/>
          <a:lstStyle/>
          <a:p>
            <a:endParaRPr lang="en-US"/>
          </a:p>
        </p:txBody>
      </p:sp>
      <p:sp>
        <p:nvSpPr>
          <p:cNvPr id="21" name="Text 19"/>
          <p:cNvSpPr/>
          <p:nvPr/>
        </p:nvSpPr>
        <p:spPr>
          <a:xfrm>
            <a:off x="1022350" y="7492405"/>
            <a:ext cx="1721445"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DCEAF8"/>
                </a:solidFill>
                <a:latin typeface="Arial" pitchFamily="34" charset="0"/>
                <a:ea typeface="Arial" pitchFamily="34" charset="-122"/>
                <a:cs typeface="Arial" pitchFamily="34" charset="-120"/>
              </a:rPr>
              <a:t>Docker Compose</a:t>
            </a:r>
            <a:endParaRPr lang="en-US" sz="1575" dirty="0"/>
          </a:p>
        </p:txBody>
      </p:sp>
      <p:sp>
        <p:nvSpPr>
          <p:cNvPr id="22" name="Shape 20"/>
          <p:cNvSpPr/>
          <p:nvPr/>
        </p:nvSpPr>
        <p:spPr>
          <a:xfrm>
            <a:off x="10880130" y="2006997"/>
            <a:ext cx="6607771" cy="4850408"/>
          </a:xfrm>
          <a:prstGeom prst="roundRect">
            <a:avLst>
              <a:gd name="adj" fmla="val 2749"/>
            </a:avLst>
          </a:prstGeom>
          <a:solidFill>
            <a:srgbClr val="0A0E1A"/>
          </a:solidFill>
          <a:ln w="12700">
            <a:solidFill>
              <a:srgbClr val="7FB6EE">
                <a:alpha val="30000"/>
              </a:srgbClr>
            </a:solidFill>
            <a:prstDash val="solid"/>
          </a:ln>
          <a:effectLst>
            <a:outerShdw blurRad="666750" dist="285750" dir="5400000" algn="bl" rotWithShape="0">
              <a:srgbClr val="000000">
                <a:alpha val="55000"/>
              </a:srgbClr>
            </a:outerShdw>
          </a:effectLst>
        </p:spPr>
        <p:txBody>
          <a:bodyPr/>
          <a:lstStyle/>
          <a:p>
            <a:endParaRPr lang="en-US"/>
          </a:p>
        </p:txBody>
      </p:sp>
      <p:sp>
        <p:nvSpPr>
          <p:cNvPr id="23" name="Shape 21"/>
          <p:cNvSpPr/>
          <p:nvPr/>
        </p:nvSpPr>
        <p:spPr>
          <a:xfrm>
            <a:off x="10892830" y="2019697"/>
            <a:ext cx="6582370" cy="361950"/>
          </a:xfrm>
          <a:prstGeom prst="rect">
            <a:avLst/>
          </a:prstGeom>
          <a:solidFill>
            <a:srgbClr val="0E1526"/>
          </a:solidFill>
          <a:ln/>
        </p:spPr>
        <p:txBody>
          <a:bodyPr/>
          <a:lstStyle/>
          <a:p>
            <a:endParaRPr lang="en-US"/>
          </a:p>
        </p:txBody>
      </p:sp>
      <p:sp>
        <p:nvSpPr>
          <p:cNvPr id="24" name="Shape 22"/>
          <p:cNvSpPr/>
          <p:nvPr/>
        </p:nvSpPr>
        <p:spPr>
          <a:xfrm>
            <a:off x="11045230" y="2143522"/>
            <a:ext cx="114300" cy="114300"/>
          </a:xfrm>
          <a:prstGeom prst="ellipse">
            <a:avLst/>
          </a:prstGeom>
          <a:solidFill>
            <a:srgbClr val="F0584E"/>
          </a:solidFill>
          <a:ln/>
        </p:spPr>
        <p:txBody>
          <a:bodyPr/>
          <a:lstStyle/>
          <a:p>
            <a:endParaRPr lang="en-US"/>
          </a:p>
        </p:txBody>
      </p:sp>
      <p:sp>
        <p:nvSpPr>
          <p:cNvPr id="25" name="Shape 23"/>
          <p:cNvSpPr/>
          <p:nvPr/>
        </p:nvSpPr>
        <p:spPr>
          <a:xfrm>
            <a:off x="11245255" y="2143522"/>
            <a:ext cx="114300" cy="114300"/>
          </a:xfrm>
          <a:prstGeom prst="ellipse">
            <a:avLst/>
          </a:prstGeom>
          <a:solidFill>
            <a:srgbClr val="F2A33C"/>
          </a:solidFill>
          <a:ln/>
        </p:spPr>
        <p:txBody>
          <a:bodyPr/>
          <a:lstStyle/>
          <a:p>
            <a:endParaRPr lang="en-US"/>
          </a:p>
        </p:txBody>
      </p:sp>
      <p:sp>
        <p:nvSpPr>
          <p:cNvPr id="26" name="Shape 24"/>
          <p:cNvSpPr/>
          <p:nvPr/>
        </p:nvSpPr>
        <p:spPr>
          <a:xfrm>
            <a:off x="11445280" y="2143522"/>
            <a:ext cx="114300" cy="114300"/>
          </a:xfrm>
          <a:prstGeom prst="ellipse">
            <a:avLst/>
          </a:prstGeom>
          <a:solidFill>
            <a:srgbClr val="34C27E"/>
          </a:solidFill>
          <a:ln/>
        </p:spPr>
        <p:txBody>
          <a:bodyPr/>
          <a:lstStyle/>
          <a:p>
            <a:endParaRPr lang="en-US"/>
          </a:p>
        </p:txBody>
      </p:sp>
      <p:sp>
        <p:nvSpPr>
          <p:cNvPr id="27" name="Text 25"/>
          <p:cNvSpPr/>
          <p:nvPr/>
        </p:nvSpPr>
        <p:spPr>
          <a:xfrm>
            <a:off x="11759605" y="2111772"/>
            <a:ext cx="2615664" cy="215900"/>
          </a:xfrm>
          <a:prstGeom prst="rect">
            <a:avLst/>
          </a:prstGeom>
          <a:noFill/>
          <a:ln/>
        </p:spPr>
        <p:txBody>
          <a:bodyPr wrap="square" lIns="25400" tIns="25400" rIns="25400" bIns="25400" rtlCol="0" anchor="t">
            <a:normAutofit/>
          </a:bodyPr>
          <a:lstStyle/>
          <a:p>
            <a:pPr marL="0" indent="0" algn="l">
              <a:buNone/>
            </a:pPr>
            <a:r>
              <a:rPr lang="en-US" sz="1200" dirty="0">
                <a:solidFill>
                  <a:srgbClr val="7F8BA0"/>
                </a:solidFill>
                <a:latin typeface="Courier New" pitchFamily="34" charset="0"/>
                <a:ea typeface="Courier New" pitchFamily="34" charset="-122"/>
                <a:cs typeface="Courier New" pitchFamily="34" charset="-120"/>
              </a:rPr>
              <a:t>game-client · localhost:80</a:t>
            </a:r>
            <a:endParaRPr lang="en-US" sz="1200" dirty="0"/>
          </a:p>
        </p:txBody>
      </p:sp>
      <p:pic>
        <p:nvPicPr>
          <p:cNvPr id="28" name="Image 0" descr="preencoded.png"/>
          <p:cNvPicPr>
            <a:picLocks noChangeAspect="1"/>
          </p:cNvPicPr>
          <p:nvPr/>
        </p:nvPicPr>
        <p:blipFill>
          <a:blip r:embed="rId3"/>
          <a:stretch>
            <a:fillRect/>
          </a:stretch>
        </p:blipFill>
        <p:spPr>
          <a:xfrm>
            <a:off x="10892830" y="2381647"/>
            <a:ext cx="6582370" cy="4463058"/>
          </a:xfrm>
          <a:prstGeom prst="rect">
            <a:avLst/>
          </a:prstGeom>
        </p:spPr>
      </p:pic>
      <p:sp>
        <p:nvSpPr>
          <p:cNvPr id="29" name="Shape 26"/>
          <p:cNvSpPr/>
          <p:nvPr/>
        </p:nvSpPr>
        <p:spPr>
          <a:xfrm>
            <a:off x="10880130" y="7009805"/>
            <a:ext cx="2126258" cy="533400"/>
          </a:xfrm>
          <a:prstGeom prst="roundRect">
            <a:avLst>
              <a:gd name="adj" fmla="val 17857"/>
            </a:avLst>
          </a:prstGeom>
          <a:solidFill>
            <a:srgbClr val="3B8EE6">
              <a:alpha val="16000"/>
            </a:srgbClr>
          </a:solidFill>
          <a:ln w="12700">
            <a:solidFill>
              <a:srgbClr val="3B8EE6">
                <a:alpha val="50000"/>
              </a:srgbClr>
            </a:solidFill>
            <a:prstDash val="solid"/>
          </a:ln>
        </p:spPr>
        <p:txBody>
          <a:bodyPr/>
          <a:lstStyle/>
          <a:p>
            <a:endParaRPr lang="en-US"/>
          </a:p>
        </p:txBody>
      </p:sp>
      <p:sp>
        <p:nvSpPr>
          <p:cNvPr id="30" name="Text 27"/>
          <p:cNvSpPr/>
          <p:nvPr/>
        </p:nvSpPr>
        <p:spPr>
          <a:xfrm>
            <a:off x="10930930" y="7155855"/>
            <a:ext cx="2024658" cy="279400"/>
          </a:xfrm>
          <a:prstGeom prst="rect">
            <a:avLst/>
          </a:prstGeom>
          <a:noFill/>
          <a:ln/>
        </p:spPr>
        <p:txBody>
          <a:bodyPr wrap="square" lIns="25400" tIns="25400" rIns="25400" bIns="25400" rtlCol="0" anchor="t">
            <a:normAutofit/>
          </a:bodyPr>
          <a:lstStyle/>
          <a:p>
            <a:pPr marL="0" indent="0" algn="ctr">
              <a:buNone/>
            </a:pPr>
            <a:r>
              <a:rPr lang="en-US" sz="1350" b="1" kern="0" spc="38" dirty="0">
                <a:solidFill>
                  <a:srgbClr val="7FB6EE"/>
                </a:solidFill>
                <a:latin typeface="Arial" pitchFamily="34" charset="0"/>
                <a:ea typeface="Arial" pitchFamily="34" charset="-122"/>
                <a:cs typeface="Arial" pitchFamily="34" charset="-120"/>
              </a:rPr>
              <a:t>RULE ENGINE</a:t>
            </a:r>
            <a:endParaRPr lang="en-US" sz="1350" dirty="0"/>
          </a:p>
        </p:txBody>
      </p:sp>
      <p:sp>
        <p:nvSpPr>
          <p:cNvPr id="31" name="Shape 28"/>
          <p:cNvSpPr/>
          <p:nvPr/>
        </p:nvSpPr>
        <p:spPr>
          <a:xfrm>
            <a:off x="13120688" y="7009805"/>
            <a:ext cx="2126456" cy="533400"/>
          </a:xfrm>
          <a:prstGeom prst="roundRect">
            <a:avLst>
              <a:gd name="adj" fmla="val 17857"/>
            </a:avLst>
          </a:prstGeom>
          <a:solidFill>
            <a:srgbClr val="F2A33C">
              <a:alpha val="16000"/>
            </a:srgbClr>
          </a:solidFill>
          <a:ln w="12700">
            <a:solidFill>
              <a:srgbClr val="F2A33C">
                <a:alpha val="50000"/>
              </a:srgbClr>
            </a:solidFill>
            <a:prstDash val="solid"/>
          </a:ln>
        </p:spPr>
        <p:txBody>
          <a:bodyPr/>
          <a:lstStyle/>
          <a:p>
            <a:endParaRPr lang="en-US"/>
          </a:p>
        </p:txBody>
      </p:sp>
      <p:sp>
        <p:nvSpPr>
          <p:cNvPr id="32" name="Text 29"/>
          <p:cNvSpPr/>
          <p:nvPr/>
        </p:nvSpPr>
        <p:spPr>
          <a:xfrm>
            <a:off x="13171487" y="7155855"/>
            <a:ext cx="2024856" cy="279400"/>
          </a:xfrm>
          <a:prstGeom prst="rect">
            <a:avLst/>
          </a:prstGeom>
          <a:noFill/>
          <a:ln/>
        </p:spPr>
        <p:txBody>
          <a:bodyPr wrap="square" lIns="25400" tIns="25400" rIns="25400" bIns="25400" rtlCol="0" anchor="t">
            <a:normAutofit/>
          </a:bodyPr>
          <a:lstStyle/>
          <a:p>
            <a:pPr marL="0" indent="0" algn="ctr">
              <a:buNone/>
            </a:pPr>
            <a:r>
              <a:rPr lang="en-US" sz="1350" b="1" kern="0" spc="38" dirty="0">
                <a:solidFill>
                  <a:srgbClr val="F4B463"/>
                </a:solidFill>
                <a:latin typeface="Arial" pitchFamily="34" charset="0"/>
                <a:ea typeface="Arial" pitchFamily="34" charset="-122"/>
                <a:cs typeface="Arial" pitchFamily="34" charset="-120"/>
              </a:rPr>
              <a:t>XGBOOST</a:t>
            </a:r>
            <a:endParaRPr lang="en-US" sz="1350" dirty="0"/>
          </a:p>
        </p:txBody>
      </p:sp>
      <p:sp>
        <p:nvSpPr>
          <p:cNvPr id="33" name="Shape 30"/>
          <p:cNvSpPr/>
          <p:nvPr/>
        </p:nvSpPr>
        <p:spPr>
          <a:xfrm>
            <a:off x="15361444" y="7009805"/>
            <a:ext cx="2126456" cy="533400"/>
          </a:xfrm>
          <a:prstGeom prst="roundRect">
            <a:avLst>
              <a:gd name="adj" fmla="val 17857"/>
            </a:avLst>
          </a:prstGeom>
          <a:solidFill>
            <a:srgbClr val="F0584E">
              <a:alpha val="16000"/>
            </a:srgbClr>
          </a:solidFill>
          <a:ln w="12700">
            <a:solidFill>
              <a:srgbClr val="F0584E">
                <a:alpha val="50000"/>
              </a:srgbClr>
            </a:solidFill>
            <a:prstDash val="solid"/>
          </a:ln>
        </p:spPr>
        <p:txBody>
          <a:bodyPr/>
          <a:lstStyle/>
          <a:p>
            <a:endParaRPr lang="en-US"/>
          </a:p>
        </p:txBody>
      </p:sp>
      <p:sp>
        <p:nvSpPr>
          <p:cNvPr id="34" name="Text 31"/>
          <p:cNvSpPr/>
          <p:nvPr/>
        </p:nvSpPr>
        <p:spPr>
          <a:xfrm>
            <a:off x="15412244" y="7155855"/>
            <a:ext cx="2024856" cy="279400"/>
          </a:xfrm>
          <a:prstGeom prst="rect">
            <a:avLst/>
          </a:prstGeom>
          <a:noFill/>
          <a:ln/>
        </p:spPr>
        <p:txBody>
          <a:bodyPr wrap="square" lIns="25400" tIns="25400" rIns="25400" bIns="25400" rtlCol="0" anchor="t">
            <a:normAutofit/>
          </a:bodyPr>
          <a:lstStyle/>
          <a:p>
            <a:pPr marL="0" indent="0" algn="ctr">
              <a:buNone/>
            </a:pPr>
            <a:r>
              <a:rPr lang="en-US" sz="1350" b="1" kern="0" spc="38" dirty="0">
                <a:solidFill>
                  <a:srgbClr val="F47E76"/>
                </a:solidFill>
                <a:latin typeface="Arial" pitchFamily="34" charset="0"/>
                <a:ea typeface="Arial" pitchFamily="34" charset="-122"/>
                <a:cs typeface="Arial" pitchFamily="34" charset="-120"/>
              </a:rPr>
              <a:t>LSTM AE</a:t>
            </a:r>
            <a:endParaRPr lang="en-US" sz="1350" dirty="0"/>
          </a:p>
        </p:txBody>
      </p:sp>
      <p:sp>
        <p:nvSpPr>
          <p:cNvPr id="35" name="Shape 32"/>
          <p:cNvSpPr/>
          <p:nvPr/>
        </p:nvSpPr>
        <p:spPr>
          <a:xfrm>
            <a:off x="0" y="9550400"/>
            <a:ext cx="18288000" cy="12700"/>
          </a:xfrm>
          <a:prstGeom prst="rect">
            <a:avLst/>
          </a:prstGeom>
          <a:solidFill>
            <a:srgbClr val="FFFFFF">
              <a:alpha val="10000"/>
            </a:srgbClr>
          </a:solidFill>
          <a:ln/>
        </p:spPr>
        <p:txBody>
          <a:bodyPr/>
          <a:lstStyle/>
          <a:p>
            <a:endParaRPr lang="en-US"/>
          </a:p>
        </p:txBody>
      </p:sp>
      <p:sp>
        <p:nvSpPr>
          <p:cNvPr id="36" name="Text 33"/>
          <p:cNvSpPr/>
          <p:nvPr/>
        </p:nvSpPr>
        <p:spPr>
          <a:xfrm>
            <a:off x="800100" y="9791700"/>
            <a:ext cx="2700794" cy="304800"/>
          </a:xfrm>
          <a:prstGeom prst="rect">
            <a:avLst/>
          </a:prstGeom>
          <a:noFill/>
          <a:ln/>
        </p:spPr>
        <p:txBody>
          <a:bodyPr wrap="square" lIns="25400" tIns="25400" rIns="25400" bIns="25400" rtlCol="0" anchor="t">
            <a:normAutofit/>
          </a:bodyPr>
          <a:lstStyle/>
          <a:p>
            <a:pPr marL="0" indent="0" algn="l">
              <a:buNone/>
            </a:pPr>
            <a:r>
              <a:rPr lang="en-US" sz="1725" b="1" dirty="0">
                <a:solidFill>
                  <a:srgbClr val="C6D7E8"/>
                </a:solidFill>
                <a:latin typeface="Arial" pitchFamily="34" charset="0"/>
                <a:ea typeface="Arial" pitchFamily="34" charset="-122"/>
                <a:cs typeface="Arial" pitchFamily="34" charset="-120"/>
              </a:rPr>
              <a:t>Ontario Tech University</a:t>
            </a:r>
            <a:endParaRPr lang="en-US" sz="1725" dirty="0"/>
          </a:p>
        </p:txBody>
      </p:sp>
      <p:sp>
        <p:nvSpPr>
          <p:cNvPr id="37" name="Text 34"/>
          <p:cNvSpPr/>
          <p:nvPr/>
        </p:nvSpPr>
        <p:spPr>
          <a:xfrm>
            <a:off x="16306404" y="9791700"/>
            <a:ext cx="1257697" cy="304800"/>
          </a:xfrm>
          <a:prstGeom prst="rect">
            <a:avLst/>
          </a:prstGeom>
          <a:noFill/>
          <a:ln/>
        </p:spPr>
        <p:txBody>
          <a:bodyPr wrap="square" lIns="25400" tIns="25400" rIns="25400" bIns="25400" rtlCol="0" anchor="t">
            <a:normAutofit/>
          </a:bodyPr>
          <a:lstStyle/>
          <a:p>
            <a:pPr marL="0" indent="0" algn="l">
              <a:buNone/>
            </a:pPr>
            <a:r>
              <a:rPr lang="en-US" sz="1725" dirty="0">
                <a:solidFill>
                  <a:srgbClr val="9DB2C9"/>
                </a:solidFill>
                <a:latin typeface="Arial" pitchFamily="34" charset="0"/>
                <a:ea typeface="Arial" pitchFamily="34" charset="-122"/>
                <a:cs typeface="Arial" pitchFamily="34" charset="-120"/>
              </a:rPr>
              <a:t>Spring 2026</a:t>
            </a:r>
            <a:endParaRPr lang="en-US" sz="17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609600" y="411163"/>
            <a:ext cx="104775" cy="104775"/>
          </a:xfrm>
          <a:prstGeom prst="roundRect">
            <a:avLst>
              <a:gd name="adj" fmla="val 18182"/>
            </a:avLst>
          </a:prstGeom>
          <a:solidFill>
            <a:srgbClr val="3B8EE6"/>
          </a:solidFill>
          <a:ln/>
          <a:effectLst>
            <a:outerShdw blurRad="133350" dist="50800" dir="16200000" algn="bl" rotWithShape="0">
              <a:srgbClr val="3B8EE6">
                <a:alpha val="100000"/>
              </a:srgbClr>
            </a:outerShdw>
          </a:effectLst>
        </p:spPr>
        <p:txBody>
          <a:bodyPr/>
          <a:lstStyle/>
          <a:p>
            <a:endParaRPr lang="en-US"/>
          </a:p>
        </p:txBody>
      </p:sp>
      <p:sp>
        <p:nvSpPr>
          <p:cNvPr id="4" name="Text 2"/>
          <p:cNvSpPr/>
          <p:nvPr/>
        </p:nvSpPr>
        <p:spPr>
          <a:xfrm>
            <a:off x="828675" y="323850"/>
            <a:ext cx="2442349"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6FB3F2"/>
                </a:solidFill>
                <a:latin typeface="Arial" pitchFamily="34" charset="0"/>
                <a:ea typeface="Arial" pitchFamily="34" charset="-122"/>
                <a:cs typeface="Arial" pitchFamily="34" charset="-120"/>
              </a:rPr>
              <a:t>PROBLEM SPACE</a:t>
            </a:r>
            <a:endParaRPr lang="en-US" sz="1500" dirty="0"/>
          </a:p>
        </p:txBody>
      </p:sp>
      <p:sp>
        <p:nvSpPr>
          <p:cNvPr id="5" name="Text 3"/>
          <p:cNvSpPr/>
          <p:nvPr/>
        </p:nvSpPr>
        <p:spPr>
          <a:xfrm>
            <a:off x="609600" y="708025"/>
            <a:ext cx="10074990"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Problem Definition &amp; IoT Context</a:t>
            </a:r>
            <a:endParaRPr lang="en-US" sz="4050" dirty="0"/>
          </a:p>
        </p:txBody>
      </p:sp>
      <p:sp>
        <p:nvSpPr>
          <p:cNvPr id="6" name="Text 4"/>
          <p:cNvSpPr/>
          <p:nvPr/>
        </p:nvSpPr>
        <p:spPr>
          <a:xfrm>
            <a:off x="158867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02</a:t>
            </a:r>
            <a:endParaRPr lang="en-US" sz="11250" dirty="0"/>
          </a:p>
        </p:txBody>
      </p:sp>
      <p:sp>
        <p:nvSpPr>
          <p:cNvPr id="7" name="Shape 5"/>
          <p:cNvSpPr/>
          <p:nvPr/>
        </p:nvSpPr>
        <p:spPr>
          <a:xfrm>
            <a:off x="609600" y="1504950"/>
            <a:ext cx="17068800" cy="19050"/>
          </a:xfrm>
          <a:prstGeom prst="rect">
            <a:avLst/>
          </a:prstGeom>
          <a:gradFill rotWithShape="1">
            <a:gsLst>
              <a:gs pos="0">
                <a:srgbClr val="3B8EE6">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Shape 6"/>
          <p:cNvSpPr/>
          <p:nvPr/>
        </p:nvSpPr>
        <p:spPr>
          <a:xfrm>
            <a:off x="609600" y="1771650"/>
            <a:ext cx="5549900" cy="6642894"/>
          </a:xfrm>
          <a:prstGeom prst="roundRect">
            <a:avLst>
              <a:gd name="adj" fmla="val 2403"/>
            </a:avLst>
          </a:prstGeom>
          <a:solidFill>
            <a:srgbClr val="FFFFFF">
              <a:alpha val="4000"/>
            </a:srgbClr>
          </a:solidFill>
          <a:ln/>
        </p:spPr>
        <p:txBody>
          <a:bodyPr/>
          <a:lstStyle/>
          <a:p>
            <a:endParaRPr lang="en-US"/>
          </a:p>
        </p:txBody>
      </p:sp>
      <p:sp>
        <p:nvSpPr>
          <p:cNvPr id="9" name="Shape 7"/>
          <p:cNvSpPr/>
          <p:nvPr/>
        </p:nvSpPr>
        <p:spPr>
          <a:xfrm>
            <a:off x="609600" y="8401844"/>
            <a:ext cx="5549900" cy="12700"/>
          </a:xfrm>
          <a:prstGeom prst="rect">
            <a:avLst/>
          </a:prstGeom>
          <a:solidFill>
            <a:srgbClr val="FFFFFF">
              <a:alpha val="10000"/>
            </a:srgbClr>
          </a:solidFill>
          <a:ln/>
        </p:spPr>
        <p:txBody>
          <a:bodyPr/>
          <a:lstStyle/>
          <a:p>
            <a:endParaRPr lang="en-US"/>
          </a:p>
        </p:txBody>
      </p:sp>
      <p:sp>
        <p:nvSpPr>
          <p:cNvPr id="10" name="Shape 8"/>
          <p:cNvSpPr/>
          <p:nvPr/>
        </p:nvSpPr>
        <p:spPr>
          <a:xfrm>
            <a:off x="609600" y="1771650"/>
            <a:ext cx="5549900" cy="38100"/>
          </a:xfrm>
          <a:prstGeom prst="rect">
            <a:avLst/>
          </a:prstGeom>
          <a:solidFill>
            <a:srgbClr val="F0584E"/>
          </a:solidFill>
          <a:ln/>
        </p:spPr>
        <p:txBody>
          <a:bodyPr/>
          <a:lstStyle/>
          <a:p>
            <a:endParaRPr lang="en-US"/>
          </a:p>
        </p:txBody>
      </p:sp>
      <p:sp>
        <p:nvSpPr>
          <p:cNvPr id="11" name="Shape 9"/>
          <p:cNvSpPr/>
          <p:nvPr/>
        </p:nvSpPr>
        <p:spPr>
          <a:xfrm>
            <a:off x="609600" y="1771650"/>
            <a:ext cx="12700" cy="6642894"/>
          </a:xfrm>
          <a:prstGeom prst="rect">
            <a:avLst/>
          </a:prstGeom>
          <a:solidFill>
            <a:srgbClr val="FFFFFF">
              <a:alpha val="10000"/>
            </a:srgbClr>
          </a:solidFill>
          <a:ln/>
        </p:spPr>
        <p:txBody>
          <a:bodyPr/>
          <a:lstStyle/>
          <a:p>
            <a:endParaRPr lang="en-US"/>
          </a:p>
        </p:txBody>
      </p:sp>
      <p:sp>
        <p:nvSpPr>
          <p:cNvPr id="12" name="Shape 10"/>
          <p:cNvSpPr/>
          <p:nvPr/>
        </p:nvSpPr>
        <p:spPr>
          <a:xfrm>
            <a:off x="6146800" y="1771650"/>
            <a:ext cx="12700" cy="6642894"/>
          </a:xfrm>
          <a:prstGeom prst="rect">
            <a:avLst/>
          </a:prstGeom>
          <a:solidFill>
            <a:srgbClr val="FFFFFF">
              <a:alpha val="10000"/>
            </a:srgbClr>
          </a:solidFill>
          <a:ln/>
        </p:spPr>
        <p:txBody>
          <a:bodyPr/>
          <a:lstStyle/>
          <a:p>
            <a:endParaRPr lang="en-US"/>
          </a:p>
        </p:txBody>
      </p:sp>
      <p:sp>
        <p:nvSpPr>
          <p:cNvPr id="13" name="Text 11"/>
          <p:cNvSpPr/>
          <p:nvPr/>
        </p:nvSpPr>
        <p:spPr>
          <a:xfrm>
            <a:off x="908050" y="2076450"/>
            <a:ext cx="5448300" cy="444500"/>
          </a:xfrm>
          <a:prstGeom prst="rect">
            <a:avLst/>
          </a:prstGeom>
          <a:noFill/>
          <a:ln/>
        </p:spPr>
        <p:txBody>
          <a:bodyPr wrap="square" lIns="25400" tIns="25400" rIns="25400" bIns="25400" rtlCol="0" anchor="t">
            <a:normAutofit/>
          </a:bodyPr>
          <a:lstStyle/>
          <a:p>
            <a:pPr marL="0" indent="0" algn="l">
              <a:buNone/>
            </a:pPr>
            <a:r>
              <a:rPr lang="en-US" sz="2250" b="1" dirty="0">
                <a:solidFill>
                  <a:srgbClr val="F47E76"/>
                </a:solidFill>
                <a:latin typeface="Arial" pitchFamily="34" charset="0"/>
                <a:ea typeface="Arial" pitchFamily="34" charset="-122"/>
                <a:cs typeface="Arial" pitchFamily="34" charset="-120"/>
              </a:rPr>
              <a:t>The Challenge</a:t>
            </a:r>
            <a:endParaRPr lang="en-US" sz="2250" dirty="0"/>
          </a:p>
        </p:txBody>
      </p:sp>
      <p:sp>
        <p:nvSpPr>
          <p:cNvPr id="14" name="Shape 12"/>
          <p:cNvSpPr/>
          <p:nvPr/>
        </p:nvSpPr>
        <p:spPr>
          <a:xfrm>
            <a:off x="908050" y="2759075"/>
            <a:ext cx="85725" cy="85725"/>
          </a:xfrm>
          <a:prstGeom prst="roundRect">
            <a:avLst>
              <a:gd name="adj" fmla="val 22222"/>
            </a:avLst>
          </a:prstGeom>
          <a:solidFill>
            <a:srgbClr val="F0584E"/>
          </a:solidFill>
          <a:ln/>
        </p:spPr>
        <p:txBody>
          <a:bodyPr/>
          <a:lstStyle/>
          <a:p>
            <a:endParaRPr lang="en-US"/>
          </a:p>
        </p:txBody>
      </p:sp>
      <p:sp>
        <p:nvSpPr>
          <p:cNvPr id="15" name="Text 13"/>
          <p:cNvSpPr/>
          <p:nvPr/>
        </p:nvSpPr>
        <p:spPr>
          <a:xfrm>
            <a:off x="1127125" y="2654300"/>
            <a:ext cx="4878368" cy="34667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D2DEEB"/>
                </a:solidFill>
                <a:latin typeface="Arial" pitchFamily="34" charset="0"/>
                <a:ea typeface="Arial" pitchFamily="34" charset="-122"/>
                <a:cs typeface="Arial" pitchFamily="34" charset="-120"/>
              </a:rPr>
              <a:t>Cheating costs the industry billions annually</a:t>
            </a:r>
            <a:endParaRPr lang="en-US" sz="1800" dirty="0"/>
          </a:p>
        </p:txBody>
      </p:sp>
      <p:sp>
        <p:nvSpPr>
          <p:cNvPr id="16" name="Shape 14"/>
          <p:cNvSpPr/>
          <p:nvPr/>
        </p:nvSpPr>
        <p:spPr>
          <a:xfrm>
            <a:off x="908050" y="3229570"/>
            <a:ext cx="85725" cy="85725"/>
          </a:xfrm>
          <a:prstGeom prst="roundRect">
            <a:avLst>
              <a:gd name="adj" fmla="val 22222"/>
            </a:avLst>
          </a:prstGeom>
          <a:solidFill>
            <a:srgbClr val="F0584E"/>
          </a:solidFill>
          <a:ln/>
        </p:spPr>
        <p:txBody>
          <a:bodyPr/>
          <a:lstStyle/>
          <a:p>
            <a:endParaRPr lang="en-US"/>
          </a:p>
        </p:txBody>
      </p:sp>
      <p:sp>
        <p:nvSpPr>
          <p:cNvPr id="17" name="Text 15"/>
          <p:cNvSpPr/>
          <p:nvPr/>
        </p:nvSpPr>
        <p:spPr>
          <a:xfrm>
            <a:off x="1127125" y="3124795"/>
            <a:ext cx="4875943" cy="655241"/>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D2DEEB"/>
                </a:solidFill>
                <a:latin typeface="Arial" pitchFamily="34" charset="0"/>
                <a:ea typeface="Arial" pitchFamily="34" charset="-122"/>
                <a:cs typeface="Arial" pitchFamily="34" charset="-120"/>
              </a:rPr>
              <a:t>Client-side anti-cheat (VAC, EAC) is bypassable</a:t>
            </a:r>
            <a:endParaRPr lang="en-US" sz="1800" dirty="0"/>
          </a:p>
        </p:txBody>
      </p:sp>
      <p:sp>
        <p:nvSpPr>
          <p:cNvPr id="18" name="Shape 16"/>
          <p:cNvSpPr/>
          <p:nvPr/>
        </p:nvSpPr>
        <p:spPr>
          <a:xfrm>
            <a:off x="908050" y="4008636"/>
            <a:ext cx="85725" cy="85725"/>
          </a:xfrm>
          <a:prstGeom prst="roundRect">
            <a:avLst>
              <a:gd name="adj" fmla="val 22222"/>
            </a:avLst>
          </a:prstGeom>
          <a:solidFill>
            <a:srgbClr val="F0584E"/>
          </a:solidFill>
          <a:ln/>
        </p:spPr>
        <p:txBody>
          <a:bodyPr/>
          <a:lstStyle/>
          <a:p>
            <a:endParaRPr lang="en-US"/>
          </a:p>
        </p:txBody>
      </p:sp>
      <p:sp>
        <p:nvSpPr>
          <p:cNvPr id="19" name="Text 17"/>
          <p:cNvSpPr/>
          <p:nvPr/>
        </p:nvSpPr>
        <p:spPr>
          <a:xfrm>
            <a:off x="1127125" y="3903861"/>
            <a:ext cx="4500523" cy="34667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D2DEEB"/>
                </a:solidFill>
                <a:latin typeface="Arial" pitchFamily="34" charset="0"/>
                <a:ea typeface="Arial" pitchFamily="34" charset="-122"/>
                <a:cs typeface="Arial" pitchFamily="34" charset="-120"/>
              </a:rPr>
              <a:t>Post-match analysis takes hours to days</a:t>
            </a:r>
            <a:endParaRPr lang="en-US" sz="1800" dirty="0"/>
          </a:p>
        </p:txBody>
      </p:sp>
      <p:sp>
        <p:nvSpPr>
          <p:cNvPr id="20" name="Shape 18"/>
          <p:cNvSpPr/>
          <p:nvPr/>
        </p:nvSpPr>
        <p:spPr>
          <a:xfrm>
            <a:off x="908050" y="4479131"/>
            <a:ext cx="85725" cy="85725"/>
          </a:xfrm>
          <a:prstGeom prst="roundRect">
            <a:avLst>
              <a:gd name="adj" fmla="val 22222"/>
            </a:avLst>
          </a:prstGeom>
          <a:solidFill>
            <a:srgbClr val="F0584E"/>
          </a:solidFill>
          <a:ln/>
        </p:spPr>
        <p:txBody>
          <a:bodyPr/>
          <a:lstStyle/>
          <a:p>
            <a:endParaRPr lang="en-US"/>
          </a:p>
        </p:txBody>
      </p:sp>
      <p:sp>
        <p:nvSpPr>
          <p:cNvPr id="21" name="Text 19"/>
          <p:cNvSpPr/>
          <p:nvPr/>
        </p:nvSpPr>
        <p:spPr>
          <a:xfrm>
            <a:off x="1127125" y="4374356"/>
            <a:ext cx="5003225" cy="34667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D2DEEB"/>
                </a:solidFill>
                <a:latin typeface="Arial" pitchFamily="34" charset="0"/>
                <a:ea typeface="Arial" pitchFamily="34" charset="-122"/>
                <a:cs typeface="Arial" pitchFamily="34" charset="-120"/>
              </a:rPr>
              <a:t>Kernel drivers raise serious privacy concerns</a:t>
            </a:r>
            <a:endParaRPr lang="en-US" sz="1800" dirty="0"/>
          </a:p>
        </p:txBody>
      </p:sp>
      <p:sp>
        <p:nvSpPr>
          <p:cNvPr id="22" name="Shape 20"/>
          <p:cNvSpPr/>
          <p:nvPr/>
        </p:nvSpPr>
        <p:spPr>
          <a:xfrm>
            <a:off x="6369050" y="1771650"/>
            <a:ext cx="5549900" cy="6642894"/>
          </a:xfrm>
          <a:prstGeom prst="roundRect">
            <a:avLst>
              <a:gd name="adj" fmla="val 2403"/>
            </a:avLst>
          </a:prstGeom>
          <a:solidFill>
            <a:srgbClr val="FFFFFF">
              <a:alpha val="4000"/>
            </a:srgbClr>
          </a:solidFill>
          <a:ln/>
        </p:spPr>
        <p:txBody>
          <a:bodyPr/>
          <a:lstStyle/>
          <a:p>
            <a:endParaRPr lang="en-US"/>
          </a:p>
        </p:txBody>
      </p:sp>
      <p:sp>
        <p:nvSpPr>
          <p:cNvPr id="23" name="Shape 21"/>
          <p:cNvSpPr/>
          <p:nvPr/>
        </p:nvSpPr>
        <p:spPr>
          <a:xfrm>
            <a:off x="6369050" y="8401844"/>
            <a:ext cx="5549900" cy="12700"/>
          </a:xfrm>
          <a:prstGeom prst="rect">
            <a:avLst/>
          </a:prstGeom>
          <a:solidFill>
            <a:srgbClr val="FFFFFF">
              <a:alpha val="10000"/>
            </a:srgbClr>
          </a:solidFill>
          <a:ln/>
        </p:spPr>
        <p:txBody>
          <a:bodyPr/>
          <a:lstStyle/>
          <a:p>
            <a:endParaRPr lang="en-US"/>
          </a:p>
        </p:txBody>
      </p:sp>
      <p:sp>
        <p:nvSpPr>
          <p:cNvPr id="24" name="Shape 22"/>
          <p:cNvSpPr/>
          <p:nvPr/>
        </p:nvSpPr>
        <p:spPr>
          <a:xfrm>
            <a:off x="6369050" y="1771650"/>
            <a:ext cx="5549900" cy="38100"/>
          </a:xfrm>
          <a:prstGeom prst="rect">
            <a:avLst/>
          </a:prstGeom>
          <a:solidFill>
            <a:srgbClr val="3B8EE6"/>
          </a:solidFill>
          <a:ln/>
        </p:spPr>
        <p:txBody>
          <a:bodyPr/>
          <a:lstStyle/>
          <a:p>
            <a:endParaRPr lang="en-US"/>
          </a:p>
        </p:txBody>
      </p:sp>
      <p:sp>
        <p:nvSpPr>
          <p:cNvPr id="25" name="Shape 23"/>
          <p:cNvSpPr/>
          <p:nvPr/>
        </p:nvSpPr>
        <p:spPr>
          <a:xfrm>
            <a:off x="6369050" y="1771650"/>
            <a:ext cx="12700" cy="6642894"/>
          </a:xfrm>
          <a:prstGeom prst="rect">
            <a:avLst/>
          </a:prstGeom>
          <a:solidFill>
            <a:srgbClr val="FFFFFF">
              <a:alpha val="10000"/>
            </a:srgbClr>
          </a:solidFill>
          <a:ln/>
        </p:spPr>
        <p:txBody>
          <a:bodyPr/>
          <a:lstStyle/>
          <a:p>
            <a:endParaRPr lang="en-US"/>
          </a:p>
        </p:txBody>
      </p:sp>
      <p:sp>
        <p:nvSpPr>
          <p:cNvPr id="26" name="Shape 24"/>
          <p:cNvSpPr/>
          <p:nvPr/>
        </p:nvSpPr>
        <p:spPr>
          <a:xfrm>
            <a:off x="11906250" y="1771650"/>
            <a:ext cx="12700" cy="6642894"/>
          </a:xfrm>
          <a:prstGeom prst="rect">
            <a:avLst/>
          </a:prstGeom>
          <a:solidFill>
            <a:srgbClr val="FFFFFF">
              <a:alpha val="10000"/>
            </a:srgbClr>
          </a:solidFill>
          <a:ln/>
        </p:spPr>
        <p:txBody>
          <a:bodyPr/>
          <a:lstStyle/>
          <a:p>
            <a:endParaRPr lang="en-US"/>
          </a:p>
        </p:txBody>
      </p:sp>
      <p:sp>
        <p:nvSpPr>
          <p:cNvPr id="27" name="Text 25"/>
          <p:cNvSpPr/>
          <p:nvPr/>
        </p:nvSpPr>
        <p:spPr>
          <a:xfrm>
            <a:off x="6667500" y="2076450"/>
            <a:ext cx="5448300" cy="444500"/>
          </a:xfrm>
          <a:prstGeom prst="rect">
            <a:avLst/>
          </a:prstGeom>
          <a:noFill/>
          <a:ln/>
        </p:spPr>
        <p:txBody>
          <a:bodyPr wrap="square" lIns="25400" tIns="25400" rIns="25400" bIns="25400" rtlCol="0" anchor="t">
            <a:normAutofit/>
          </a:bodyPr>
          <a:lstStyle/>
          <a:p>
            <a:pPr marL="0" indent="0" algn="l">
              <a:buNone/>
            </a:pPr>
            <a:r>
              <a:rPr lang="en-US" sz="2250" b="1" dirty="0">
                <a:solidFill>
                  <a:srgbClr val="6FB3F2"/>
                </a:solidFill>
                <a:latin typeface="Arial" pitchFamily="34" charset="0"/>
                <a:ea typeface="Arial" pitchFamily="34" charset="-122"/>
                <a:cs typeface="Arial" pitchFamily="34" charset="-120"/>
              </a:rPr>
              <a:t>Project Objectives</a:t>
            </a:r>
            <a:endParaRPr lang="en-US" sz="2250" dirty="0"/>
          </a:p>
        </p:txBody>
      </p:sp>
      <p:sp>
        <p:nvSpPr>
          <p:cNvPr id="28" name="Shape 26"/>
          <p:cNvSpPr/>
          <p:nvPr/>
        </p:nvSpPr>
        <p:spPr>
          <a:xfrm>
            <a:off x="6667500" y="2759075"/>
            <a:ext cx="85725" cy="85725"/>
          </a:xfrm>
          <a:prstGeom prst="roundRect">
            <a:avLst>
              <a:gd name="adj" fmla="val 22222"/>
            </a:avLst>
          </a:prstGeom>
          <a:solidFill>
            <a:srgbClr val="3B8EE6"/>
          </a:solidFill>
          <a:ln/>
        </p:spPr>
        <p:txBody>
          <a:bodyPr/>
          <a:lstStyle/>
          <a:p>
            <a:endParaRPr lang="en-US"/>
          </a:p>
        </p:txBody>
      </p:sp>
      <p:sp>
        <p:nvSpPr>
          <p:cNvPr id="29" name="Text 27"/>
          <p:cNvSpPr/>
          <p:nvPr/>
        </p:nvSpPr>
        <p:spPr>
          <a:xfrm>
            <a:off x="6886575" y="2654300"/>
            <a:ext cx="4875943" cy="641350"/>
          </a:xfrm>
          <a:prstGeom prst="rect">
            <a:avLst/>
          </a:prstGeom>
          <a:noFill/>
          <a:ln/>
        </p:spPr>
        <p:txBody>
          <a:bodyPr wrap="square" lIns="25400" tIns="25400" rIns="25400" bIns="25400" rtlCol="0" anchor="t">
            <a:normAutofit/>
          </a:bodyPr>
          <a:lstStyle/>
          <a:p>
            <a:pPr marL="0" indent="0" algn="l">
              <a:lnSpc>
                <a:spcPct val="132000"/>
              </a:lnSpc>
              <a:buNone/>
            </a:pPr>
            <a:r>
              <a:rPr lang="en-US" sz="1800" dirty="0">
                <a:solidFill>
                  <a:srgbClr val="D2DEEB"/>
                </a:solidFill>
                <a:latin typeface="Arial" pitchFamily="34" charset="0"/>
                <a:ea typeface="Arial" pitchFamily="34" charset="-122"/>
                <a:cs typeface="Arial" pitchFamily="34" charset="-120"/>
              </a:rPr>
              <a:t>Server-side behavioral detection - no client trust</a:t>
            </a:r>
            <a:endParaRPr lang="en-US" sz="1800" dirty="0"/>
          </a:p>
        </p:txBody>
      </p:sp>
      <p:sp>
        <p:nvSpPr>
          <p:cNvPr id="30" name="Shape 28"/>
          <p:cNvSpPr/>
          <p:nvPr/>
        </p:nvSpPr>
        <p:spPr>
          <a:xfrm>
            <a:off x="6667500" y="3505200"/>
            <a:ext cx="85725" cy="85725"/>
          </a:xfrm>
          <a:prstGeom prst="roundRect">
            <a:avLst>
              <a:gd name="adj" fmla="val 22222"/>
            </a:avLst>
          </a:prstGeom>
          <a:solidFill>
            <a:srgbClr val="3B8EE6"/>
          </a:solidFill>
          <a:ln/>
        </p:spPr>
        <p:txBody>
          <a:bodyPr/>
          <a:lstStyle/>
          <a:p>
            <a:endParaRPr lang="en-US"/>
          </a:p>
        </p:txBody>
      </p:sp>
      <p:sp>
        <p:nvSpPr>
          <p:cNvPr id="31" name="Text 29"/>
          <p:cNvSpPr/>
          <p:nvPr/>
        </p:nvSpPr>
        <p:spPr>
          <a:xfrm>
            <a:off x="6886575" y="3400425"/>
            <a:ext cx="5199678" cy="339725"/>
          </a:xfrm>
          <a:prstGeom prst="rect">
            <a:avLst/>
          </a:prstGeom>
          <a:noFill/>
          <a:ln/>
        </p:spPr>
        <p:txBody>
          <a:bodyPr wrap="square" lIns="25400" tIns="25400" rIns="25400" bIns="25400" rtlCol="0" anchor="t">
            <a:normAutofit/>
          </a:bodyPr>
          <a:lstStyle/>
          <a:p>
            <a:pPr marL="0" indent="0" algn="l">
              <a:lnSpc>
                <a:spcPct val="132000"/>
              </a:lnSpc>
              <a:buNone/>
            </a:pPr>
            <a:r>
              <a:rPr lang="en-US" sz="1800" dirty="0">
                <a:solidFill>
                  <a:srgbClr val="D2DEEB"/>
                </a:solidFill>
                <a:latin typeface="Arial" pitchFamily="34" charset="0"/>
                <a:ea typeface="Arial" pitchFamily="34" charset="-122"/>
                <a:cs typeface="Arial" pitchFamily="34" charset="-120"/>
              </a:rPr>
              <a:t>Real-time streaming pipeline via Apache Kafka</a:t>
            </a:r>
            <a:endParaRPr lang="en-US" sz="1800" dirty="0"/>
          </a:p>
        </p:txBody>
      </p:sp>
      <p:sp>
        <p:nvSpPr>
          <p:cNvPr id="32" name="Shape 30"/>
          <p:cNvSpPr/>
          <p:nvPr/>
        </p:nvSpPr>
        <p:spPr>
          <a:xfrm>
            <a:off x="6667500" y="3949700"/>
            <a:ext cx="85725" cy="85725"/>
          </a:xfrm>
          <a:prstGeom prst="roundRect">
            <a:avLst>
              <a:gd name="adj" fmla="val 22222"/>
            </a:avLst>
          </a:prstGeom>
          <a:solidFill>
            <a:srgbClr val="3B8EE6"/>
          </a:solidFill>
          <a:ln/>
        </p:spPr>
        <p:txBody>
          <a:bodyPr/>
          <a:lstStyle/>
          <a:p>
            <a:endParaRPr lang="en-US"/>
          </a:p>
        </p:txBody>
      </p:sp>
      <p:sp>
        <p:nvSpPr>
          <p:cNvPr id="33" name="Text 31"/>
          <p:cNvSpPr/>
          <p:nvPr/>
        </p:nvSpPr>
        <p:spPr>
          <a:xfrm>
            <a:off x="6886575" y="3844925"/>
            <a:ext cx="5206663" cy="339725"/>
          </a:xfrm>
          <a:prstGeom prst="rect">
            <a:avLst/>
          </a:prstGeom>
          <a:noFill/>
          <a:ln/>
        </p:spPr>
        <p:txBody>
          <a:bodyPr wrap="square" lIns="25400" tIns="25400" rIns="25400" bIns="25400" rtlCol="0" anchor="t">
            <a:normAutofit/>
          </a:bodyPr>
          <a:lstStyle/>
          <a:p>
            <a:pPr marL="0" indent="0" algn="l">
              <a:lnSpc>
                <a:spcPct val="132000"/>
              </a:lnSpc>
              <a:buNone/>
            </a:pPr>
            <a:r>
              <a:rPr lang="en-US" sz="1800" dirty="0">
                <a:solidFill>
                  <a:srgbClr val="D2DEEB"/>
                </a:solidFill>
                <a:latin typeface="Arial" pitchFamily="34" charset="0"/>
                <a:ea typeface="Arial" pitchFamily="34" charset="-122"/>
                <a:cs typeface="Arial" pitchFamily="34" charset="-120"/>
              </a:rPr>
              <a:t>Dual-paradigm ML: supervised + unsupervised</a:t>
            </a:r>
            <a:endParaRPr lang="en-US" sz="1800" dirty="0"/>
          </a:p>
        </p:txBody>
      </p:sp>
      <p:sp>
        <p:nvSpPr>
          <p:cNvPr id="34" name="Shape 32"/>
          <p:cNvSpPr/>
          <p:nvPr/>
        </p:nvSpPr>
        <p:spPr>
          <a:xfrm>
            <a:off x="6667500" y="4394200"/>
            <a:ext cx="85725" cy="85725"/>
          </a:xfrm>
          <a:prstGeom prst="roundRect">
            <a:avLst>
              <a:gd name="adj" fmla="val 22222"/>
            </a:avLst>
          </a:prstGeom>
          <a:solidFill>
            <a:srgbClr val="3B8EE6"/>
          </a:solidFill>
          <a:ln/>
        </p:spPr>
        <p:txBody>
          <a:bodyPr/>
          <a:lstStyle/>
          <a:p>
            <a:endParaRPr lang="en-US"/>
          </a:p>
        </p:txBody>
      </p:sp>
      <p:sp>
        <p:nvSpPr>
          <p:cNvPr id="35" name="Text 33"/>
          <p:cNvSpPr/>
          <p:nvPr/>
        </p:nvSpPr>
        <p:spPr>
          <a:xfrm>
            <a:off x="6886575" y="4289425"/>
            <a:ext cx="5171519" cy="339725"/>
          </a:xfrm>
          <a:prstGeom prst="rect">
            <a:avLst/>
          </a:prstGeom>
          <a:noFill/>
          <a:ln/>
        </p:spPr>
        <p:txBody>
          <a:bodyPr wrap="square" lIns="25400" tIns="25400" rIns="25400" bIns="25400" rtlCol="0" anchor="t">
            <a:normAutofit/>
          </a:bodyPr>
          <a:lstStyle/>
          <a:p>
            <a:pPr marL="0" indent="0" algn="l">
              <a:lnSpc>
                <a:spcPct val="132000"/>
              </a:lnSpc>
              <a:buNone/>
            </a:pPr>
            <a:r>
              <a:rPr lang="en-US" sz="1800" dirty="0">
                <a:solidFill>
                  <a:srgbClr val="D2DEEB"/>
                </a:solidFill>
                <a:latin typeface="Arial" pitchFamily="34" charset="0"/>
                <a:ea typeface="Arial" pitchFamily="34" charset="-122"/>
                <a:cs typeface="Arial" pitchFamily="34" charset="-120"/>
              </a:rPr>
              <a:t>Rule engine: deterministic, zero false positives</a:t>
            </a:r>
            <a:endParaRPr lang="en-US" sz="1800" dirty="0"/>
          </a:p>
        </p:txBody>
      </p:sp>
      <p:sp>
        <p:nvSpPr>
          <p:cNvPr id="36" name="Shape 34"/>
          <p:cNvSpPr/>
          <p:nvPr/>
        </p:nvSpPr>
        <p:spPr>
          <a:xfrm>
            <a:off x="6667500" y="4838700"/>
            <a:ext cx="85725" cy="85725"/>
          </a:xfrm>
          <a:prstGeom prst="roundRect">
            <a:avLst>
              <a:gd name="adj" fmla="val 22222"/>
            </a:avLst>
          </a:prstGeom>
          <a:solidFill>
            <a:srgbClr val="3B8EE6"/>
          </a:solidFill>
          <a:ln/>
        </p:spPr>
        <p:txBody>
          <a:bodyPr/>
          <a:lstStyle/>
          <a:p>
            <a:endParaRPr lang="en-US"/>
          </a:p>
        </p:txBody>
      </p:sp>
      <p:sp>
        <p:nvSpPr>
          <p:cNvPr id="37" name="Text 35"/>
          <p:cNvSpPr/>
          <p:nvPr/>
        </p:nvSpPr>
        <p:spPr>
          <a:xfrm>
            <a:off x="6886575" y="4733925"/>
            <a:ext cx="3257193" cy="339725"/>
          </a:xfrm>
          <a:prstGeom prst="rect">
            <a:avLst/>
          </a:prstGeom>
          <a:noFill/>
          <a:ln/>
        </p:spPr>
        <p:txBody>
          <a:bodyPr wrap="square" lIns="25400" tIns="25400" rIns="25400" bIns="25400" rtlCol="0" anchor="t">
            <a:normAutofit/>
          </a:bodyPr>
          <a:lstStyle/>
          <a:p>
            <a:pPr marL="0" indent="0" algn="l">
              <a:lnSpc>
                <a:spcPct val="132000"/>
              </a:lnSpc>
              <a:buNone/>
            </a:pPr>
            <a:r>
              <a:rPr lang="en-US" sz="1800" dirty="0">
                <a:solidFill>
                  <a:srgbClr val="D2DEEB"/>
                </a:solidFill>
                <a:latin typeface="Arial" pitchFamily="34" charset="0"/>
                <a:ea typeface="Arial" pitchFamily="34" charset="-122"/>
                <a:cs typeface="Arial" pitchFamily="34" charset="-120"/>
              </a:rPr>
              <a:t>Detection in under 5 seconds</a:t>
            </a:r>
            <a:endParaRPr lang="en-US" sz="1800" dirty="0"/>
          </a:p>
        </p:txBody>
      </p:sp>
      <p:sp>
        <p:nvSpPr>
          <p:cNvPr id="38" name="Shape 36"/>
          <p:cNvSpPr/>
          <p:nvPr/>
        </p:nvSpPr>
        <p:spPr>
          <a:xfrm>
            <a:off x="12128500" y="1771650"/>
            <a:ext cx="5549900" cy="6642894"/>
          </a:xfrm>
          <a:prstGeom prst="roundRect">
            <a:avLst>
              <a:gd name="adj" fmla="val 2403"/>
            </a:avLst>
          </a:prstGeom>
          <a:solidFill>
            <a:srgbClr val="FFFFFF">
              <a:alpha val="4000"/>
            </a:srgbClr>
          </a:solidFill>
          <a:ln/>
        </p:spPr>
        <p:txBody>
          <a:bodyPr/>
          <a:lstStyle/>
          <a:p>
            <a:endParaRPr lang="en-US"/>
          </a:p>
        </p:txBody>
      </p:sp>
      <p:sp>
        <p:nvSpPr>
          <p:cNvPr id="39" name="Shape 37"/>
          <p:cNvSpPr/>
          <p:nvPr/>
        </p:nvSpPr>
        <p:spPr>
          <a:xfrm>
            <a:off x="12128500" y="8401844"/>
            <a:ext cx="5549900" cy="12700"/>
          </a:xfrm>
          <a:prstGeom prst="rect">
            <a:avLst/>
          </a:prstGeom>
          <a:solidFill>
            <a:srgbClr val="FFFFFF">
              <a:alpha val="10000"/>
            </a:srgbClr>
          </a:solidFill>
          <a:ln/>
        </p:spPr>
        <p:txBody>
          <a:bodyPr/>
          <a:lstStyle/>
          <a:p>
            <a:endParaRPr lang="en-US"/>
          </a:p>
        </p:txBody>
      </p:sp>
      <p:sp>
        <p:nvSpPr>
          <p:cNvPr id="40" name="Shape 38"/>
          <p:cNvSpPr/>
          <p:nvPr/>
        </p:nvSpPr>
        <p:spPr>
          <a:xfrm>
            <a:off x="12128500" y="1771650"/>
            <a:ext cx="5549900" cy="38100"/>
          </a:xfrm>
          <a:prstGeom prst="rect">
            <a:avLst/>
          </a:prstGeom>
          <a:solidFill>
            <a:srgbClr val="F2A33C"/>
          </a:solidFill>
          <a:ln/>
        </p:spPr>
        <p:txBody>
          <a:bodyPr/>
          <a:lstStyle/>
          <a:p>
            <a:endParaRPr lang="en-US"/>
          </a:p>
        </p:txBody>
      </p:sp>
      <p:sp>
        <p:nvSpPr>
          <p:cNvPr id="41" name="Shape 39"/>
          <p:cNvSpPr/>
          <p:nvPr/>
        </p:nvSpPr>
        <p:spPr>
          <a:xfrm>
            <a:off x="12128500" y="1771650"/>
            <a:ext cx="12700" cy="6642894"/>
          </a:xfrm>
          <a:prstGeom prst="rect">
            <a:avLst/>
          </a:prstGeom>
          <a:solidFill>
            <a:srgbClr val="FFFFFF">
              <a:alpha val="10000"/>
            </a:srgbClr>
          </a:solidFill>
          <a:ln/>
        </p:spPr>
        <p:txBody>
          <a:bodyPr/>
          <a:lstStyle/>
          <a:p>
            <a:endParaRPr lang="en-US"/>
          </a:p>
        </p:txBody>
      </p:sp>
      <p:sp>
        <p:nvSpPr>
          <p:cNvPr id="42" name="Shape 40"/>
          <p:cNvSpPr/>
          <p:nvPr/>
        </p:nvSpPr>
        <p:spPr>
          <a:xfrm>
            <a:off x="17665701" y="1771650"/>
            <a:ext cx="12700" cy="6642894"/>
          </a:xfrm>
          <a:prstGeom prst="rect">
            <a:avLst/>
          </a:prstGeom>
          <a:solidFill>
            <a:srgbClr val="FFFFFF">
              <a:alpha val="10000"/>
            </a:srgbClr>
          </a:solidFill>
          <a:ln/>
        </p:spPr>
        <p:txBody>
          <a:bodyPr/>
          <a:lstStyle/>
          <a:p>
            <a:endParaRPr lang="en-US"/>
          </a:p>
        </p:txBody>
      </p:sp>
      <p:sp>
        <p:nvSpPr>
          <p:cNvPr id="43" name="Text 41"/>
          <p:cNvSpPr/>
          <p:nvPr/>
        </p:nvSpPr>
        <p:spPr>
          <a:xfrm>
            <a:off x="12426951" y="2076450"/>
            <a:ext cx="5448300" cy="444500"/>
          </a:xfrm>
          <a:prstGeom prst="rect">
            <a:avLst/>
          </a:prstGeom>
          <a:noFill/>
          <a:ln/>
        </p:spPr>
        <p:txBody>
          <a:bodyPr wrap="square" lIns="25400" tIns="25400" rIns="25400" bIns="25400" rtlCol="0" anchor="t">
            <a:normAutofit/>
          </a:bodyPr>
          <a:lstStyle/>
          <a:p>
            <a:pPr marL="0" indent="0" algn="l">
              <a:buNone/>
            </a:pPr>
            <a:r>
              <a:rPr lang="en-US" sz="2250" b="1" dirty="0">
                <a:solidFill>
                  <a:srgbClr val="F4B463"/>
                </a:solidFill>
                <a:latin typeface="Arial" pitchFamily="34" charset="0"/>
                <a:ea typeface="Arial" pitchFamily="34" charset="-122"/>
                <a:cs typeface="Arial" pitchFamily="34" charset="-120"/>
              </a:rPr>
              <a:t>IoT Parallels</a:t>
            </a:r>
            <a:endParaRPr lang="en-US" sz="2250" dirty="0"/>
          </a:p>
        </p:txBody>
      </p:sp>
      <p:sp>
        <p:nvSpPr>
          <p:cNvPr id="44" name="Shape 42"/>
          <p:cNvSpPr/>
          <p:nvPr/>
        </p:nvSpPr>
        <p:spPr>
          <a:xfrm>
            <a:off x="12426951" y="2759075"/>
            <a:ext cx="85725" cy="85725"/>
          </a:xfrm>
          <a:prstGeom prst="roundRect">
            <a:avLst>
              <a:gd name="adj" fmla="val 22222"/>
            </a:avLst>
          </a:prstGeom>
          <a:solidFill>
            <a:srgbClr val="F2A33C"/>
          </a:solidFill>
          <a:ln/>
        </p:spPr>
        <p:txBody>
          <a:bodyPr/>
          <a:lstStyle/>
          <a:p>
            <a:endParaRPr lang="en-US"/>
          </a:p>
        </p:txBody>
      </p:sp>
      <p:sp>
        <p:nvSpPr>
          <p:cNvPr id="45" name="Text 43"/>
          <p:cNvSpPr/>
          <p:nvPr/>
        </p:nvSpPr>
        <p:spPr>
          <a:xfrm>
            <a:off x="12646026" y="2654300"/>
            <a:ext cx="4667726" cy="339725"/>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FFFFFF"/>
                </a:solidFill>
                <a:latin typeface="Arial" pitchFamily="34" charset="0"/>
                <a:ea typeface="Arial" pitchFamily="34" charset="-122"/>
                <a:cs typeface="Arial" pitchFamily="34" charset="-120"/>
              </a:rPr>
              <a:t>Sensors: </a:t>
            </a:r>
            <a:r>
              <a:rPr lang="en-US" sz="1800" dirty="0">
                <a:solidFill>
                  <a:srgbClr val="D2DEEB"/>
                </a:solidFill>
                <a:latin typeface="Arial" pitchFamily="34" charset="0"/>
                <a:ea typeface="Arial" pitchFamily="34" charset="-122"/>
                <a:cs typeface="Arial" pitchFamily="34" charset="-120"/>
              </a:rPr>
              <a:t>60Hz telemetry ↔ industrial IoT</a:t>
            </a:r>
            <a:endParaRPr lang="en-US" sz="1800" dirty="0"/>
          </a:p>
        </p:txBody>
      </p:sp>
      <p:sp>
        <p:nvSpPr>
          <p:cNvPr id="46" name="Shape 44"/>
          <p:cNvSpPr/>
          <p:nvPr/>
        </p:nvSpPr>
        <p:spPr>
          <a:xfrm>
            <a:off x="12426951" y="3203575"/>
            <a:ext cx="85725" cy="85725"/>
          </a:xfrm>
          <a:prstGeom prst="roundRect">
            <a:avLst>
              <a:gd name="adj" fmla="val 22222"/>
            </a:avLst>
          </a:prstGeom>
          <a:solidFill>
            <a:srgbClr val="F2A33C"/>
          </a:solidFill>
          <a:ln/>
        </p:spPr>
        <p:txBody>
          <a:bodyPr/>
          <a:lstStyle/>
          <a:p>
            <a:endParaRPr lang="en-US"/>
          </a:p>
        </p:txBody>
      </p:sp>
      <p:sp>
        <p:nvSpPr>
          <p:cNvPr id="47" name="Text 45"/>
          <p:cNvSpPr/>
          <p:nvPr/>
        </p:nvSpPr>
        <p:spPr>
          <a:xfrm>
            <a:off x="12646026" y="3098800"/>
            <a:ext cx="4990128" cy="339725"/>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FFFFFF"/>
                </a:solidFill>
                <a:latin typeface="Arial" pitchFamily="34" charset="0"/>
                <a:ea typeface="Arial" pitchFamily="34" charset="-122"/>
                <a:cs typeface="Arial" pitchFamily="34" charset="-120"/>
              </a:rPr>
              <a:t>Edge: </a:t>
            </a:r>
            <a:r>
              <a:rPr lang="en-US" sz="1800" dirty="0">
                <a:solidFill>
                  <a:srgbClr val="D2DEEB"/>
                </a:solidFill>
                <a:latin typeface="Arial" pitchFamily="34" charset="0"/>
                <a:ea typeface="Arial" pitchFamily="34" charset="-122"/>
                <a:cs typeface="Arial" pitchFamily="34" charset="-120"/>
              </a:rPr>
              <a:t>sliding-window aggregation per player</a:t>
            </a:r>
            <a:endParaRPr lang="en-US" sz="1800" dirty="0"/>
          </a:p>
        </p:txBody>
      </p:sp>
      <p:sp>
        <p:nvSpPr>
          <p:cNvPr id="48" name="Shape 46"/>
          <p:cNvSpPr/>
          <p:nvPr/>
        </p:nvSpPr>
        <p:spPr>
          <a:xfrm>
            <a:off x="12426951" y="3648075"/>
            <a:ext cx="85725" cy="85725"/>
          </a:xfrm>
          <a:prstGeom prst="roundRect">
            <a:avLst>
              <a:gd name="adj" fmla="val 22222"/>
            </a:avLst>
          </a:prstGeom>
          <a:solidFill>
            <a:srgbClr val="F2A33C"/>
          </a:solidFill>
          <a:ln/>
        </p:spPr>
        <p:txBody>
          <a:bodyPr/>
          <a:lstStyle/>
          <a:p>
            <a:endParaRPr lang="en-US"/>
          </a:p>
        </p:txBody>
      </p:sp>
      <p:sp>
        <p:nvSpPr>
          <p:cNvPr id="49" name="Text 47"/>
          <p:cNvSpPr/>
          <p:nvPr/>
        </p:nvSpPr>
        <p:spPr>
          <a:xfrm>
            <a:off x="12646026" y="3543300"/>
            <a:ext cx="5010864" cy="339725"/>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FFFFFF"/>
                </a:solidFill>
                <a:latin typeface="Arial" pitchFamily="34" charset="0"/>
                <a:ea typeface="Arial" pitchFamily="34" charset="-122"/>
                <a:cs typeface="Arial" pitchFamily="34" charset="-120"/>
              </a:rPr>
              <a:t>Stream: </a:t>
            </a:r>
            <a:r>
              <a:rPr lang="en-US" sz="1800" dirty="0">
                <a:solidFill>
                  <a:srgbClr val="D2DEEB"/>
                </a:solidFill>
                <a:latin typeface="Arial" pitchFamily="34" charset="0"/>
                <a:ea typeface="Arial" pitchFamily="34" charset="-122"/>
                <a:cs typeface="Arial" pitchFamily="34" charset="-120"/>
              </a:rPr>
              <a:t>Kafka processing (~540 events/sec)</a:t>
            </a:r>
            <a:endParaRPr lang="en-US" sz="1800" dirty="0"/>
          </a:p>
        </p:txBody>
      </p:sp>
      <p:sp>
        <p:nvSpPr>
          <p:cNvPr id="50" name="Shape 48"/>
          <p:cNvSpPr/>
          <p:nvPr/>
        </p:nvSpPr>
        <p:spPr>
          <a:xfrm>
            <a:off x="12426951" y="4092575"/>
            <a:ext cx="85725" cy="85725"/>
          </a:xfrm>
          <a:prstGeom prst="roundRect">
            <a:avLst>
              <a:gd name="adj" fmla="val 22222"/>
            </a:avLst>
          </a:prstGeom>
          <a:solidFill>
            <a:srgbClr val="F2A33C"/>
          </a:solidFill>
          <a:ln/>
        </p:spPr>
        <p:txBody>
          <a:bodyPr/>
          <a:lstStyle/>
          <a:p>
            <a:endParaRPr lang="en-US"/>
          </a:p>
        </p:txBody>
      </p:sp>
      <p:sp>
        <p:nvSpPr>
          <p:cNvPr id="51" name="Text 49"/>
          <p:cNvSpPr/>
          <p:nvPr/>
        </p:nvSpPr>
        <p:spPr>
          <a:xfrm>
            <a:off x="12646026" y="3987800"/>
            <a:ext cx="4875943" cy="641350"/>
          </a:xfrm>
          <a:prstGeom prst="rect">
            <a:avLst/>
          </a:prstGeom>
          <a:noFill/>
          <a:ln/>
        </p:spPr>
        <p:txBody>
          <a:bodyPr wrap="square" lIns="25400" tIns="25400" rIns="25400" bIns="25400" rtlCol="0" anchor="t">
            <a:normAutofit/>
          </a:bodyPr>
          <a:lstStyle/>
          <a:p>
            <a:pPr marL="0" indent="0" algn="l">
              <a:lnSpc>
                <a:spcPct val="132000"/>
              </a:lnSpc>
              <a:buNone/>
            </a:pPr>
            <a:r>
              <a:rPr lang="en-US" sz="1800" b="1" dirty="0">
                <a:solidFill>
                  <a:srgbClr val="FFFFFF"/>
                </a:solidFill>
                <a:latin typeface="Arial" pitchFamily="34" charset="0"/>
                <a:ea typeface="Arial" pitchFamily="34" charset="-122"/>
                <a:cs typeface="Arial" pitchFamily="34" charset="-120"/>
              </a:rPr>
              <a:t>Anomaly: </a:t>
            </a:r>
            <a:r>
              <a:rPr lang="en-US" sz="1800" dirty="0">
                <a:solidFill>
                  <a:srgbClr val="D2DEEB"/>
                </a:solidFill>
                <a:latin typeface="Arial" pitchFamily="34" charset="0"/>
                <a:ea typeface="Arial" pitchFamily="34" charset="-122"/>
                <a:cs typeface="Arial" pitchFamily="34" charset="-120"/>
              </a:rPr>
              <a:t>LSTM autoencoder - same as IoT sensor anomaly detection</a:t>
            </a:r>
            <a:endParaRPr lang="en-US" sz="1800" dirty="0"/>
          </a:p>
        </p:txBody>
      </p:sp>
      <p:sp>
        <p:nvSpPr>
          <p:cNvPr id="52" name="Shape 50"/>
          <p:cNvSpPr/>
          <p:nvPr/>
        </p:nvSpPr>
        <p:spPr>
          <a:xfrm>
            <a:off x="609600" y="8624094"/>
            <a:ext cx="17068800" cy="926306"/>
          </a:xfrm>
          <a:prstGeom prst="roundRect">
            <a:avLst>
              <a:gd name="adj" fmla="val 12339"/>
            </a:avLst>
          </a:prstGeom>
          <a:gradFill rotWithShape="1">
            <a:gsLst>
              <a:gs pos="0">
                <a:srgbClr val="3B8EE6">
                  <a:alpha val="16000"/>
                </a:srgbClr>
              </a:gs>
              <a:gs pos="100000">
                <a:srgbClr val="FFFFFF">
                  <a:alpha val="3000"/>
                </a:srgbClr>
              </a:gs>
            </a:gsLst>
            <a:lin ang="0" scaled="0"/>
          </a:gradFill>
          <a:ln w="12700">
            <a:solidFill>
              <a:srgbClr val="FFFFFF">
                <a:alpha val="10000"/>
              </a:srgbClr>
            </a:solidFill>
            <a:prstDash val="solid"/>
          </a:ln>
        </p:spPr>
        <p:txBody>
          <a:bodyPr/>
          <a:lstStyle/>
          <a:p>
            <a:endParaRPr lang="en-US"/>
          </a:p>
        </p:txBody>
      </p:sp>
      <p:sp>
        <p:nvSpPr>
          <p:cNvPr id="53" name="Text 51"/>
          <p:cNvSpPr/>
          <p:nvPr/>
        </p:nvSpPr>
        <p:spPr>
          <a:xfrm>
            <a:off x="908050" y="8947547"/>
            <a:ext cx="2045077" cy="317500"/>
          </a:xfrm>
          <a:prstGeom prst="rect">
            <a:avLst/>
          </a:prstGeom>
          <a:noFill/>
          <a:ln/>
        </p:spPr>
        <p:txBody>
          <a:bodyPr wrap="square" lIns="25400" tIns="25400" rIns="25400" bIns="25400" rtlCol="0" anchor="t">
            <a:normAutofit/>
          </a:bodyPr>
          <a:lstStyle/>
          <a:p>
            <a:pPr marL="0" indent="0" algn="l">
              <a:buNone/>
            </a:pPr>
            <a:r>
              <a:rPr lang="en-US" sz="1500" b="1" kern="0" spc="113" dirty="0">
                <a:solidFill>
                  <a:srgbClr val="6FB3F2"/>
                </a:solidFill>
                <a:latin typeface="Arial" pitchFamily="34" charset="0"/>
                <a:ea typeface="Arial" pitchFamily="34" charset="-122"/>
                <a:cs typeface="Arial" pitchFamily="34" charset="-120"/>
              </a:rPr>
              <a:t>RELATED WORK</a:t>
            </a:r>
            <a:endParaRPr lang="en-US" sz="1500" dirty="0"/>
          </a:p>
        </p:txBody>
      </p:sp>
      <p:sp>
        <p:nvSpPr>
          <p:cNvPr id="54" name="Text 52"/>
          <p:cNvSpPr/>
          <p:nvPr/>
        </p:nvSpPr>
        <p:spPr>
          <a:xfrm>
            <a:off x="3033911" y="8827294"/>
            <a:ext cx="4604921" cy="558006"/>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Client-Side Kernel </a:t>
            </a:r>
            <a:r>
              <a:rPr lang="en-US" sz="1575" dirty="0">
                <a:solidFill>
                  <a:srgbClr val="D2DEEB"/>
                </a:solidFill>
                <a:latin typeface="Arial" pitchFamily="34" charset="0"/>
                <a:ea typeface="Arial" pitchFamily="34" charset="-122"/>
                <a:cs typeface="Arial" pitchFamily="34" charset="-120"/>
              </a:rPr>
              <a:t>(VAC/EAC) - fast but bypassable</a:t>
            </a:r>
            <a:endParaRPr lang="en-US" sz="1575" dirty="0"/>
          </a:p>
        </p:txBody>
      </p:sp>
      <p:sp>
        <p:nvSpPr>
          <p:cNvPr id="55" name="Shape 53"/>
          <p:cNvSpPr/>
          <p:nvPr/>
        </p:nvSpPr>
        <p:spPr>
          <a:xfrm>
            <a:off x="7733308" y="8827294"/>
            <a:ext cx="9525" cy="519906"/>
          </a:xfrm>
          <a:prstGeom prst="rect">
            <a:avLst/>
          </a:prstGeom>
          <a:solidFill>
            <a:srgbClr val="FFFFFF">
              <a:alpha val="14000"/>
            </a:srgbClr>
          </a:solidFill>
          <a:ln/>
        </p:spPr>
        <p:txBody>
          <a:bodyPr/>
          <a:lstStyle/>
          <a:p>
            <a:endParaRPr lang="en-US"/>
          </a:p>
        </p:txBody>
      </p:sp>
      <p:sp>
        <p:nvSpPr>
          <p:cNvPr id="56" name="Text 54"/>
          <p:cNvSpPr/>
          <p:nvPr/>
        </p:nvSpPr>
        <p:spPr>
          <a:xfrm>
            <a:off x="7971433" y="8827294"/>
            <a:ext cx="4605125" cy="558006"/>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Statistical Post-Match </a:t>
            </a:r>
            <a:r>
              <a:rPr lang="en-US" sz="1575" dirty="0">
                <a:solidFill>
                  <a:srgbClr val="D2DEEB"/>
                </a:solidFill>
                <a:latin typeface="Arial" pitchFamily="34" charset="0"/>
                <a:ea typeface="Arial" pitchFamily="34" charset="-122"/>
                <a:cs typeface="Arial" pitchFamily="34" charset="-120"/>
              </a:rPr>
              <a:t>- low FP but hours of delay</a:t>
            </a:r>
            <a:endParaRPr lang="en-US" sz="1575" dirty="0"/>
          </a:p>
        </p:txBody>
      </p:sp>
      <p:sp>
        <p:nvSpPr>
          <p:cNvPr id="57" name="Shape 55"/>
          <p:cNvSpPr/>
          <p:nvPr/>
        </p:nvSpPr>
        <p:spPr>
          <a:xfrm>
            <a:off x="12671029" y="8827294"/>
            <a:ext cx="9525" cy="519906"/>
          </a:xfrm>
          <a:prstGeom prst="rect">
            <a:avLst/>
          </a:prstGeom>
          <a:solidFill>
            <a:srgbClr val="FFFFFF">
              <a:alpha val="14000"/>
            </a:srgbClr>
          </a:solidFill>
          <a:ln/>
        </p:spPr>
        <p:txBody>
          <a:bodyPr/>
          <a:lstStyle/>
          <a:p>
            <a:endParaRPr lang="en-US"/>
          </a:p>
        </p:txBody>
      </p:sp>
      <p:sp>
        <p:nvSpPr>
          <p:cNvPr id="58" name="Text 56"/>
          <p:cNvSpPr/>
          <p:nvPr/>
        </p:nvSpPr>
        <p:spPr>
          <a:xfrm>
            <a:off x="12909154" y="8827294"/>
            <a:ext cx="4604921" cy="558006"/>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ML Behavioral </a:t>
            </a:r>
            <a:r>
              <a:rPr lang="en-US" sz="1575" dirty="0">
                <a:solidFill>
                  <a:srgbClr val="D2DEEB"/>
                </a:solidFill>
                <a:latin typeface="Arial" pitchFamily="34" charset="0"/>
                <a:ea typeface="Arial" pitchFamily="34" charset="-122"/>
                <a:cs typeface="Arial" pitchFamily="34" charset="-120"/>
              </a:rPr>
              <a:t>(CS2CD) - patterns, usually offline</a:t>
            </a:r>
            <a:endParaRPr lang="en-US" sz="1575" dirty="0"/>
          </a:p>
        </p:txBody>
      </p:sp>
      <p:sp>
        <p:nvSpPr>
          <p:cNvPr id="59" name="Shape 57"/>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60" name="Text 58"/>
          <p:cNvSpPr/>
          <p:nvPr/>
        </p:nvSpPr>
        <p:spPr>
          <a:xfrm>
            <a:off x="6096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61" name="Text 59"/>
          <p:cNvSpPr/>
          <p:nvPr/>
        </p:nvSpPr>
        <p:spPr>
          <a:xfrm>
            <a:off x="171831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02 / 18</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533400" y="411163"/>
            <a:ext cx="104775" cy="104775"/>
          </a:xfrm>
          <a:prstGeom prst="roundRect">
            <a:avLst>
              <a:gd name="adj" fmla="val 18182"/>
            </a:avLst>
          </a:prstGeom>
          <a:solidFill>
            <a:srgbClr val="9B7BE0"/>
          </a:solidFill>
          <a:ln/>
          <a:effectLst>
            <a:outerShdw blurRad="133350" dist="50800" dir="16200000" algn="bl" rotWithShape="0">
              <a:srgbClr val="9B7BE0">
                <a:alpha val="100000"/>
              </a:srgbClr>
            </a:outerShdw>
          </a:effectLst>
        </p:spPr>
        <p:txBody>
          <a:bodyPr/>
          <a:lstStyle/>
          <a:p>
            <a:endParaRPr lang="en-US"/>
          </a:p>
        </p:txBody>
      </p:sp>
      <p:sp>
        <p:nvSpPr>
          <p:cNvPr id="4" name="Text 2"/>
          <p:cNvSpPr/>
          <p:nvPr/>
        </p:nvSpPr>
        <p:spPr>
          <a:xfrm>
            <a:off x="752475" y="323850"/>
            <a:ext cx="2287369"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B79CEA"/>
                </a:solidFill>
                <a:latin typeface="Arial" pitchFamily="34" charset="0"/>
                <a:ea typeface="Arial" pitchFamily="34" charset="-122"/>
                <a:cs typeface="Arial" pitchFamily="34" charset="-120"/>
              </a:rPr>
              <a:t>ARCHITECTURE</a:t>
            </a:r>
            <a:endParaRPr lang="en-US" sz="1500" dirty="0"/>
          </a:p>
        </p:txBody>
      </p:sp>
      <p:sp>
        <p:nvSpPr>
          <p:cNvPr id="5" name="Text 3"/>
          <p:cNvSpPr/>
          <p:nvPr/>
        </p:nvSpPr>
        <p:spPr>
          <a:xfrm>
            <a:off x="533400" y="708025"/>
            <a:ext cx="6493431"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System Architecture</a:t>
            </a:r>
            <a:endParaRPr lang="en-US" sz="4050" dirty="0"/>
          </a:p>
        </p:txBody>
      </p:sp>
      <p:sp>
        <p:nvSpPr>
          <p:cNvPr id="6" name="Text 4"/>
          <p:cNvSpPr/>
          <p:nvPr/>
        </p:nvSpPr>
        <p:spPr>
          <a:xfrm>
            <a:off x="533400" y="1327150"/>
            <a:ext cx="6493431" cy="317500"/>
          </a:xfrm>
          <a:prstGeom prst="rect">
            <a:avLst/>
          </a:prstGeom>
          <a:noFill/>
          <a:ln/>
        </p:spPr>
        <p:txBody>
          <a:bodyPr wrap="square" lIns="25400" tIns="25400" rIns="25400" bIns="25400" rtlCol="0" anchor="t">
            <a:normAutofit/>
          </a:bodyPr>
          <a:lstStyle/>
          <a:p>
            <a:pPr marL="0" indent="0" algn="l">
              <a:buNone/>
            </a:pPr>
            <a:r>
              <a:rPr lang="en-US" sz="1875" dirty="0">
                <a:solidFill>
                  <a:srgbClr val="9DB2C9"/>
                </a:solidFill>
                <a:latin typeface="Arial" pitchFamily="34" charset="0"/>
                <a:ea typeface="Arial" pitchFamily="34" charset="-122"/>
                <a:cs typeface="Arial" pitchFamily="34" charset="-120"/>
              </a:rPr>
              <a:t>7 Docker containers · 4 Kafka topics · 3 detection layers</a:t>
            </a:r>
            <a:endParaRPr lang="en-US" sz="1875" dirty="0"/>
          </a:p>
        </p:txBody>
      </p:sp>
      <p:sp>
        <p:nvSpPr>
          <p:cNvPr id="7" name="Text 5"/>
          <p:cNvSpPr/>
          <p:nvPr/>
        </p:nvSpPr>
        <p:spPr>
          <a:xfrm>
            <a:off x="159629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03</a:t>
            </a:r>
            <a:endParaRPr lang="en-US" sz="11250" dirty="0"/>
          </a:p>
        </p:txBody>
      </p:sp>
      <p:sp>
        <p:nvSpPr>
          <p:cNvPr id="8" name="Shape 6"/>
          <p:cNvSpPr/>
          <p:nvPr/>
        </p:nvSpPr>
        <p:spPr>
          <a:xfrm>
            <a:off x="533400" y="1758950"/>
            <a:ext cx="17221200" cy="19050"/>
          </a:xfrm>
          <a:prstGeom prst="rect">
            <a:avLst/>
          </a:prstGeom>
          <a:gradFill rotWithShape="1">
            <a:gsLst>
              <a:gs pos="0">
                <a:srgbClr val="9B7BE0">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9" name="Shape 7"/>
          <p:cNvSpPr/>
          <p:nvPr/>
        </p:nvSpPr>
        <p:spPr>
          <a:xfrm>
            <a:off x="533400" y="2006600"/>
            <a:ext cx="2726134" cy="1422400"/>
          </a:xfrm>
          <a:prstGeom prst="roundRect">
            <a:avLst>
              <a:gd name="adj" fmla="val 6696"/>
            </a:avLst>
          </a:prstGeom>
          <a:solidFill>
            <a:srgbClr val="FFFFFF">
              <a:alpha val="4000"/>
            </a:srgbClr>
          </a:solidFill>
          <a:ln/>
        </p:spPr>
        <p:txBody>
          <a:bodyPr/>
          <a:lstStyle/>
          <a:p>
            <a:endParaRPr lang="en-US"/>
          </a:p>
        </p:txBody>
      </p:sp>
      <p:sp>
        <p:nvSpPr>
          <p:cNvPr id="10" name="Shape 8"/>
          <p:cNvSpPr/>
          <p:nvPr/>
        </p:nvSpPr>
        <p:spPr>
          <a:xfrm>
            <a:off x="533400" y="3416300"/>
            <a:ext cx="2726134" cy="12700"/>
          </a:xfrm>
          <a:prstGeom prst="rect">
            <a:avLst/>
          </a:prstGeom>
          <a:solidFill>
            <a:srgbClr val="FFFFFF">
              <a:alpha val="10000"/>
            </a:srgbClr>
          </a:solidFill>
          <a:ln/>
        </p:spPr>
        <p:txBody>
          <a:bodyPr/>
          <a:lstStyle/>
          <a:p>
            <a:endParaRPr lang="en-US"/>
          </a:p>
        </p:txBody>
      </p:sp>
      <p:sp>
        <p:nvSpPr>
          <p:cNvPr id="11" name="Shape 9"/>
          <p:cNvSpPr/>
          <p:nvPr/>
        </p:nvSpPr>
        <p:spPr>
          <a:xfrm>
            <a:off x="533400" y="2006600"/>
            <a:ext cx="2726134" cy="38100"/>
          </a:xfrm>
          <a:prstGeom prst="rect">
            <a:avLst/>
          </a:prstGeom>
          <a:solidFill>
            <a:srgbClr val="3B8EE6"/>
          </a:solidFill>
          <a:ln/>
        </p:spPr>
        <p:txBody>
          <a:bodyPr/>
          <a:lstStyle/>
          <a:p>
            <a:endParaRPr lang="en-US"/>
          </a:p>
        </p:txBody>
      </p:sp>
      <p:sp>
        <p:nvSpPr>
          <p:cNvPr id="12" name="Shape 10"/>
          <p:cNvSpPr/>
          <p:nvPr/>
        </p:nvSpPr>
        <p:spPr>
          <a:xfrm>
            <a:off x="533400" y="2006600"/>
            <a:ext cx="12700" cy="1422400"/>
          </a:xfrm>
          <a:prstGeom prst="rect">
            <a:avLst/>
          </a:prstGeom>
          <a:solidFill>
            <a:srgbClr val="FFFFFF">
              <a:alpha val="10000"/>
            </a:srgbClr>
          </a:solidFill>
          <a:ln/>
        </p:spPr>
        <p:txBody>
          <a:bodyPr/>
          <a:lstStyle/>
          <a:p>
            <a:endParaRPr lang="en-US"/>
          </a:p>
        </p:txBody>
      </p:sp>
      <p:sp>
        <p:nvSpPr>
          <p:cNvPr id="13" name="Shape 11"/>
          <p:cNvSpPr/>
          <p:nvPr/>
        </p:nvSpPr>
        <p:spPr>
          <a:xfrm>
            <a:off x="3246835" y="2006600"/>
            <a:ext cx="12700" cy="1422400"/>
          </a:xfrm>
          <a:prstGeom prst="rect">
            <a:avLst/>
          </a:prstGeom>
          <a:solidFill>
            <a:srgbClr val="FFFFFF">
              <a:alpha val="10000"/>
            </a:srgbClr>
          </a:solidFill>
          <a:ln/>
        </p:spPr>
        <p:txBody>
          <a:bodyPr/>
          <a:lstStyle/>
          <a:p>
            <a:endParaRPr lang="en-US"/>
          </a:p>
        </p:txBody>
      </p:sp>
      <p:sp>
        <p:nvSpPr>
          <p:cNvPr id="14" name="Text 12"/>
          <p:cNvSpPr/>
          <p:nvPr/>
        </p:nvSpPr>
        <p:spPr>
          <a:xfrm>
            <a:off x="688975" y="2197100"/>
            <a:ext cx="2656483" cy="292100"/>
          </a:xfrm>
          <a:prstGeom prst="rect">
            <a:avLst/>
          </a:prstGeom>
          <a:noFill/>
          <a:ln/>
        </p:spPr>
        <p:txBody>
          <a:bodyPr wrap="square" lIns="25400" tIns="25400" rIns="25400" bIns="25400" rtlCol="0" anchor="t">
            <a:normAutofit/>
          </a:bodyPr>
          <a:lstStyle/>
          <a:p>
            <a:pPr marL="0" indent="0" algn="l">
              <a:buNone/>
            </a:pPr>
            <a:r>
              <a:rPr lang="en-US" sz="1425" b="1" kern="0" spc="22" dirty="0">
                <a:solidFill>
                  <a:srgbClr val="FFFFFF"/>
                </a:solidFill>
                <a:latin typeface="Arial" pitchFamily="34" charset="0"/>
                <a:ea typeface="Arial" pitchFamily="34" charset="-122"/>
                <a:cs typeface="Arial" pitchFamily="34" charset="-120"/>
              </a:rPr>
              <a:t>BROWSER CLIENT</a:t>
            </a:r>
            <a:endParaRPr lang="en-US" sz="1425" dirty="0"/>
          </a:p>
        </p:txBody>
      </p:sp>
      <p:sp>
        <p:nvSpPr>
          <p:cNvPr id="15" name="Text 13"/>
          <p:cNvSpPr/>
          <p:nvPr/>
        </p:nvSpPr>
        <p:spPr>
          <a:xfrm>
            <a:off x="688975" y="2527300"/>
            <a:ext cx="2491184" cy="678061"/>
          </a:xfrm>
          <a:prstGeom prst="rect">
            <a:avLst/>
          </a:prstGeom>
          <a:noFill/>
          <a:ln/>
        </p:spPr>
        <p:txBody>
          <a:bodyPr wrap="square" lIns="25400" tIns="25400" rIns="25400" bIns="25400" rtlCol="0" anchor="t">
            <a:normAutofit/>
          </a:bodyPr>
          <a:lstStyle/>
          <a:p>
            <a:pPr marL="0" indent="0" algn="l">
              <a:lnSpc>
                <a:spcPct val="140000"/>
              </a:lnSpc>
              <a:buNone/>
            </a:pPr>
            <a:r>
              <a:rPr lang="en-US" sz="1200" dirty="0">
                <a:solidFill>
                  <a:srgbClr val="9DB2C9"/>
                </a:solidFill>
                <a:latin typeface="Arial" pitchFamily="34" charset="0"/>
                <a:ea typeface="Arial" pitchFamily="34" charset="-122"/>
                <a:cs typeface="Arial" pitchFamily="34" charset="-120"/>
              </a:rPr>
              <a:t>HTML5 Canvas WASD + Mouse F5–F8 Toggles</a:t>
            </a:r>
            <a:endParaRPr lang="en-US" sz="1200" dirty="0"/>
          </a:p>
        </p:txBody>
      </p:sp>
      <p:sp>
        <p:nvSpPr>
          <p:cNvPr id="16" name="Text 14"/>
          <p:cNvSpPr/>
          <p:nvPr/>
        </p:nvSpPr>
        <p:spPr>
          <a:xfrm>
            <a:off x="3335734" y="2006600"/>
            <a:ext cx="158750" cy="1460500"/>
          </a:xfrm>
          <a:prstGeom prst="rect">
            <a:avLst/>
          </a:prstGeom>
          <a:noFill/>
          <a:ln/>
        </p:spPr>
        <p:txBody>
          <a:bodyPr wrap="square" lIns="25400" tIns="25400" rIns="25400" bIns="25400" rtlCol="0" anchor="ctr">
            <a:normAutofit/>
          </a:bodyPr>
          <a:lstStyle/>
          <a:p>
            <a:pPr marL="0" indent="0" algn="l">
              <a:buNone/>
            </a:pPr>
            <a:r>
              <a:rPr lang="en-US" sz="1950" b="1" dirty="0">
                <a:solidFill>
                  <a:srgbClr val="56708A"/>
                </a:solidFill>
                <a:latin typeface="Arial" pitchFamily="34" charset="0"/>
                <a:ea typeface="Arial" pitchFamily="34" charset="-122"/>
                <a:cs typeface="Arial" pitchFamily="34" charset="-120"/>
              </a:rPr>
              <a:t>›</a:t>
            </a:r>
            <a:endParaRPr lang="en-US" sz="1950" dirty="0"/>
          </a:p>
        </p:txBody>
      </p:sp>
      <p:sp>
        <p:nvSpPr>
          <p:cNvPr id="17" name="Shape 15"/>
          <p:cNvSpPr/>
          <p:nvPr/>
        </p:nvSpPr>
        <p:spPr>
          <a:xfrm>
            <a:off x="3494484" y="2006600"/>
            <a:ext cx="2726333" cy="1422400"/>
          </a:xfrm>
          <a:prstGeom prst="roundRect">
            <a:avLst>
              <a:gd name="adj" fmla="val 6696"/>
            </a:avLst>
          </a:prstGeom>
          <a:solidFill>
            <a:srgbClr val="FFFFFF">
              <a:alpha val="4000"/>
            </a:srgbClr>
          </a:solidFill>
          <a:ln/>
        </p:spPr>
        <p:txBody>
          <a:bodyPr/>
          <a:lstStyle/>
          <a:p>
            <a:endParaRPr lang="en-US"/>
          </a:p>
        </p:txBody>
      </p:sp>
      <p:sp>
        <p:nvSpPr>
          <p:cNvPr id="18" name="Shape 16"/>
          <p:cNvSpPr/>
          <p:nvPr/>
        </p:nvSpPr>
        <p:spPr>
          <a:xfrm>
            <a:off x="3494484" y="3416300"/>
            <a:ext cx="2726333" cy="12700"/>
          </a:xfrm>
          <a:prstGeom prst="rect">
            <a:avLst/>
          </a:prstGeom>
          <a:solidFill>
            <a:srgbClr val="FFFFFF">
              <a:alpha val="10000"/>
            </a:srgbClr>
          </a:solidFill>
          <a:ln/>
        </p:spPr>
        <p:txBody>
          <a:bodyPr/>
          <a:lstStyle/>
          <a:p>
            <a:endParaRPr lang="en-US"/>
          </a:p>
        </p:txBody>
      </p:sp>
      <p:sp>
        <p:nvSpPr>
          <p:cNvPr id="19" name="Shape 17"/>
          <p:cNvSpPr/>
          <p:nvPr/>
        </p:nvSpPr>
        <p:spPr>
          <a:xfrm>
            <a:off x="3494484" y="2006600"/>
            <a:ext cx="2726333" cy="38100"/>
          </a:xfrm>
          <a:prstGeom prst="rect">
            <a:avLst/>
          </a:prstGeom>
          <a:solidFill>
            <a:srgbClr val="6FB3F2"/>
          </a:solidFill>
          <a:ln/>
        </p:spPr>
        <p:txBody>
          <a:bodyPr/>
          <a:lstStyle/>
          <a:p>
            <a:endParaRPr lang="en-US"/>
          </a:p>
        </p:txBody>
      </p:sp>
      <p:sp>
        <p:nvSpPr>
          <p:cNvPr id="20" name="Shape 18"/>
          <p:cNvSpPr/>
          <p:nvPr/>
        </p:nvSpPr>
        <p:spPr>
          <a:xfrm>
            <a:off x="3494484" y="2006600"/>
            <a:ext cx="12700" cy="1422400"/>
          </a:xfrm>
          <a:prstGeom prst="rect">
            <a:avLst/>
          </a:prstGeom>
          <a:solidFill>
            <a:srgbClr val="FFFFFF">
              <a:alpha val="10000"/>
            </a:srgbClr>
          </a:solidFill>
          <a:ln/>
        </p:spPr>
        <p:txBody>
          <a:bodyPr/>
          <a:lstStyle/>
          <a:p>
            <a:endParaRPr lang="en-US"/>
          </a:p>
        </p:txBody>
      </p:sp>
      <p:sp>
        <p:nvSpPr>
          <p:cNvPr id="21" name="Shape 19"/>
          <p:cNvSpPr/>
          <p:nvPr/>
        </p:nvSpPr>
        <p:spPr>
          <a:xfrm>
            <a:off x="6208117" y="2006600"/>
            <a:ext cx="12700" cy="1422400"/>
          </a:xfrm>
          <a:prstGeom prst="rect">
            <a:avLst/>
          </a:prstGeom>
          <a:solidFill>
            <a:srgbClr val="FFFFFF">
              <a:alpha val="10000"/>
            </a:srgbClr>
          </a:solidFill>
          <a:ln/>
        </p:spPr>
        <p:txBody>
          <a:bodyPr/>
          <a:lstStyle/>
          <a:p>
            <a:endParaRPr lang="en-US"/>
          </a:p>
        </p:txBody>
      </p:sp>
      <p:sp>
        <p:nvSpPr>
          <p:cNvPr id="22" name="Text 20"/>
          <p:cNvSpPr/>
          <p:nvPr/>
        </p:nvSpPr>
        <p:spPr>
          <a:xfrm>
            <a:off x="3650059" y="2197100"/>
            <a:ext cx="2656701" cy="292100"/>
          </a:xfrm>
          <a:prstGeom prst="rect">
            <a:avLst/>
          </a:prstGeom>
          <a:noFill/>
          <a:ln/>
        </p:spPr>
        <p:txBody>
          <a:bodyPr wrap="square" lIns="25400" tIns="25400" rIns="25400" bIns="25400" rtlCol="0" anchor="t">
            <a:normAutofit/>
          </a:bodyPr>
          <a:lstStyle/>
          <a:p>
            <a:pPr marL="0" indent="0" algn="l">
              <a:buNone/>
            </a:pPr>
            <a:r>
              <a:rPr lang="en-US" sz="1425" b="1" kern="0" spc="22" dirty="0">
                <a:solidFill>
                  <a:srgbClr val="FFFFFF"/>
                </a:solidFill>
                <a:latin typeface="Arial" pitchFamily="34" charset="0"/>
                <a:ea typeface="Arial" pitchFamily="34" charset="-122"/>
                <a:cs typeface="Arial" pitchFamily="34" charset="-120"/>
              </a:rPr>
              <a:t>GAME SERVER</a:t>
            </a:r>
            <a:endParaRPr lang="en-US" sz="1425" dirty="0"/>
          </a:p>
        </p:txBody>
      </p:sp>
      <p:sp>
        <p:nvSpPr>
          <p:cNvPr id="23" name="Text 21"/>
          <p:cNvSpPr/>
          <p:nvPr/>
        </p:nvSpPr>
        <p:spPr>
          <a:xfrm>
            <a:off x="3650059" y="2527300"/>
            <a:ext cx="2491383" cy="678061"/>
          </a:xfrm>
          <a:prstGeom prst="rect">
            <a:avLst/>
          </a:prstGeom>
          <a:noFill/>
          <a:ln/>
        </p:spPr>
        <p:txBody>
          <a:bodyPr wrap="square" lIns="25400" tIns="25400" rIns="25400" bIns="25400" rtlCol="0" anchor="t">
            <a:normAutofit/>
          </a:bodyPr>
          <a:lstStyle/>
          <a:p>
            <a:pPr marL="0" indent="0" algn="l">
              <a:lnSpc>
                <a:spcPct val="140000"/>
              </a:lnSpc>
              <a:buNone/>
            </a:pPr>
            <a:r>
              <a:rPr lang="en-US" sz="1200" dirty="0">
                <a:solidFill>
                  <a:srgbClr val="9DB2C9"/>
                </a:solidFill>
                <a:latin typeface="Arial" pitchFamily="34" charset="0"/>
                <a:ea typeface="Arial" pitchFamily="34" charset="-122"/>
                <a:cs typeface="Arial" pitchFamily="34" charset="-120"/>
              </a:rPr>
              <a:t>Go 1.22 · 60Hz 8 Bots + Players Physics + Raycast</a:t>
            </a:r>
            <a:endParaRPr lang="en-US" sz="1200" dirty="0"/>
          </a:p>
        </p:txBody>
      </p:sp>
      <p:sp>
        <p:nvSpPr>
          <p:cNvPr id="24" name="Text 22"/>
          <p:cNvSpPr/>
          <p:nvPr/>
        </p:nvSpPr>
        <p:spPr>
          <a:xfrm>
            <a:off x="6297017" y="2006600"/>
            <a:ext cx="158750" cy="1460500"/>
          </a:xfrm>
          <a:prstGeom prst="rect">
            <a:avLst/>
          </a:prstGeom>
          <a:noFill/>
          <a:ln/>
        </p:spPr>
        <p:txBody>
          <a:bodyPr wrap="square" lIns="25400" tIns="25400" rIns="25400" bIns="25400" rtlCol="0" anchor="ctr">
            <a:normAutofit/>
          </a:bodyPr>
          <a:lstStyle/>
          <a:p>
            <a:pPr marL="0" indent="0" algn="l">
              <a:buNone/>
            </a:pPr>
            <a:r>
              <a:rPr lang="en-US" sz="1950" b="1" dirty="0">
                <a:solidFill>
                  <a:srgbClr val="56708A"/>
                </a:solidFill>
                <a:latin typeface="Arial" pitchFamily="34" charset="0"/>
                <a:ea typeface="Arial" pitchFamily="34" charset="-122"/>
                <a:cs typeface="Arial" pitchFamily="34" charset="-120"/>
              </a:rPr>
              <a:t>›</a:t>
            </a:r>
            <a:endParaRPr lang="en-US" sz="1950" dirty="0"/>
          </a:p>
        </p:txBody>
      </p:sp>
      <p:sp>
        <p:nvSpPr>
          <p:cNvPr id="25" name="Shape 23"/>
          <p:cNvSpPr/>
          <p:nvPr/>
        </p:nvSpPr>
        <p:spPr>
          <a:xfrm>
            <a:off x="6455768" y="2006600"/>
            <a:ext cx="2726134" cy="1422400"/>
          </a:xfrm>
          <a:prstGeom prst="roundRect">
            <a:avLst>
              <a:gd name="adj" fmla="val 6696"/>
            </a:avLst>
          </a:prstGeom>
          <a:solidFill>
            <a:srgbClr val="FFFFFF">
              <a:alpha val="4000"/>
            </a:srgbClr>
          </a:solidFill>
          <a:ln/>
        </p:spPr>
        <p:txBody>
          <a:bodyPr/>
          <a:lstStyle/>
          <a:p>
            <a:endParaRPr lang="en-US"/>
          </a:p>
        </p:txBody>
      </p:sp>
      <p:sp>
        <p:nvSpPr>
          <p:cNvPr id="26" name="Shape 24"/>
          <p:cNvSpPr/>
          <p:nvPr/>
        </p:nvSpPr>
        <p:spPr>
          <a:xfrm>
            <a:off x="6455768" y="3416300"/>
            <a:ext cx="2726134" cy="12700"/>
          </a:xfrm>
          <a:prstGeom prst="rect">
            <a:avLst/>
          </a:prstGeom>
          <a:solidFill>
            <a:srgbClr val="FFFFFF">
              <a:alpha val="10000"/>
            </a:srgbClr>
          </a:solidFill>
          <a:ln/>
        </p:spPr>
        <p:txBody>
          <a:bodyPr/>
          <a:lstStyle/>
          <a:p>
            <a:endParaRPr lang="en-US"/>
          </a:p>
        </p:txBody>
      </p:sp>
      <p:sp>
        <p:nvSpPr>
          <p:cNvPr id="27" name="Shape 25"/>
          <p:cNvSpPr/>
          <p:nvPr/>
        </p:nvSpPr>
        <p:spPr>
          <a:xfrm>
            <a:off x="6455768" y="2006600"/>
            <a:ext cx="2726134" cy="38100"/>
          </a:xfrm>
          <a:prstGeom prst="rect">
            <a:avLst/>
          </a:prstGeom>
          <a:solidFill>
            <a:srgbClr val="9B7BE0"/>
          </a:solidFill>
          <a:ln/>
        </p:spPr>
        <p:txBody>
          <a:bodyPr/>
          <a:lstStyle/>
          <a:p>
            <a:endParaRPr lang="en-US"/>
          </a:p>
        </p:txBody>
      </p:sp>
      <p:sp>
        <p:nvSpPr>
          <p:cNvPr id="28" name="Shape 26"/>
          <p:cNvSpPr/>
          <p:nvPr/>
        </p:nvSpPr>
        <p:spPr>
          <a:xfrm>
            <a:off x="6455768" y="2006600"/>
            <a:ext cx="12700" cy="1422400"/>
          </a:xfrm>
          <a:prstGeom prst="rect">
            <a:avLst/>
          </a:prstGeom>
          <a:solidFill>
            <a:srgbClr val="FFFFFF">
              <a:alpha val="10000"/>
            </a:srgbClr>
          </a:solidFill>
          <a:ln/>
        </p:spPr>
        <p:txBody>
          <a:bodyPr/>
          <a:lstStyle/>
          <a:p>
            <a:endParaRPr lang="en-US"/>
          </a:p>
        </p:txBody>
      </p:sp>
      <p:sp>
        <p:nvSpPr>
          <p:cNvPr id="29" name="Shape 27"/>
          <p:cNvSpPr/>
          <p:nvPr/>
        </p:nvSpPr>
        <p:spPr>
          <a:xfrm>
            <a:off x="9169202" y="2006600"/>
            <a:ext cx="12700" cy="1422400"/>
          </a:xfrm>
          <a:prstGeom prst="rect">
            <a:avLst/>
          </a:prstGeom>
          <a:solidFill>
            <a:srgbClr val="FFFFFF">
              <a:alpha val="10000"/>
            </a:srgbClr>
          </a:solidFill>
          <a:ln/>
        </p:spPr>
        <p:txBody>
          <a:bodyPr/>
          <a:lstStyle/>
          <a:p>
            <a:endParaRPr lang="en-US"/>
          </a:p>
        </p:txBody>
      </p:sp>
      <p:sp>
        <p:nvSpPr>
          <p:cNvPr id="30" name="Text 28"/>
          <p:cNvSpPr/>
          <p:nvPr/>
        </p:nvSpPr>
        <p:spPr>
          <a:xfrm>
            <a:off x="6611342" y="2197100"/>
            <a:ext cx="2656483" cy="292100"/>
          </a:xfrm>
          <a:prstGeom prst="rect">
            <a:avLst/>
          </a:prstGeom>
          <a:noFill/>
          <a:ln/>
        </p:spPr>
        <p:txBody>
          <a:bodyPr wrap="square" lIns="25400" tIns="25400" rIns="25400" bIns="25400" rtlCol="0" anchor="t">
            <a:normAutofit/>
          </a:bodyPr>
          <a:lstStyle/>
          <a:p>
            <a:pPr marL="0" indent="0" algn="l">
              <a:buNone/>
            </a:pPr>
            <a:r>
              <a:rPr lang="en-US" sz="1425" b="1" kern="0" spc="22" dirty="0">
                <a:solidFill>
                  <a:srgbClr val="FFFFFF"/>
                </a:solidFill>
                <a:latin typeface="Arial" pitchFamily="34" charset="0"/>
                <a:ea typeface="Arial" pitchFamily="34" charset="-122"/>
                <a:cs typeface="Arial" pitchFamily="34" charset="-120"/>
              </a:rPr>
              <a:t>APACHE KAFKA</a:t>
            </a:r>
            <a:endParaRPr lang="en-US" sz="1425" dirty="0"/>
          </a:p>
        </p:txBody>
      </p:sp>
      <p:sp>
        <p:nvSpPr>
          <p:cNvPr id="31" name="Text 29"/>
          <p:cNvSpPr/>
          <p:nvPr/>
        </p:nvSpPr>
        <p:spPr>
          <a:xfrm>
            <a:off x="6611342" y="2527300"/>
            <a:ext cx="2491184" cy="678061"/>
          </a:xfrm>
          <a:prstGeom prst="rect">
            <a:avLst/>
          </a:prstGeom>
          <a:noFill/>
          <a:ln/>
        </p:spPr>
        <p:txBody>
          <a:bodyPr wrap="square" lIns="25400" tIns="25400" rIns="25400" bIns="25400" rtlCol="0" anchor="t">
            <a:normAutofit/>
          </a:bodyPr>
          <a:lstStyle/>
          <a:p>
            <a:pPr marL="0" indent="0" algn="l">
              <a:lnSpc>
                <a:spcPct val="140000"/>
              </a:lnSpc>
              <a:buNone/>
            </a:pPr>
            <a:r>
              <a:rPr lang="en-US" sz="1200" dirty="0">
                <a:solidFill>
                  <a:srgbClr val="9DB2C9"/>
                </a:solidFill>
                <a:latin typeface="Arial" pitchFamily="34" charset="0"/>
                <a:ea typeface="Arial" pitchFamily="34" charset="-122"/>
                <a:cs typeface="Arial" pitchFamily="34" charset="-120"/>
              </a:rPr>
              <a:t>KRaft · 4 Topics 4 Partitions Keyed by player_id</a:t>
            </a:r>
            <a:endParaRPr lang="en-US" sz="1200" dirty="0"/>
          </a:p>
        </p:txBody>
      </p:sp>
      <p:sp>
        <p:nvSpPr>
          <p:cNvPr id="32" name="Text 30"/>
          <p:cNvSpPr/>
          <p:nvPr/>
        </p:nvSpPr>
        <p:spPr>
          <a:xfrm>
            <a:off x="9258102" y="2006600"/>
            <a:ext cx="158750" cy="1460500"/>
          </a:xfrm>
          <a:prstGeom prst="rect">
            <a:avLst/>
          </a:prstGeom>
          <a:noFill/>
          <a:ln/>
        </p:spPr>
        <p:txBody>
          <a:bodyPr wrap="square" lIns="25400" tIns="25400" rIns="25400" bIns="25400" rtlCol="0" anchor="ctr">
            <a:normAutofit/>
          </a:bodyPr>
          <a:lstStyle/>
          <a:p>
            <a:pPr marL="0" indent="0" algn="l">
              <a:buNone/>
            </a:pPr>
            <a:r>
              <a:rPr lang="en-US" sz="1950" b="1" dirty="0">
                <a:solidFill>
                  <a:srgbClr val="56708A"/>
                </a:solidFill>
                <a:latin typeface="Arial" pitchFamily="34" charset="0"/>
                <a:ea typeface="Arial" pitchFamily="34" charset="-122"/>
                <a:cs typeface="Arial" pitchFamily="34" charset="-120"/>
              </a:rPr>
              <a:t>›</a:t>
            </a:r>
            <a:endParaRPr lang="en-US" sz="1950" dirty="0"/>
          </a:p>
        </p:txBody>
      </p:sp>
      <p:sp>
        <p:nvSpPr>
          <p:cNvPr id="33" name="Shape 31"/>
          <p:cNvSpPr/>
          <p:nvPr/>
        </p:nvSpPr>
        <p:spPr>
          <a:xfrm>
            <a:off x="9416852" y="2006600"/>
            <a:ext cx="2726333" cy="1422400"/>
          </a:xfrm>
          <a:prstGeom prst="roundRect">
            <a:avLst>
              <a:gd name="adj" fmla="val 6696"/>
            </a:avLst>
          </a:prstGeom>
          <a:solidFill>
            <a:srgbClr val="FFFFFF">
              <a:alpha val="4000"/>
            </a:srgbClr>
          </a:solidFill>
          <a:ln/>
        </p:spPr>
        <p:txBody>
          <a:bodyPr/>
          <a:lstStyle/>
          <a:p>
            <a:endParaRPr lang="en-US"/>
          </a:p>
        </p:txBody>
      </p:sp>
      <p:sp>
        <p:nvSpPr>
          <p:cNvPr id="34" name="Shape 32"/>
          <p:cNvSpPr/>
          <p:nvPr/>
        </p:nvSpPr>
        <p:spPr>
          <a:xfrm>
            <a:off x="9416852" y="3416300"/>
            <a:ext cx="2726333" cy="12700"/>
          </a:xfrm>
          <a:prstGeom prst="rect">
            <a:avLst/>
          </a:prstGeom>
          <a:solidFill>
            <a:srgbClr val="FFFFFF">
              <a:alpha val="10000"/>
            </a:srgbClr>
          </a:solidFill>
          <a:ln/>
        </p:spPr>
        <p:txBody>
          <a:bodyPr/>
          <a:lstStyle/>
          <a:p>
            <a:endParaRPr lang="en-US"/>
          </a:p>
        </p:txBody>
      </p:sp>
      <p:sp>
        <p:nvSpPr>
          <p:cNvPr id="35" name="Shape 33"/>
          <p:cNvSpPr/>
          <p:nvPr/>
        </p:nvSpPr>
        <p:spPr>
          <a:xfrm>
            <a:off x="9416852" y="2006600"/>
            <a:ext cx="2726333" cy="38100"/>
          </a:xfrm>
          <a:prstGeom prst="rect">
            <a:avLst/>
          </a:prstGeom>
          <a:solidFill>
            <a:srgbClr val="3B8EE6"/>
          </a:solidFill>
          <a:ln/>
        </p:spPr>
        <p:txBody>
          <a:bodyPr/>
          <a:lstStyle/>
          <a:p>
            <a:endParaRPr lang="en-US"/>
          </a:p>
        </p:txBody>
      </p:sp>
      <p:sp>
        <p:nvSpPr>
          <p:cNvPr id="36" name="Shape 34"/>
          <p:cNvSpPr/>
          <p:nvPr/>
        </p:nvSpPr>
        <p:spPr>
          <a:xfrm>
            <a:off x="9416852" y="2006600"/>
            <a:ext cx="12700" cy="1422400"/>
          </a:xfrm>
          <a:prstGeom prst="rect">
            <a:avLst/>
          </a:prstGeom>
          <a:solidFill>
            <a:srgbClr val="FFFFFF">
              <a:alpha val="10000"/>
            </a:srgbClr>
          </a:solidFill>
          <a:ln/>
        </p:spPr>
        <p:txBody>
          <a:bodyPr/>
          <a:lstStyle/>
          <a:p>
            <a:endParaRPr lang="en-US"/>
          </a:p>
        </p:txBody>
      </p:sp>
      <p:sp>
        <p:nvSpPr>
          <p:cNvPr id="37" name="Shape 35"/>
          <p:cNvSpPr/>
          <p:nvPr/>
        </p:nvSpPr>
        <p:spPr>
          <a:xfrm>
            <a:off x="12130485" y="2006600"/>
            <a:ext cx="12700" cy="1422400"/>
          </a:xfrm>
          <a:prstGeom prst="rect">
            <a:avLst/>
          </a:prstGeom>
          <a:solidFill>
            <a:srgbClr val="FFFFFF">
              <a:alpha val="10000"/>
            </a:srgbClr>
          </a:solidFill>
          <a:ln/>
        </p:spPr>
        <p:txBody>
          <a:bodyPr/>
          <a:lstStyle/>
          <a:p>
            <a:endParaRPr lang="en-US"/>
          </a:p>
        </p:txBody>
      </p:sp>
      <p:sp>
        <p:nvSpPr>
          <p:cNvPr id="38" name="Text 36"/>
          <p:cNvSpPr/>
          <p:nvPr/>
        </p:nvSpPr>
        <p:spPr>
          <a:xfrm>
            <a:off x="9572427" y="2197100"/>
            <a:ext cx="2656701" cy="292100"/>
          </a:xfrm>
          <a:prstGeom prst="rect">
            <a:avLst/>
          </a:prstGeom>
          <a:noFill/>
          <a:ln/>
        </p:spPr>
        <p:txBody>
          <a:bodyPr wrap="square" lIns="25400" tIns="25400" rIns="25400" bIns="25400" rtlCol="0" anchor="t">
            <a:normAutofit/>
          </a:bodyPr>
          <a:lstStyle/>
          <a:p>
            <a:pPr marL="0" indent="0" algn="l">
              <a:buNone/>
            </a:pPr>
            <a:r>
              <a:rPr lang="en-US" sz="1425" b="1" kern="0" spc="22" dirty="0">
                <a:solidFill>
                  <a:srgbClr val="FFFFFF"/>
                </a:solidFill>
                <a:latin typeface="Arial" pitchFamily="34" charset="0"/>
                <a:ea typeface="Arial" pitchFamily="34" charset="-122"/>
                <a:cs typeface="Arial" pitchFamily="34" charset="-120"/>
              </a:rPr>
              <a:t>RULES ENGINE</a:t>
            </a:r>
            <a:endParaRPr lang="en-US" sz="1425" dirty="0"/>
          </a:p>
        </p:txBody>
      </p:sp>
      <p:sp>
        <p:nvSpPr>
          <p:cNvPr id="39" name="Text 37"/>
          <p:cNvSpPr/>
          <p:nvPr/>
        </p:nvSpPr>
        <p:spPr>
          <a:xfrm>
            <a:off x="9572427" y="2527300"/>
            <a:ext cx="2491383" cy="678061"/>
          </a:xfrm>
          <a:prstGeom prst="rect">
            <a:avLst/>
          </a:prstGeom>
          <a:noFill/>
          <a:ln/>
        </p:spPr>
        <p:txBody>
          <a:bodyPr wrap="square" lIns="25400" tIns="25400" rIns="25400" bIns="25400" rtlCol="0" anchor="t">
            <a:normAutofit/>
          </a:bodyPr>
          <a:lstStyle/>
          <a:p>
            <a:pPr marL="0" indent="0" algn="l">
              <a:lnSpc>
                <a:spcPct val="140000"/>
              </a:lnSpc>
              <a:buNone/>
            </a:pPr>
            <a:r>
              <a:rPr lang="en-US" sz="1200" dirty="0">
                <a:solidFill>
                  <a:srgbClr val="9DB2C9"/>
                </a:solidFill>
                <a:latin typeface="Arial" pitchFamily="34" charset="0"/>
                <a:ea typeface="Arial" pitchFamily="34" charset="-122"/>
                <a:cs typeface="Arial" pitchFamily="34" charset="-120"/>
              </a:rPr>
              <a:t>18 Features 6 Rule Detectors 1s / 5s / 30s</a:t>
            </a:r>
            <a:endParaRPr lang="en-US" sz="1200" dirty="0"/>
          </a:p>
        </p:txBody>
      </p:sp>
      <p:sp>
        <p:nvSpPr>
          <p:cNvPr id="40" name="Text 38"/>
          <p:cNvSpPr/>
          <p:nvPr/>
        </p:nvSpPr>
        <p:spPr>
          <a:xfrm>
            <a:off x="12219384" y="2006600"/>
            <a:ext cx="158750" cy="1460500"/>
          </a:xfrm>
          <a:prstGeom prst="rect">
            <a:avLst/>
          </a:prstGeom>
          <a:noFill/>
          <a:ln/>
        </p:spPr>
        <p:txBody>
          <a:bodyPr wrap="square" lIns="25400" tIns="25400" rIns="25400" bIns="25400" rtlCol="0" anchor="ctr">
            <a:normAutofit/>
          </a:bodyPr>
          <a:lstStyle/>
          <a:p>
            <a:pPr marL="0" indent="0" algn="l">
              <a:buNone/>
            </a:pPr>
            <a:r>
              <a:rPr lang="en-US" sz="1950" b="1" dirty="0">
                <a:solidFill>
                  <a:srgbClr val="56708A"/>
                </a:solidFill>
                <a:latin typeface="Arial" pitchFamily="34" charset="0"/>
                <a:ea typeface="Arial" pitchFamily="34" charset="-122"/>
                <a:cs typeface="Arial" pitchFamily="34" charset="-120"/>
              </a:rPr>
              <a:t>›</a:t>
            </a:r>
            <a:endParaRPr lang="en-US" sz="1950" dirty="0"/>
          </a:p>
        </p:txBody>
      </p:sp>
      <p:sp>
        <p:nvSpPr>
          <p:cNvPr id="41" name="Shape 39"/>
          <p:cNvSpPr/>
          <p:nvPr/>
        </p:nvSpPr>
        <p:spPr>
          <a:xfrm>
            <a:off x="12378135" y="2006600"/>
            <a:ext cx="2726333" cy="1422400"/>
          </a:xfrm>
          <a:prstGeom prst="roundRect">
            <a:avLst>
              <a:gd name="adj" fmla="val 6696"/>
            </a:avLst>
          </a:prstGeom>
          <a:solidFill>
            <a:srgbClr val="FFFFFF">
              <a:alpha val="4000"/>
            </a:srgbClr>
          </a:solidFill>
          <a:ln/>
        </p:spPr>
        <p:txBody>
          <a:bodyPr/>
          <a:lstStyle/>
          <a:p>
            <a:endParaRPr lang="en-US"/>
          </a:p>
        </p:txBody>
      </p:sp>
      <p:sp>
        <p:nvSpPr>
          <p:cNvPr id="42" name="Shape 40"/>
          <p:cNvSpPr/>
          <p:nvPr/>
        </p:nvSpPr>
        <p:spPr>
          <a:xfrm>
            <a:off x="12378135" y="3416300"/>
            <a:ext cx="2726333" cy="12700"/>
          </a:xfrm>
          <a:prstGeom prst="rect">
            <a:avLst/>
          </a:prstGeom>
          <a:solidFill>
            <a:srgbClr val="FFFFFF">
              <a:alpha val="10000"/>
            </a:srgbClr>
          </a:solidFill>
          <a:ln/>
        </p:spPr>
        <p:txBody>
          <a:bodyPr/>
          <a:lstStyle/>
          <a:p>
            <a:endParaRPr lang="en-US"/>
          </a:p>
        </p:txBody>
      </p:sp>
      <p:sp>
        <p:nvSpPr>
          <p:cNvPr id="43" name="Shape 41"/>
          <p:cNvSpPr/>
          <p:nvPr/>
        </p:nvSpPr>
        <p:spPr>
          <a:xfrm>
            <a:off x="12378135" y="2006600"/>
            <a:ext cx="2726333" cy="38100"/>
          </a:xfrm>
          <a:prstGeom prst="rect">
            <a:avLst/>
          </a:prstGeom>
          <a:solidFill>
            <a:srgbClr val="F2A33C"/>
          </a:solidFill>
          <a:ln/>
        </p:spPr>
        <p:txBody>
          <a:bodyPr/>
          <a:lstStyle/>
          <a:p>
            <a:endParaRPr lang="en-US"/>
          </a:p>
        </p:txBody>
      </p:sp>
      <p:sp>
        <p:nvSpPr>
          <p:cNvPr id="44" name="Shape 42"/>
          <p:cNvSpPr/>
          <p:nvPr/>
        </p:nvSpPr>
        <p:spPr>
          <a:xfrm>
            <a:off x="12378135" y="2006600"/>
            <a:ext cx="12700" cy="1422400"/>
          </a:xfrm>
          <a:prstGeom prst="rect">
            <a:avLst/>
          </a:prstGeom>
          <a:solidFill>
            <a:srgbClr val="FFFFFF">
              <a:alpha val="10000"/>
            </a:srgbClr>
          </a:solidFill>
          <a:ln/>
        </p:spPr>
        <p:txBody>
          <a:bodyPr/>
          <a:lstStyle/>
          <a:p>
            <a:endParaRPr lang="en-US"/>
          </a:p>
        </p:txBody>
      </p:sp>
      <p:sp>
        <p:nvSpPr>
          <p:cNvPr id="45" name="Shape 43"/>
          <p:cNvSpPr/>
          <p:nvPr/>
        </p:nvSpPr>
        <p:spPr>
          <a:xfrm>
            <a:off x="15091768" y="2006600"/>
            <a:ext cx="12700" cy="1422400"/>
          </a:xfrm>
          <a:prstGeom prst="rect">
            <a:avLst/>
          </a:prstGeom>
          <a:solidFill>
            <a:srgbClr val="FFFFFF">
              <a:alpha val="10000"/>
            </a:srgbClr>
          </a:solidFill>
          <a:ln/>
        </p:spPr>
        <p:txBody>
          <a:bodyPr/>
          <a:lstStyle/>
          <a:p>
            <a:endParaRPr lang="en-US"/>
          </a:p>
        </p:txBody>
      </p:sp>
      <p:sp>
        <p:nvSpPr>
          <p:cNvPr id="46" name="Text 44"/>
          <p:cNvSpPr/>
          <p:nvPr/>
        </p:nvSpPr>
        <p:spPr>
          <a:xfrm>
            <a:off x="12533709" y="2197100"/>
            <a:ext cx="2656701" cy="292100"/>
          </a:xfrm>
          <a:prstGeom prst="rect">
            <a:avLst/>
          </a:prstGeom>
          <a:noFill/>
          <a:ln/>
        </p:spPr>
        <p:txBody>
          <a:bodyPr wrap="square" lIns="25400" tIns="25400" rIns="25400" bIns="25400" rtlCol="0" anchor="t">
            <a:normAutofit/>
          </a:bodyPr>
          <a:lstStyle/>
          <a:p>
            <a:pPr marL="0" indent="0" algn="l">
              <a:buNone/>
            </a:pPr>
            <a:r>
              <a:rPr lang="en-US" sz="1425" b="1" kern="0" spc="22" dirty="0">
                <a:solidFill>
                  <a:srgbClr val="FFFFFF"/>
                </a:solidFill>
                <a:latin typeface="Arial" pitchFamily="34" charset="0"/>
                <a:ea typeface="Arial" pitchFamily="34" charset="-122"/>
                <a:cs typeface="Arial" pitchFamily="34" charset="-120"/>
              </a:rPr>
              <a:t>ML SERVICE</a:t>
            </a:r>
            <a:endParaRPr lang="en-US" sz="1425" dirty="0"/>
          </a:p>
        </p:txBody>
      </p:sp>
      <p:sp>
        <p:nvSpPr>
          <p:cNvPr id="47" name="Text 45"/>
          <p:cNvSpPr/>
          <p:nvPr/>
        </p:nvSpPr>
        <p:spPr>
          <a:xfrm>
            <a:off x="12533709" y="2527300"/>
            <a:ext cx="2491383" cy="678061"/>
          </a:xfrm>
          <a:prstGeom prst="rect">
            <a:avLst/>
          </a:prstGeom>
          <a:noFill/>
          <a:ln/>
        </p:spPr>
        <p:txBody>
          <a:bodyPr wrap="square" lIns="25400" tIns="25400" rIns="25400" bIns="25400" rtlCol="0" anchor="t">
            <a:normAutofit/>
          </a:bodyPr>
          <a:lstStyle/>
          <a:p>
            <a:pPr marL="0" indent="0" algn="l">
              <a:lnSpc>
                <a:spcPct val="140000"/>
              </a:lnSpc>
              <a:buNone/>
            </a:pPr>
            <a:r>
              <a:rPr lang="en-US" sz="1200" dirty="0">
                <a:solidFill>
                  <a:srgbClr val="9DB2C9"/>
                </a:solidFill>
                <a:latin typeface="Arial" pitchFamily="34" charset="0"/>
                <a:ea typeface="Arial" pitchFamily="34" charset="-122"/>
                <a:cs typeface="Arial" pitchFamily="34" charset="-120"/>
              </a:rPr>
              <a:t>XGBoost &lt; 1ms LSTM Autoencoder :8000</a:t>
            </a:r>
            <a:endParaRPr lang="en-US" sz="1200" dirty="0"/>
          </a:p>
        </p:txBody>
      </p:sp>
      <p:sp>
        <p:nvSpPr>
          <p:cNvPr id="48" name="Text 46"/>
          <p:cNvSpPr/>
          <p:nvPr/>
        </p:nvSpPr>
        <p:spPr>
          <a:xfrm>
            <a:off x="15180668" y="2006600"/>
            <a:ext cx="158750" cy="1460500"/>
          </a:xfrm>
          <a:prstGeom prst="rect">
            <a:avLst/>
          </a:prstGeom>
          <a:noFill/>
          <a:ln/>
        </p:spPr>
        <p:txBody>
          <a:bodyPr wrap="square" lIns="25400" tIns="25400" rIns="25400" bIns="25400" rtlCol="0" anchor="ctr">
            <a:normAutofit/>
          </a:bodyPr>
          <a:lstStyle/>
          <a:p>
            <a:pPr marL="0" indent="0" algn="l">
              <a:buNone/>
            </a:pPr>
            <a:r>
              <a:rPr lang="en-US" sz="1950" b="1" dirty="0">
                <a:solidFill>
                  <a:srgbClr val="56708A"/>
                </a:solidFill>
                <a:latin typeface="Arial" pitchFamily="34" charset="0"/>
                <a:ea typeface="Arial" pitchFamily="34" charset="-122"/>
                <a:cs typeface="Arial" pitchFamily="34" charset="-120"/>
              </a:rPr>
              <a:t>›</a:t>
            </a:r>
            <a:endParaRPr lang="en-US" sz="1950" dirty="0"/>
          </a:p>
        </p:txBody>
      </p:sp>
      <p:sp>
        <p:nvSpPr>
          <p:cNvPr id="49" name="Shape 47"/>
          <p:cNvSpPr/>
          <p:nvPr/>
        </p:nvSpPr>
        <p:spPr>
          <a:xfrm>
            <a:off x="15339417" y="2006600"/>
            <a:ext cx="2415183" cy="673100"/>
          </a:xfrm>
          <a:prstGeom prst="roundRect">
            <a:avLst>
              <a:gd name="adj" fmla="val 14151"/>
            </a:avLst>
          </a:prstGeom>
          <a:solidFill>
            <a:srgbClr val="FFFFFF">
              <a:alpha val="4000"/>
            </a:srgbClr>
          </a:solidFill>
          <a:ln/>
        </p:spPr>
        <p:txBody>
          <a:bodyPr/>
          <a:lstStyle/>
          <a:p>
            <a:endParaRPr lang="en-US"/>
          </a:p>
        </p:txBody>
      </p:sp>
      <p:sp>
        <p:nvSpPr>
          <p:cNvPr id="50" name="Shape 48"/>
          <p:cNvSpPr/>
          <p:nvPr/>
        </p:nvSpPr>
        <p:spPr>
          <a:xfrm>
            <a:off x="15339417" y="2667000"/>
            <a:ext cx="2415183" cy="12700"/>
          </a:xfrm>
          <a:prstGeom prst="rect">
            <a:avLst/>
          </a:prstGeom>
          <a:solidFill>
            <a:srgbClr val="FFFFFF">
              <a:alpha val="10000"/>
            </a:srgbClr>
          </a:solidFill>
          <a:ln/>
        </p:spPr>
        <p:txBody>
          <a:bodyPr/>
          <a:lstStyle/>
          <a:p>
            <a:endParaRPr lang="en-US"/>
          </a:p>
        </p:txBody>
      </p:sp>
      <p:sp>
        <p:nvSpPr>
          <p:cNvPr id="51" name="Shape 49"/>
          <p:cNvSpPr/>
          <p:nvPr/>
        </p:nvSpPr>
        <p:spPr>
          <a:xfrm>
            <a:off x="15339417" y="2006600"/>
            <a:ext cx="2415183" cy="38100"/>
          </a:xfrm>
          <a:prstGeom prst="rect">
            <a:avLst/>
          </a:prstGeom>
          <a:solidFill>
            <a:srgbClr val="F0584E"/>
          </a:solidFill>
          <a:ln/>
        </p:spPr>
        <p:txBody>
          <a:bodyPr/>
          <a:lstStyle/>
          <a:p>
            <a:endParaRPr lang="en-US"/>
          </a:p>
        </p:txBody>
      </p:sp>
      <p:sp>
        <p:nvSpPr>
          <p:cNvPr id="52" name="Shape 50"/>
          <p:cNvSpPr/>
          <p:nvPr/>
        </p:nvSpPr>
        <p:spPr>
          <a:xfrm>
            <a:off x="15339417" y="2006600"/>
            <a:ext cx="12700" cy="673100"/>
          </a:xfrm>
          <a:prstGeom prst="rect">
            <a:avLst/>
          </a:prstGeom>
          <a:solidFill>
            <a:srgbClr val="FFFFFF">
              <a:alpha val="10000"/>
            </a:srgbClr>
          </a:solidFill>
          <a:ln/>
        </p:spPr>
        <p:txBody>
          <a:bodyPr/>
          <a:lstStyle/>
          <a:p>
            <a:endParaRPr lang="en-US"/>
          </a:p>
        </p:txBody>
      </p:sp>
      <p:sp>
        <p:nvSpPr>
          <p:cNvPr id="53" name="Shape 51"/>
          <p:cNvSpPr/>
          <p:nvPr/>
        </p:nvSpPr>
        <p:spPr>
          <a:xfrm>
            <a:off x="17741900" y="2006600"/>
            <a:ext cx="12700" cy="673100"/>
          </a:xfrm>
          <a:prstGeom prst="rect">
            <a:avLst/>
          </a:prstGeom>
          <a:solidFill>
            <a:srgbClr val="FFFFFF">
              <a:alpha val="10000"/>
            </a:srgbClr>
          </a:solidFill>
          <a:ln/>
        </p:spPr>
        <p:txBody>
          <a:bodyPr/>
          <a:lstStyle/>
          <a:p>
            <a:endParaRPr lang="en-US"/>
          </a:p>
        </p:txBody>
      </p:sp>
      <p:sp>
        <p:nvSpPr>
          <p:cNvPr id="54" name="Text 52"/>
          <p:cNvSpPr/>
          <p:nvPr/>
        </p:nvSpPr>
        <p:spPr>
          <a:xfrm>
            <a:off x="15494993" y="2159000"/>
            <a:ext cx="2314436" cy="279400"/>
          </a:xfrm>
          <a:prstGeom prst="rect">
            <a:avLst/>
          </a:prstGeom>
          <a:noFill/>
          <a:ln/>
        </p:spPr>
        <p:txBody>
          <a:bodyPr wrap="square" lIns="25400" tIns="25400" rIns="25400" bIns="25400" rtlCol="0" anchor="t">
            <a:normAutofit/>
          </a:bodyPr>
          <a:lstStyle/>
          <a:p>
            <a:pPr marL="0" indent="0" algn="l">
              <a:buNone/>
            </a:pPr>
            <a:r>
              <a:rPr lang="en-US" sz="1350" b="1" dirty="0">
                <a:solidFill>
                  <a:srgbClr val="FFFFFF"/>
                </a:solidFill>
                <a:latin typeface="Arial" pitchFamily="34" charset="0"/>
                <a:ea typeface="Arial" pitchFamily="34" charset="-122"/>
                <a:cs typeface="Arial" pitchFamily="34" charset="-120"/>
              </a:rPr>
              <a:t>PROMETHEUS</a:t>
            </a:r>
            <a:endParaRPr lang="en-US" sz="1350" dirty="0"/>
          </a:p>
        </p:txBody>
      </p:sp>
      <p:sp>
        <p:nvSpPr>
          <p:cNvPr id="55" name="Text 53"/>
          <p:cNvSpPr/>
          <p:nvPr/>
        </p:nvSpPr>
        <p:spPr>
          <a:xfrm>
            <a:off x="15494993" y="2400300"/>
            <a:ext cx="2314436" cy="190500"/>
          </a:xfrm>
          <a:prstGeom prst="rect">
            <a:avLst/>
          </a:prstGeom>
          <a:noFill/>
          <a:ln/>
        </p:spPr>
        <p:txBody>
          <a:bodyPr wrap="square" lIns="25400" tIns="25400" rIns="25400" bIns="25400" rtlCol="0" anchor="t">
            <a:normAutofit/>
          </a:bodyPr>
          <a:lstStyle/>
          <a:p>
            <a:pPr marL="0" indent="0" algn="l">
              <a:buNone/>
            </a:pPr>
            <a:r>
              <a:rPr lang="en-US" sz="1125" dirty="0">
                <a:solidFill>
                  <a:srgbClr val="9DB2C9"/>
                </a:solidFill>
                <a:latin typeface="Arial" pitchFamily="34" charset="0"/>
                <a:ea typeface="Arial" pitchFamily="34" charset="-122"/>
                <a:cs typeface="Arial" pitchFamily="34" charset="-120"/>
              </a:rPr>
              <a:t>:9091 · Scrapes 5s</a:t>
            </a:r>
            <a:endParaRPr lang="en-US" sz="1125" dirty="0"/>
          </a:p>
        </p:txBody>
      </p:sp>
      <p:sp>
        <p:nvSpPr>
          <p:cNvPr id="56" name="Shape 54"/>
          <p:cNvSpPr/>
          <p:nvPr/>
        </p:nvSpPr>
        <p:spPr>
          <a:xfrm>
            <a:off x="15339417" y="2755900"/>
            <a:ext cx="2415183" cy="673100"/>
          </a:xfrm>
          <a:prstGeom prst="roundRect">
            <a:avLst>
              <a:gd name="adj" fmla="val 14151"/>
            </a:avLst>
          </a:prstGeom>
          <a:solidFill>
            <a:srgbClr val="FFFFFF">
              <a:alpha val="4000"/>
            </a:srgbClr>
          </a:solidFill>
          <a:ln/>
        </p:spPr>
        <p:txBody>
          <a:bodyPr/>
          <a:lstStyle/>
          <a:p>
            <a:endParaRPr lang="en-US"/>
          </a:p>
        </p:txBody>
      </p:sp>
      <p:sp>
        <p:nvSpPr>
          <p:cNvPr id="57" name="Shape 55"/>
          <p:cNvSpPr/>
          <p:nvPr/>
        </p:nvSpPr>
        <p:spPr>
          <a:xfrm>
            <a:off x="15339417" y="3416300"/>
            <a:ext cx="2415183" cy="12700"/>
          </a:xfrm>
          <a:prstGeom prst="rect">
            <a:avLst/>
          </a:prstGeom>
          <a:solidFill>
            <a:srgbClr val="FFFFFF">
              <a:alpha val="10000"/>
            </a:srgbClr>
          </a:solidFill>
          <a:ln/>
        </p:spPr>
        <p:txBody>
          <a:bodyPr/>
          <a:lstStyle/>
          <a:p>
            <a:endParaRPr lang="en-US"/>
          </a:p>
        </p:txBody>
      </p:sp>
      <p:sp>
        <p:nvSpPr>
          <p:cNvPr id="58" name="Shape 56"/>
          <p:cNvSpPr/>
          <p:nvPr/>
        </p:nvSpPr>
        <p:spPr>
          <a:xfrm>
            <a:off x="15339417" y="2755900"/>
            <a:ext cx="2415183" cy="38100"/>
          </a:xfrm>
          <a:prstGeom prst="rect">
            <a:avLst/>
          </a:prstGeom>
          <a:solidFill>
            <a:srgbClr val="34C27E"/>
          </a:solidFill>
          <a:ln/>
        </p:spPr>
        <p:txBody>
          <a:bodyPr/>
          <a:lstStyle/>
          <a:p>
            <a:endParaRPr lang="en-US"/>
          </a:p>
        </p:txBody>
      </p:sp>
      <p:sp>
        <p:nvSpPr>
          <p:cNvPr id="59" name="Shape 57"/>
          <p:cNvSpPr/>
          <p:nvPr/>
        </p:nvSpPr>
        <p:spPr>
          <a:xfrm>
            <a:off x="15339417" y="2755900"/>
            <a:ext cx="12700" cy="673100"/>
          </a:xfrm>
          <a:prstGeom prst="rect">
            <a:avLst/>
          </a:prstGeom>
          <a:solidFill>
            <a:srgbClr val="FFFFFF">
              <a:alpha val="10000"/>
            </a:srgbClr>
          </a:solidFill>
          <a:ln/>
        </p:spPr>
        <p:txBody>
          <a:bodyPr/>
          <a:lstStyle/>
          <a:p>
            <a:endParaRPr lang="en-US"/>
          </a:p>
        </p:txBody>
      </p:sp>
      <p:sp>
        <p:nvSpPr>
          <p:cNvPr id="60" name="Shape 58"/>
          <p:cNvSpPr/>
          <p:nvPr/>
        </p:nvSpPr>
        <p:spPr>
          <a:xfrm>
            <a:off x="17741900" y="2755900"/>
            <a:ext cx="12700" cy="673100"/>
          </a:xfrm>
          <a:prstGeom prst="rect">
            <a:avLst/>
          </a:prstGeom>
          <a:solidFill>
            <a:srgbClr val="FFFFFF">
              <a:alpha val="10000"/>
            </a:srgbClr>
          </a:solidFill>
          <a:ln/>
        </p:spPr>
        <p:txBody>
          <a:bodyPr/>
          <a:lstStyle/>
          <a:p>
            <a:endParaRPr lang="en-US"/>
          </a:p>
        </p:txBody>
      </p:sp>
      <p:sp>
        <p:nvSpPr>
          <p:cNvPr id="61" name="Text 59"/>
          <p:cNvSpPr/>
          <p:nvPr/>
        </p:nvSpPr>
        <p:spPr>
          <a:xfrm>
            <a:off x="15494993" y="2908300"/>
            <a:ext cx="2314436" cy="279400"/>
          </a:xfrm>
          <a:prstGeom prst="rect">
            <a:avLst/>
          </a:prstGeom>
          <a:noFill/>
          <a:ln/>
        </p:spPr>
        <p:txBody>
          <a:bodyPr wrap="square" lIns="25400" tIns="25400" rIns="25400" bIns="25400" rtlCol="0" anchor="t">
            <a:normAutofit/>
          </a:bodyPr>
          <a:lstStyle/>
          <a:p>
            <a:pPr marL="0" indent="0" algn="l">
              <a:buNone/>
            </a:pPr>
            <a:r>
              <a:rPr lang="en-US" sz="1350" b="1" dirty="0">
                <a:solidFill>
                  <a:srgbClr val="FFFFFF"/>
                </a:solidFill>
                <a:latin typeface="Arial" pitchFamily="34" charset="0"/>
                <a:ea typeface="Arial" pitchFamily="34" charset="-122"/>
                <a:cs typeface="Arial" pitchFamily="34" charset="-120"/>
              </a:rPr>
              <a:t>GRAFANA</a:t>
            </a:r>
            <a:endParaRPr lang="en-US" sz="1350" dirty="0"/>
          </a:p>
        </p:txBody>
      </p:sp>
      <p:sp>
        <p:nvSpPr>
          <p:cNvPr id="62" name="Text 60"/>
          <p:cNvSpPr/>
          <p:nvPr/>
        </p:nvSpPr>
        <p:spPr>
          <a:xfrm>
            <a:off x="15494993" y="3149600"/>
            <a:ext cx="2314436" cy="190500"/>
          </a:xfrm>
          <a:prstGeom prst="rect">
            <a:avLst/>
          </a:prstGeom>
          <a:noFill/>
          <a:ln/>
        </p:spPr>
        <p:txBody>
          <a:bodyPr wrap="square" lIns="25400" tIns="25400" rIns="25400" bIns="25400" rtlCol="0" anchor="t">
            <a:normAutofit/>
          </a:bodyPr>
          <a:lstStyle/>
          <a:p>
            <a:pPr marL="0" indent="0" algn="l">
              <a:buNone/>
            </a:pPr>
            <a:r>
              <a:rPr lang="en-US" sz="1125" dirty="0">
                <a:solidFill>
                  <a:srgbClr val="9DB2C9"/>
                </a:solidFill>
                <a:latin typeface="Arial" pitchFamily="34" charset="0"/>
                <a:ea typeface="Arial" pitchFamily="34" charset="-122"/>
                <a:cs typeface="Arial" pitchFamily="34" charset="-120"/>
              </a:rPr>
              <a:t>:3000 · Dashboards</a:t>
            </a:r>
            <a:endParaRPr lang="en-US" sz="1125" dirty="0"/>
          </a:p>
        </p:txBody>
      </p:sp>
      <p:sp>
        <p:nvSpPr>
          <p:cNvPr id="63" name="Text 61"/>
          <p:cNvSpPr/>
          <p:nvPr/>
        </p:nvSpPr>
        <p:spPr>
          <a:xfrm>
            <a:off x="533400" y="3619500"/>
            <a:ext cx="9842738"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FFFFFF"/>
                </a:solidFill>
                <a:latin typeface="Arial" pitchFamily="34" charset="0"/>
                <a:ea typeface="Arial" pitchFamily="34" charset="-122"/>
                <a:cs typeface="Arial" pitchFamily="34" charset="-120"/>
              </a:rPr>
              <a:t>Kafka Topics</a:t>
            </a:r>
            <a:endParaRPr lang="en-US" sz="1875" dirty="0"/>
          </a:p>
        </p:txBody>
      </p:sp>
      <p:sp>
        <p:nvSpPr>
          <p:cNvPr id="64" name="Shape 62"/>
          <p:cNvSpPr/>
          <p:nvPr/>
        </p:nvSpPr>
        <p:spPr>
          <a:xfrm>
            <a:off x="533400" y="4095750"/>
            <a:ext cx="8947944" cy="1039019"/>
          </a:xfrm>
          <a:prstGeom prst="roundRect">
            <a:avLst>
              <a:gd name="adj" fmla="val 9167"/>
            </a:avLst>
          </a:prstGeom>
          <a:solidFill>
            <a:srgbClr val="FFFFFF">
              <a:alpha val="4000"/>
            </a:srgbClr>
          </a:solidFill>
          <a:ln/>
        </p:spPr>
        <p:txBody>
          <a:bodyPr/>
          <a:lstStyle/>
          <a:p>
            <a:endParaRPr lang="en-US"/>
          </a:p>
        </p:txBody>
      </p:sp>
      <p:sp>
        <p:nvSpPr>
          <p:cNvPr id="65" name="Shape 63"/>
          <p:cNvSpPr/>
          <p:nvPr/>
        </p:nvSpPr>
        <p:spPr>
          <a:xfrm>
            <a:off x="533400" y="5122069"/>
            <a:ext cx="8947944" cy="12700"/>
          </a:xfrm>
          <a:prstGeom prst="rect">
            <a:avLst/>
          </a:prstGeom>
          <a:solidFill>
            <a:srgbClr val="FFFFFF">
              <a:alpha val="10000"/>
            </a:srgbClr>
          </a:solidFill>
          <a:ln/>
        </p:spPr>
        <p:txBody>
          <a:bodyPr/>
          <a:lstStyle/>
          <a:p>
            <a:endParaRPr lang="en-US"/>
          </a:p>
        </p:txBody>
      </p:sp>
      <p:sp>
        <p:nvSpPr>
          <p:cNvPr id="66" name="Shape 64"/>
          <p:cNvSpPr/>
          <p:nvPr/>
        </p:nvSpPr>
        <p:spPr>
          <a:xfrm>
            <a:off x="533400" y="4095750"/>
            <a:ext cx="8947944" cy="12700"/>
          </a:xfrm>
          <a:prstGeom prst="rect">
            <a:avLst/>
          </a:prstGeom>
          <a:solidFill>
            <a:srgbClr val="FFFFFF">
              <a:alpha val="10000"/>
            </a:srgbClr>
          </a:solidFill>
          <a:ln/>
        </p:spPr>
        <p:txBody>
          <a:bodyPr/>
          <a:lstStyle/>
          <a:p>
            <a:endParaRPr lang="en-US"/>
          </a:p>
        </p:txBody>
      </p:sp>
      <p:sp>
        <p:nvSpPr>
          <p:cNvPr id="67" name="Shape 65"/>
          <p:cNvSpPr/>
          <p:nvPr/>
        </p:nvSpPr>
        <p:spPr>
          <a:xfrm>
            <a:off x="533400" y="4095750"/>
            <a:ext cx="50800" cy="1039019"/>
          </a:xfrm>
          <a:prstGeom prst="rect">
            <a:avLst/>
          </a:prstGeom>
          <a:solidFill>
            <a:srgbClr val="3B8EE6"/>
          </a:solidFill>
          <a:ln/>
        </p:spPr>
        <p:txBody>
          <a:bodyPr/>
          <a:lstStyle/>
          <a:p>
            <a:endParaRPr lang="en-US"/>
          </a:p>
        </p:txBody>
      </p:sp>
      <p:sp>
        <p:nvSpPr>
          <p:cNvPr id="68" name="Shape 66"/>
          <p:cNvSpPr/>
          <p:nvPr/>
        </p:nvSpPr>
        <p:spPr>
          <a:xfrm>
            <a:off x="9468644" y="4095750"/>
            <a:ext cx="12700" cy="1039019"/>
          </a:xfrm>
          <a:prstGeom prst="rect">
            <a:avLst/>
          </a:prstGeom>
          <a:solidFill>
            <a:srgbClr val="FFFFFF">
              <a:alpha val="10000"/>
            </a:srgbClr>
          </a:solidFill>
          <a:ln/>
        </p:spPr>
        <p:txBody>
          <a:bodyPr/>
          <a:lstStyle/>
          <a:p>
            <a:endParaRPr lang="en-US"/>
          </a:p>
        </p:txBody>
      </p:sp>
      <p:sp>
        <p:nvSpPr>
          <p:cNvPr id="69" name="Text 67"/>
          <p:cNvSpPr/>
          <p:nvPr/>
        </p:nvSpPr>
        <p:spPr>
          <a:xfrm>
            <a:off x="793750" y="4475559"/>
            <a:ext cx="2043549" cy="317500"/>
          </a:xfrm>
          <a:prstGeom prst="rect">
            <a:avLst/>
          </a:prstGeom>
          <a:noFill/>
          <a:ln/>
        </p:spPr>
        <p:txBody>
          <a:bodyPr wrap="square" lIns="25400" tIns="25400" rIns="25400" bIns="25400" rtlCol="0" anchor="t">
            <a:normAutofit/>
          </a:bodyPr>
          <a:lstStyle/>
          <a:p>
            <a:pPr marL="0" indent="0" algn="l">
              <a:buNone/>
            </a:pPr>
            <a:r>
              <a:rPr lang="en-US" sz="1875" b="1" dirty="0">
                <a:solidFill>
                  <a:srgbClr val="6FB3F2"/>
                </a:solidFill>
                <a:latin typeface="Courier New" pitchFamily="34" charset="0"/>
                <a:ea typeface="Courier New" pitchFamily="34" charset="-122"/>
                <a:cs typeface="Courier New" pitchFamily="34" charset="-120"/>
              </a:rPr>
              <a:t>telemetry.raw</a:t>
            </a:r>
            <a:endParaRPr lang="en-US" sz="1875" dirty="0"/>
          </a:p>
        </p:txBody>
      </p:sp>
      <p:sp>
        <p:nvSpPr>
          <p:cNvPr id="70" name="Text 68"/>
          <p:cNvSpPr/>
          <p:nvPr/>
        </p:nvSpPr>
        <p:spPr>
          <a:xfrm>
            <a:off x="7068939" y="4500960"/>
            <a:ext cx="2409170" cy="266700"/>
          </a:xfrm>
          <a:prstGeom prst="rect">
            <a:avLst/>
          </a:prstGeom>
          <a:noFill/>
          <a:ln/>
        </p:spPr>
        <p:txBody>
          <a:bodyPr wrap="square" lIns="25400" tIns="25400" rIns="25400" bIns="25400" rtlCol="0" anchor="t">
            <a:normAutofit/>
          </a:bodyPr>
          <a:lstStyle/>
          <a:p>
            <a:pPr marL="0" indent="0" algn="l">
              <a:buNone/>
            </a:pPr>
            <a:r>
              <a:rPr lang="en-US" sz="1575" dirty="0">
                <a:solidFill>
                  <a:srgbClr val="9DB2C9"/>
                </a:solidFill>
                <a:latin typeface="Arial" pitchFamily="34" charset="0"/>
                <a:ea typeface="Arial" pitchFamily="34" charset="-122"/>
                <a:cs typeface="Arial" pitchFamily="34" charset="-120"/>
              </a:rPr>
              <a:t>Raw player state per tick</a:t>
            </a:r>
            <a:endParaRPr lang="en-US" sz="1575" dirty="0"/>
          </a:p>
        </p:txBody>
      </p:sp>
      <p:sp>
        <p:nvSpPr>
          <p:cNvPr id="71" name="Shape 69"/>
          <p:cNvSpPr/>
          <p:nvPr/>
        </p:nvSpPr>
        <p:spPr>
          <a:xfrm>
            <a:off x="533400" y="5258594"/>
            <a:ext cx="8947944" cy="1039019"/>
          </a:xfrm>
          <a:prstGeom prst="roundRect">
            <a:avLst>
              <a:gd name="adj" fmla="val 9167"/>
            </a:avLst>
          </a:prstGeom>
          <a:solidFill>
            <a:srgbClr val="FFFFFF">
              <a:alpha val="4000"/>
            </a:srgbClr>
          </a:solidFill>
          <a:ln/>
        </p:spPr>
        <p:txBody>
          <a:bodyPr/>
          <a:lstStyle/>
          <a:p>
            <a:endParaRPr lang="en-US"/>
          </a:p>
        </p:txBody>
      </p:sp>
      <p:sp>
        <p:nvSpPr>
          <p:cNvPr id="72" name="Shape 70"/>
          <p:cNvSpPr/>
          <p:nvPr/>
        </p:nvSpPr>
        <p:spPr>
          <a:xfrm>
            <a:off x="533400" y="6284913"/>
            <a:ext cx="8947944" cy="12700"/>
          </a:xfrm>
          <a:prstGeom prst="rect">
            <a:avLst/>
          </a:prstGeom>
          <a:solidFill>
            <a:srgbClr val="FFFFFF">
              <a:alpha val="10000"/>
            </a:srgbClr>
          </a:solidFill>
          <a:ln/>
        </p:spPr>
        <p:txBody>
          <a:bodyPr/>
          <a:lstStyle/>
          <a:p>
            <a:endParaRPr lang="en-US"/>
          </a:p>
        </p:txBody>
      </p:sp>
      <p:sp>
        <p:nvSpPr>
          <p:cNvPr id="73" name="Shape 71"/>
          <p:cNvSpPr/>
          <p:nvPr/>
        </p:nvSpPr>
        <p:spPr>
          <a:xfrm>
            <a:off x="533400" y="5258594"/>
            <a:ext cx="8947944" cy="12700"/>
          </a:xfrm>
          <a:prstGeom prst="rect">
            <a:avLst/>
          </a:prstGeom>
          <a:solidFill>
            <a:srgbClr val="FFFFFF">
              <a:alpha val="10000"/>
            </a:srgbClr>
          </a:solidFill>
          <a:ln/>
        </p:spPr>
        <p:txBody>
          <a:bodyPr/>
          <a:lstStyle/>
          <a:p>
            <a:endParaRPr lang="en-US"/>
          </a:p>
        </p:txBody>
      </p:sp>
      <p:sp>
        <p:nvSpPr>
          <p:cNvPr id="74" name="Shape 72"/>
          <p:cNvSpPr/>
          <p:nvPr/>
        </p:nvSpPr>
        <p:spPr>
          <a:xfrm>
            <a:off x="533400" y="5258594"/>
            <a:ext cx="50800" cy="1039019"/>
          </a:xfrm>
          <a:prstGeom prst="rect">
            <a:avLst/>
          </a:prstGeom>
          <a:solidFill>
            <a:srgbClr val="34C27E"/>
          </a:solidFill>
          <a:ln/>
        </p:spPr>
        <p:txBody>
          <a:bodyPr/>
          <a:lstStyle/>
          <a:p>
            <a:endParaRPr lang="en-US"/>
          </a:p>
        </p:txBody>
      </p:sp>
      <p:sp>
        <p:nvSpPr>
          <p:cNvPr id="75" name="Shape 73"/>
          <p:cNvSpPr/>
          <p:nvPr/>
        </p:nvSpPr>
        <p:spPr>
          <a:xfrm>
            <a:off x="9468644" y="5258594"/>
            <a:ext cx="12700" cy="1039019"/>
          </a:xfrm>
          <a:prstGeom prst="rect">
            <a:avLst/>
          </a:prstGeom>
          <a:solidFill>
            <a:srgbClr val="FFFFFF">
              <a:alpha val="10000"/>
            </a:srgbClr>
          </a:solidFill>
          <a:ln/>
        </p:spPr>
        <p:txBody>
          <a:bodyPr/>
          <a:lstStyle/>
          <a:p>
            <a:endParaRPr lang="en-US"/>
          </a:p>
        </p:txBody>
      </p:sp>
      <p:sp>
        <p:nvSpPr>
          <p:cNvPr id="76" name="Text 74"/>
          <p:cNvSpPr/>
          <p:nvPr/>
        </p:nvSpPr>
        <p:spPr>
          <a:xfrm>
            <a:off x="793750" y="5638404"/>
            <a:ext cx="1886387" cy="317500"/>
          </a:xfrm>
          <a:prstGeom prst="rect">
            <a:avLst/>
          </a:prstGeom>
          <a:noFill/>
          <a:ln/>
        </p:spPr>
        <p:txBody>
          <a:bodyPr wrap="square" lIns="25400" tIns="25400" rIns="25400" bIns="25400" rtlCol="0" anchor="t">
            <a:normAutofit/>
          </a:bodyPr>
          <a:lstStyle/>
          <a:p>
            <a:pPr marL="0" indent="0" algn="l">
              <a:buNone/>
            </a:pPr>
            <a:r>
              <a:rPr lang="en-US" sz="1875" b="1" dirty="0">
                <a:solidFill>
                  <a:srgbClr val="5BD39A"/>
                </a:solidFill>
                <a:latin typeface="Courier New" pitchFamily="34" charset="0"/>
                <a:ea typeface="Courier New" pitchFamily="34" charset="-122"/>
                <a:cs typeface="Courier New" pitchFamily="34" charset="-120"/>
              </a:rPr>
              <a:t>events.kills</a:t>
            </a:r>
            <a:endParaRPr lang="en-US" sz="1875" dirty="0"/>
          </a:p>
        </p:txBody>
      </p:sp>
      <p:sp>
        <p:nvSpPr>
          <p:cNvPr id="77" name="Text 75"/>
          <p:cNvSpPr/>
          <p:nvPr/>
        </p:nvSpPr>
        <p:spPr>
          <a:xfrm>
            <a:off x="7474546" y="5663803"/>
            <a:ext cx="1963003" cy="266700"/>
          </a:xfrm>
          <a:prstGeom prst="rect">
            <a:avLst/>
          </a:prstGeom>
          <a:noFill/>
          <a:ln/>
        </p:spPr>
        <p:txBody>
          <a:bodyPr wrap="square" lIns="25400" tIns="25400" rIns="25400" bIns="25400" rtlCol="0" anchor="t">
            <a:normAutofit/>
          </a:bodyPr>
          <a:lstStyle/>
          <a:p>
            <a:pPr marL="0" indent="0" algn="l">
              <a:buNone/>
            </a:pPr>
            <a:r>
              <a:rPr lang="en-US" sz="1575" dirty="0">
                <a:solidFill>
                  <a:srgbClr val="9DB2C9"/>
                </a:solidFill>
                <a:latin typeface="Arial" pitchFamily="34" charset="0"/>
                <a:ea typeface="Arial" pitchFamily="34" charset="-122"/>
                <a:cs typeface="Arial" pitchFamily="34" charset="-120"/>
              </a:rPr>
              <a:t>Kill events + context</a:t>
            </a:r>
            <a:endParaRPr lang="en-US" sz="1575" dirty="0"/>
          </a:p>
        </p:txBody>
      </p:sp>
      <p:sp>
        <p:nvSpPr>
          <p:cNvPr id="78" name="Shape 76"/>
          <p:cNvSpPr/>
          <p:nvPr/>
        </p:nvSpPr>
        <p:spPr>
          <a:xfrm>
            <a:off x="533400" y="6421438"/>
            <a:ext cx="8947944" cy="1039019"/>
          </a:xfrm>
          <a:prstGeom prst="roundRect">
            <a:avLst>
              <a:gd name="adj" fmla="val 9167"/>
            </a:avLst>
          </a:prstGeom>
          <a:solidFill>
            <a:srgbClr val="FFFFFF">
              <a:alpha val="4000"/>
            </a:srgbClr>
          </a:solidFill>
          <a:ln/>
        </p:spPr>
        <p:txBody>
          <a:bodyPr/>
          <a:lstStyle/>
          <a:p>
            <a:endParaRPr lang="en-US"/>
          </a:p>
        </p:txBody>
      </p:sp>
      <p:sp>
        <p:nvSpPr>
          <p:cNvPr id="79" name="Shape 77"/>
          <p:cNvSpPr/>
          <p:nvPr/>
        </p:nvSpPr>
        <p:spPr>
          <a:xfrm>
            <a:off x="533400" y="7447756"/>
            <a:ext cx="8947944" cy="12700"/>
          </a:xfrm>
          <a:prstGeom prst="rect">
            <a:avLst/>
          </a:prstGeom>
          <a:solidFill>
            <a:srgbClr val="FFFFFF">
              <a:alpha val="10000"/>
            </a:srgbClr>
          </a:solidFill>
          <a:ln/>
        </p:spPr>
        <p:txBody>
          <a:bodyPr/>
          <a:lstStyle/>
          <a:p>
            <a:endParaRPr lang="en-US"/>
          </a:p>
        </p:txBody>
      </p:sp>
      <p:sp>
        <p:nvSpPr>
          <p:cNvPr id="80" name="Shape 78"/>
          <p:cNvSpPr/>
          <p:nvPr/>
        </p:nvSpPr>
        <p:spPr>
          <a:xfrm>
            <a:off x="533400" y="6421438"/>
            <a:ext cx="8947944" cy="12700"/>
          </a:xfrm>
          <a:prstGeom prst="rect">
            <a:avLst/>
          </a:prstGeom>
          <a:solidFill>
            <a:srgbClr val="FFFFFF">
              <a:alpha val="10000"/>
            </a:srgbClr>
          </a:solidFill>
          <a:ln/>
        </p:spPr>
        <p:txBody>
          <a:bodyPr/>
          <a:lstStyle/>
          <a:p>
            <a:endParaRPr lang="en-US"/>
          </a:p>
        </p:txBody>
      </p:sp>
      <p:sp>
        <p:nvSpPr>
          <p:cNvPr id="81" name="Shape 79"/>
          <p:cNvSpPr/>
          <p:nvPr/>
        </p:nvSpPr>
        <p:spPr>
          <a:xfrm>
            <a:off x="533400" y="6421438"/>
            <a:ext cx="50800" cy="1039019"/>
          </a:xfrm>
          <a:prstGeom prst="rect">
            <a:avLst/>
          </a:prstGeom>
          <a:solidFill>
            <a:srgbClr val="F2A33C"/>
          </a:solidFill>
          <a:ln/>
        </p:spPr>
        <p:txBody>
          <a:bodyPr/>
          <a:lstStyle/>
          <a:p>
            <a:endParaRPr lang="en-US"/>
          </a:p>
        </p:txBody>
      </p:sp>
      <p:sp>
        <p:nvSpPr>
          <p:cNvPr id="82" name="Shape 80"/>
          <p:cNvSpPr/>
          <p:nvPr/>
        </p:nvSpPr>
        <p:spPr>
          <a:xfrm>
            <a:off x="9468644" y="6421438"/>
            <a:ext cx="12700" cy="1039019"/>
          </a:xfrm>
          <a:prstGeom prst="rect">
            <a:avLst/>
          </a:prstGeom>
          <a:solidFill>
            <a:srgbClr val="FFFFFF">
              <a:alpha val="10000"/>
            </a:srgbClr>
          </a:solidFill>
          <a:ln/>
        </p:spPr>
        <p:txBody>
          <a:bodyPr/>
          <a:lstStyle/>
          <a:p>
            <a:endParaRPr lang="en-US"/>
          </a:p>
        </p:txBody>
      </p:sp>
      <p:sp>
        <p:nvSpPr>
          <p:cNvPr id="83" name="Text 81"/>
          <p:cNvSpPr/>
          <p:nvPr/>
        </p:nvSpPr>
        <p:spPr>
          <a:xfrm>
            <a:off x="793750" y="6801247"/>
            <a:ext cx="2672199" cy="317500"/>
          </a:xfrm>
          <a:prstGeom prst="rect">
            <a:avLst/>
          </a:prstGeom>
          <a:noFill/>
          <a:ln/>
        </p:spPr>
        <p:txBody>
          <a:bodyPr wrap="square" lIns="25400" tIns="25400" rIns="25400" bIns="25400" rtlCol="0" anchor="t">
            <a:normAutofit/>
          </a:bodyPr>
          <a:lstStyle/>
          <a:p>
            <a:pPr marL="0" indent="0" algn="l">
              <a:buNone/>
            </a:pPr>
            <a:r>
              <a:rPr lang="en-US" sz="1875" b="1" dirty="0">
                <a:solidFill>
                  <a:srgbClr val="F4B463"/>
                </a:solidFill>
                <a:latin typeface="Courier New" pitchFamily="34" charset="0"/>
                <a:ea typeface="Courier New" pitchFamily="34" charset="-122"/>
                <a:cs typeface="Courier New" pitchFamily="34" charset="-120"/>
              </a:rPr>
              <a:t>features.computed</a:t>
            </a:r>
            <a:endParaRPr lang="en-US" sz="1875" dirty="0"/>
          </a:p>
        </p:txBody>
      </p:sp>
      <p:sp>
        <p:nvSpPr>
          <p:cNvPr id="84" name="Text 82"/>
          <p:cNvSpPr/>
          <p:nvPr/>
        </p:nvSpPr>
        <p:spPr>
          <a:xfrm>
            <a:off x="7646789" y="6826647"/>
            <a:ext cx="1773535" cy="266700"/>
          </a:xfrm>
          <a:prstGeom prst="rect">
            <a:avLst/>
          </a:prstGeom>
          <a:noFill/>
          <a:ln/>
        </p:spPr>
        <p:txBody>
          <a:bodyPr wrap="square" lIns="25400" tIns="25400" rIns="25400" bIns="25400" rtlCol="0" anchor="t">
            <a:normAutofit/>
          </a:bodyPr>
          <a:lstStyle/>
          <a:p>
            <a:pPr marL="0" indent="0" algn="l">
              <a:buNone/>
            </a:pPr>
            <a:r>
              <a:rPr lang="en-US" sz="1575" dirty="0">
                <a:solidFill>
                  <a:srgbClr val="9DB2C9"/>
                </a:solidFill>
                <a:latin typeface="Arial" pitchFamily="34" charset="0"/>
                <a:ea typeface="Arial" pitchFamily="34" charset="-122"/>
                <a:cs typeface="Arial" pitchFamily="34" charset="-120"/>
              </a:rPr>
              <a:t>18-feature vectors</a:t>
            </a:r>
            <a:endParaRPr lang="en-US" sz="1575" dirty="0"/>
          </a:p>
        </p:txBody>
      </p:sp>
      <p:sp>
        <p:nvSpPr>
          <p:cNvPr id="85" name="Shape 83"/>
          <p:cNvSpPr/>
          <p:nvPr/>
        </p:nvSpPr>
        <p:spPr>
          <a:xfrm>
            <a:off x="533400" y="7584281"/>
            <a:ext cx="8947944" cy="1039019"/>
          </a:xfrm>
          <a:prstGeom prst="roundRect">
            <a:avLst>
              <a:gd name="adj" fmla="val 9167"/>
            </a:avLst>
          </a:prstGeom>
          <a:solidFill>
            <a:srgbClr val="FFFFFF">
              <a:alpha val="4000"/>
            </a:srgbClr>
          </a:solidFill>
          <a:ln/>
        </p:spPr>
        <p:txBody>
          <a:bodyPr/>
          <a:lstStyle/>
          <a:p>
            <a:endParaRPr lang="en-US"/>
          </a:p>
        </p:txBody>
      </p:sp>
      <p:sp>
        <p:nvSpPr>
          <p:cNvPr id="86" name="Shape 84"/>
          <p:cNvSpPr/>
          <p:nvPr/>
        </p:nvSpPr>
        <p:spPr>
          <a:xfrm>
            <a:off x="533400" y="8610600"/>
            <a:ext cx="8947944" cy="12700"/>
          </a:xfrm>
          <a:prstGeom prst="rect">
            <a:avLst/>
          </a:prstGeom>
          <a:solidFill>
            <a:srgbClr val="FFFFFF">
              <a:alpha val="10000"/>
            </a:srgbClr>
          </a:solidFill>
          <a:ln/>
        </p:spPr>
        <p:txBody>
          <a:bodyPr/>
          <a:lstStyle/>
          <a:p>
            <a:endParaRPr lang="en-US"/>
          </a:p>
        </p:txBody>
      </p:sp>
      <p:sp>
        <p:nvSpPr>
          <p:cNvPr id="87" name="Shape 85"/>
          <p:cNvSpPr/>
          <p:nvPr/>
        </p:nvSpPr>
        <p:spPr>
          <a:xfrm>
            <a:off x="533400" y="7584281"/>
            <a:ext cx="8947944" cy="12700"/>
          </a:xfrm>
          <a:prstGeom prst="rect">
            <a:avLst/>
          </a:prstGeom>
          <a:solidFill>
            <a:srgbClr val="FFFFFF">
              <a:alpha val="10000"/>
            </a:srgbClr>
          </a:solidFill>
          <a:ln/>
        </p:spPr>
        <p:txBody>
          <a:bodyPr/>
          <a:lstStyle/>
          <a:p>
            <a:endParaRPr lang="en-US"/>
          </a:p>
        </p:txBody>
      </p:sp>
      <p:sp>
        <p:nvSpPr>
          <p:cNvPr id="88" name="Shape 86"/>
          <p:cNvSpPr/>
          <p:nvPr/>
        </p:nvSpPr>
        <p:spPr>
          <a:xfrm>
            <a:off x="533400" y="7584281"/>
            <a:ext cx="50800" cy="1039019"/>
          </a:xfrm>
          <a:prstGeom prst="rect">
            <a:avLst/>
          </a:prstGeom>
          <a:solidFill>
            <a:srgbClr val="F0584E"/>
          </a:solidFill>
          <a:ln/>
        </p:spPr>
        <p:txBody>
          <a:bodyPr/>
          <a:lstStyle/>
          <a:p>
            <a:endParaRPr lang="en-US"/>
          </a:p>
        </p:txBody>
      </p:sp>
      <p:sp>
        <p:nvSpPr>
          <p:cNvPr id="89" name="Shape 87"/>
          <p:cNvSpPr/>
          <p:nvPr/>
        </p:nvSpPr>
        <p:spPr>
          <a:xfrm>
            <a:off x="9468644" y="7584281"/>
            <a:ext cx="12700" cy="1039019"/>
          </a:xfrm>
          <a:prstGeom prst="rect">
            <a:avLst/>
          </a:prstGeom>
          <a:solidFill>
            <a:srgbClr val="FFFFFF">
              <a:alpha val="10000"/>
            </a:srgbClr>
          </a:solidFill>
          <a:ln/>
        </p:spPr>
        <p:txBody>
          <a:bodyPr/>
          <a:lstStyle/>
          <a:p>
            <a:endParaRPr lang="en-US"/>
          </a:p>
        </p:txBody>
      </p:sp>
      <p:sp>
        <p:nvSpPr>
          <p:cNvPr id="90" name="Text 88"/>
          <p:cNvSpPr/>
          <p:nvPr/>
        </p:nvSpPr>
        <p:spPr>
          <a:xfrm>
            <a:off x="793750" y="7964091"/>
            <a:ext cx="2672199" cy="317500"/>
          </a:xfrm>
          <a:prstGeom prst="rect">
            <a:avLst/>
          </a:prstGeom>
          <a:noFill/>
          <a:ln/>
        </p:spPr>
        <p:txBody>
          <a:bodyPr wrap="square" lIns="25400" tIns="25400" rIns="25400" bIns="25400" rtlCol="0" anchor="t">
            <a:normAutofit/>
          </a:bodyPr>
          <a:lstStyle/>
          <a:p>
            <a:pPr marL="0" indent="0" algn="l">
              <a:buNone/>
            </a:pPr>
            <a:r>
              <a:rPr lang="en-US" sz="1875" b="1" dirty="0">
                <a:solidFill>
                  <a:srgbClr val="F47E76"/>
                </a:solidFill>
                <a:latin typeface="Courier New" pitchFamily="34" charset="0"/>
                <a:ea typeface="Courier New" pitchFamily="34" charset="-122"/>
                <a:cs typeface="Courier New" pitchFamily="34" charset="-120"/>
              </a:rPr>
              <a:t>alerts.detections</a:t>
            </a:r>
            <a:endParaRPr lang="en-US" sz="1875" dirty="0"/>
          </a:p>
        </p:txBody>
      </p:sp>
      <p:sp>
        <p:nvSpPr>
          <p:cNvPr id="91" name="Text 89"/>
          <p:cNvSpPr/>
          <p:nvPr/>
        </p:nvSpPr>
        <p:spPr>
          <a:xfrm>
            <a:off x="7804547" y="7989491"/>
            <a:ext cx="1600002" cy="266700"/>
          </a:xfrm>
          <a:prstGeom prst="rect">
            <a:avLst/>
          </a:prstGeom>
          <a:noFill/>
          <a:ln/>
        </p:spPr>
        <p:txBody>
          <a:bodyPr wrap="square" lIns="25400" tIns="25400" rIns="25400" bIns="25400" rtlCol="0" anchor="t">
            <a:normAutofit/>
          </a:bodyPr>
          <a:lstStyle/>
          <a:p>
            <a:pPr marL="0" indent="0" algn="l">
              <a:buNone/>
            </a:pPr>
            <a:r>
              <a:rPr lang="en-US" sz="1575" dirty="0">
                <a:solidFill>
                  <a:srgbClr val="9DB2C9"/>
                </a:solidFill>
                <a:latin typeface="Arial" pitchFamily="34" charset="0"/>
                <a:ea typeface="Arial" pitchFamily="34" charset="-122"/>
                <a:cs typeface="Arial" pitchFamily="34" charset="-120"/>
              </a:rPr>
              <a:t>Rule + ML alerts</a:t>
            </a:r>
            <a:endParaRPr lang="en-US" sz="1575" dirty="0"/>
          </a:p>
        </p:txBody>
      </p:sp>
      <p:sp>
        <p:nvSpPr>
          <p:cNvPr id="92" name="Shape 90"/>
          <p:cNvSpPr/>
          <p:nvPr/>
        </p:nvSpPr>
        <p:spPr>
          <a:xfrm>
            <a:off x="9728994" y="3619500"/>
            <a:ext cx="8025607" cy="5003800"/>
          </a:xfrm>
          <a:prstGeom prst="roundRect">
            <a:avLst>
              <a:gd name="adj" fmla="val 2284"/>
            </a:avLst>
          </a:prstGeom>
          <a:solidFill>
            <a:srgbClr val="FFFFFF"/>
          </a:solidFill>
          <a:ln w="12700">
            <a:solidFill>
              <a:srgbClr val="FFFFFF">
                <a:alpha val="14000"/>
              </a:srgbClr>
            </a:solidFill>
            <a:prstDash val="solid"/>
          </a:ln>
        </p:spPr>
        <p:txBody>
          <a:bodyPr/>
          <a:lstStyle/>
          <a:p>
            <a:endParaRPr lang="en-US"/>
          </a:p>
        </p:txBody>
      </p:sp>
      <p:pic>
        <p:nvPicPr>
          <p:cNvPr id="93" name="Image 0" descr="preencoded.png"/>
          <p:cNvPicPr>
            <a:picLocks noChangeAspect="1"/>
          </p:cNvPicPr>
          <p:nvPr/>
        </p:nvPicPr>
        <p:blipFill>
          <a:blip r:embed="rId3"/>
          <a:srcRect l="-1" r="-1"/>
          <a:stretch/>
        </p:blipFill>
        <p:spPr>
          <a:xfrm>
            <a:off x="11537554" y="3784600"/>
            <a:ext cx="4408488" cy="4673402"/>
          </a:xfrm>
          <a:prstGeom prst="rect">
            <a:avLst/>
          </a:prstGeom>
        </p:spPr>
      </p:pic>
      <p:sp>
        <p:nvSpPr>
          <p:cNvPr id="94" name="Shape 91"/>
          <p:cNvSpPr/>
          <p:nvPr/>
        </p:nvSpPr>
        <p:spPr>
          <a:xfrm>
            <a:off x="533400" y="8813800"/>
            <a:ext cx="17221200" cy="774700"/>
          </a:xfrm>
          <a:prstGeom prst="roundRect">
            <a:avLst>
              <a:gd name="adj" fmla="val 14754"/>
            </a:avLst>
          </a:prstGeom>
          <a:gradFill rotWithShape="1">
            <a:gsLst>
              <a:gs pos="0">
                <a:srgbClr val="9B7BE0">
                  <a:alpha val="16000"/>
                </a:srgbClr>
              </a:gs>
              <a:gs pos="100000">
                <a:srgbClr val="FFFFFF">
                  <a:alpha val="3000"/>
                </a:srgbClr>
              </a:gs>
            </a:gsLst>
            <a:lin ang="0" scaled="0"/>
          </a:gradFill>
          <a:ln w="12700">
            <a:solidFill>
              <a:srgbClr val="FFFFFF">
                <a:alpha val="10000"/>
              </a:srgbClr>
            </a:solidFill>
            <a:prstDash val="solid"/>
          </a:ln>
        </p:spPr>
        <p:txBody>
          <a:bodyPr/>
          <a:lstStyle/>
          <a:p>
            <a:endParaRPr lang="en-US"/>
          </a:p>
        </p:txBody>
      </p:sp>
      <p:sp>
        <p:nvSpPr>
          <p:cNvPr id="95" name="Text 92"/>
          <p:cNvSpPr/>
          <p:nvPr/>
        </p:nvSpPr>
        <p:spPr>
          <a:xfrm>
            <a:off x="812800" y="9061450"/>
            <a:ext cx="1593235" cy="317500"/>
          </a:xfrm>
          <a:prstGeom prst="rect">
            <a:avLst/>
          </a:prstGeom>
          <a:noFill/>
          <a:ln/>
        </p:spPr>
        <p:txBody>
          <a:bodyPr wrap="square" lIns="25400" tIns="25400" rIns="25400" bIns="25400" rtlCol="0" anchor="t">
            <a:normAutofit/>
          </a:bodyPr>
          <a:lstStyle/>
          <a:p>
            <a:pPr marL="0" indent="0" algn="l">
              <a:buNone/>
            </a:pPr>
            <a:r>
              <a:rPr lang="en-US" sz="1500" b="1" kern="0" spc="113" dirty="0">
                <a:solidFill>
                  <a:srgbClr val="B79CEA"/>
                </a:solidFill>
                <a:latin typeface="Arial" pitchFamily="34" charset="0"/>
                <a:ea typeface="Arial" pitchFamily="34" charset="-122"/>
                <a:cs typeface="Arial" pitchFamily="34" charset="-120"/>
              </a:rPr>
              <a:t>END-TO-END</a:t>
            </a:r>
            <a:endParaRPr lang="en-US" sz="1500" dirty="0"/>
          </a:p>
        </p:txBody>
      </p:sp>
      <p:sp>
        <p:nvSpPr>
          <p:cNvPr id="96" name="Text 93"/>
          <p:cNvSpPr/>
          <p:nvPr/>
        </p:nvSpPr>
        <p:spPr>
          <a:xfrm>
            <a:off x="2432645" y="9080500"/>
            <a:ext cx="7588111" cy="279400"/>
          </a:xfrm>
          <a:prstGeom prst="rect">
            <a:avLst/>
          </a:prstGeom>
          <a:noFill/>
          <a:ln/>
        </p:spPr>
        <p:txBody>
          <a:bodyPr wrap="square" lIns="25400" tIns="25400" rIns="25400" bIns="25400" rtlCol="0" anchor="t">
            <a:normAutofit/>
          </a:bodyPr>
          <a:lstStyle/>
          <a:p>
            <a:pPr marL="0" indent="0" algn="l">
              <a:buNone/>
            </a:pPr>
            <a:r>
              <a:rPr lang="en-US" sz="1650" dirty="0">
                <a:solidFill>
                  <a:srgbClr val="D2DEEB"/>
                </a:solidFill>
                <a:latin typeface="Arial" pitchFamily="34" charset="0"/>
                <a:ea typeface="Arial" pitchFamily="34" charset="-122"/>
                <a:cs typeface="Arial" pitchFamily="34" charset="-120"/>
              </a:rPr>
              <a:t>Input → Game Server → Kafka → ML → Alerts → Prometheus → Grafana</a:t>
            </a:r>
            <a:endParaRPr lang="en-US" sz="1650" dirty="0"/>
          </a:p>
        </p:txBody>
      </p:sp>
      <p:sp>
        <p:nvSpPr>
          <p:cNvPr id="97" name="Shape 94"/>
          <p:cNvSpPr/>
          <p:nvPr/>
        </p:nvSpPr>
        <p:spPr>
          <a:xfrm>
            <a:off x="15721410" y="8978900"/>
            <a:ext cx="1753791" cy="444500"/>
          </a:xfrm>
          <a:prstGeom prst="roundRect">
            <a:avLst>
              <a:gd name="adj" fmla="val 17143"/>
            </a:avLst>
          </a:prstGeom>
          <a:solidFill>
            <a:srgbClr val="34C27E"/>
          </a:solidFill>
          <a:ln/>
          <a:effectLst>
            <a:outerShdw blurRad="209550" dist="50800" dir="16200000" algn="bl" rotWithShape="0">
              <a:srgbClr val="34C27E">
                <a:alpha val="45000"/>
              </a:srgbClr>
            </a:outerShdw>
          </a:effectLst>
        </p:spPr>
        <p:txBody>
          <a:bodyPr/>
          <a:lstStyle/>
          <a:p>
            <a:endParaRPr lang="en-US"/>
          </a:p>
        </p:txBody>
      </p:sp>
      <p:sp>
        <p:nvSpPr>
          <p:cNvPr id="98" name="Text 95"/>
          <p:cNvSpPr/>
          <p:nvPr/>
        </p:nvSpPr>
        <p:spPr>
          <a:xfrm>
            <a:off x="15911910" y="9055100"/>
            <a:ext cx="1448991" cy="330200"/>
          </a:xfrm>
          <a:prstGeom prst="rect">
            <a:avLst/>
          </a:prstGeom>
          <a:noFill/>
          <a:ln/>
        </p:spPr>
        <p:txBody>
          <a:bodyPr wrap="square" lIns="25400" tIns="25400" rIns="25400" bIns="25400" rtlCol="0" anchor="t">
            <a:normAutofit/>
          </a:bodyPr>
          <a:lstStyle/>
          <a:p>
            <a:pPr marL="0" indent="0" algn="l">
              <a:buNone/>
            </a:pPr>
            <a:r>
              <a:rPr lang="en-US" sz="1650" b="1" dirty="0">
                <a:solidFill>
                  <a:srgbClr val="06101F"/>
                </a:solidFill>
                <a:latin typeface="Arial" pitchFamily="34" charset="0"/>
                <a:ea typeface="Arial" pitchFamily="34" charset="-122"/>
                <a:cs typeface="Arial" pitchFamily="34" charset="-120"/>
              </a:rPr>
              <a:t>≤ 5 seconds</a:t>
            </a:r>
            <a:endParaRPr lang="en-US" sz="1650" dirty="0"/>
          </a:p>
        </p:txBody>
      </p:sp>
      <p:sp>
        <p:nvSpPr>
          <p:cNvPr id="99" name="Shape 96"/>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100" name="Text 97"/>
          <p:cNvSpPr/>
          <p:nvPr/>
        </p:nvSpPr>
        <p:spPr>
          <a:xfrm>
            <a:off x="5334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101" name="Text 98"/>
          <p:cNvSpPr/>
          <p:nvPr/>
        </p:nvSpPr>
        <p:spPr>
          <a:xfrm>
            <a:off x="172593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03 / 18</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533400" y="411163"/>
            <a:ext cx="104775" cy="104775"/>
          </a:xfrm>
          <a:prstGeom prst="roundRect">
            <a:avLst>
              <a:gd name="adj" fmla="val 18182"/>
            </a:avLst>
          </a:prstGeom>
          <a:solidFill>
            <a:srgbClr val="F2A33C"/>
          </a:solidFill>
          <a:ln/>
          <a:effectLst>
            <a:outerShdw blurRad="133350" dist="50800" dir="16200000" algn="bl" rotWithShape="0">
              <a:srgbClr val="F2A33C">
                <a:alpha val="100000"/>
              </a:srgbClr>
            </a:outerShdw>
          </a:effectLst>
        </p:spPr>
        <p:txBody>
          <a:bodyPr/>
          <a:lstStyle/>
          <a:p>
            <a:endParaRPr lang="en-US"/>
          </a:p>
        </p:txBody>
      </p:sp>
      <p:sp>
        <p:nvSpPr>
          <p:cNvPr id="4" name="Text 2"/>
          <p:cNvSpPr/>
          <p:nvPr/>
        </p:nvSpPr>
        <p:spPr>
          <a:xfrm>
            <a:off x="752475" y="323850"/>
            <a:ext cx="2232144"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F4B463"/>
                </a:solidFill>
                <a:latin typeface="Arial" pitchFamily="34" charset="0"/>
                <a:ea typeface="Arial" pitchFamily="34" charset="-122"/>
                <a:cs typeface="Arial" pitchFamily="34" charset="-120"/>
              </a:rPr>
              <a:t>DATA PIPELINE</a:t>
            </a:r>
            <a:endParaRPr lang="en-US" sz="1500" dirty="0"/>
          </a:p>
        </p:txBody>
      </p:sp>
      <p:sp>
        <p:nvSpPr>
          <p:cNvPr id="5" name="Text 3"/>
          <p:cNvSpPr/>
          <p:nvPr/>
        </p:nvSpPr>
        <p:spPr>
          <a:xfrm>
            <a:off x="533400" y="708025"/>
            <a:ext cx="11041539"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Data Pipeline &amp; Feature Engineering</a:t>
            </a:r>
            <a:endParaRPr lang="en-US" sz="4050" dirty="0"/>
          </a:p>
        </p:txBody>
      </p:sp>
      <p:sp>
        <p:nvSpPr>
          <p:cNvPr id="6" name="Text 4"/>
          <p:cNvSpPr/>
          <p:nvPr/>
        </p:nvSpPr>
        <p:spPr>
          <a:xfrm>
            <a:off x="159629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04</a:t>
            </a:r>
            <a:endParaRPr lang="en-US" sz="11250" dirty="0"/>
          </a:p>
        </p:txBody>
      </p:sp>
      <p:sp>
        <p:nvSpPr>
          <p:cNvPr id="7" name="Shape 5"/>
          <p:cNvSpPr/>
          <p:nvPr/>
        </p:nvSpPr>
        <p:spPr>
          <a:xfrm>
            <a:off x="533400" y="1504950"/>
            <a:ext cx="17221200" cy="19050"/>
          </a:xfrm>
          <a:prstGeom prst="rect">
            <a:avLst/>
          </a:prstGeom>
          <a:gradFill rotWithShape="1">
            <a:gsLst>
              <a:gs pos="0">
                <a:srgbClr val="F2A33C">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Shape 6"/>
          <p:cNvSpPr/>
          <p:nvPr/>
        </p:nvSpPr>
        <p:spPr>
          <a:xfrm>
            <a:off x="533400" y="1752600"/>
            <a:ext cx="8864600" cy="6273800"/>
          </a:xfrm>
          <a:prstGeom prst="roundRect">
            <a:avLst>
              <a:gd name="adj" fmla="val 1822"/>
            </a:avLst>
          </a:prstGeom>
          <a:solidFill>
            <a:srgbClr val="FFFFFF"/>
          </a:solidFill>
          <a:ln w="12700">
            <a:solidFill>
              <a:srgbClr val="FFFFFF">
                <a:alpha val="14000"/>
              </a:srgbClr>
            </a:solidFill>
            <a:prstDash val="solid"/>
          </a:ln>
        </p:spPr>
        <p:txBody>
          <a:bodyPr/>
          <a:lstStyle/>
          <a:p>
            <a:endParaRPr lang="en-US"/>
          </a:p>
        </p:txBody>
      </p:sp>
      <p:pic>
        <p:nvPicPr>
          <p:cNvPr id="9" name="Image 0" descr="preencoded.png"/>
          <p:cNvPicPr>
            <a:picLocks noChangeAspect="1"/>
          </p:cNvPicPr>
          <p:nvPr/>
        </p:nvPicPr>
        <p:blipFill>
          <a:blip r:embed="rId3"/>
          <a:srcRect l="-1" r="-1"/>
          <a:stretch/>
        </p:blipFill>
        <p:spPr>
          <a:xfrm>
            <a:off x="726480" y="1917700"/>
            <a:ext cx="8478242" cy="5943402"/>
          </a:xfrm>
          <a:prstGeom prst="rect">
            <a:avLst/>
          </a:prstGeom>
        </p:spPr>
      </p:pic>
      <p:sp>
        <p:nvSpPr>
          <p:cNvPr id="10" name="Shape 7"/>
          <p:cNvSpPr/>
          <p:nvPr/>
        </p:nvSpPr>
        <p:spPr>
          <a:xfrm>
            <a:off x="9626600" y="1752600"/>
            <a:ext cx="8128000" cy="3060700"/>
          </a:xfrm>
          <a:prstGeom prst="roundRect">
            <a:avLst>
              <a:gd name="adj" fmla="val 3734"/>
            </a:avLst>
          </a:prstGeom>
          <a:solidFill>
            <a:srgbClr val="FFFFFF">
              <a:alpha val="4000"/>
            </a:srgbClr>
          </a:solidFill>
          <a:ln w="12700">
            <a:solidFill>
              <a:srgbClr val="FFFFFF">
                <a:alpha val="10000"/>
              </a:srgbClr>
            </a:solidFill>
            <a:prstDash val="solid"/>
          </a:ln>
        </p:spPr>
        <p:txBody>
          <a:bodyPr/>
          <a:lstStyle/>
          <a:p>
            <a:endParaRPr lang="en-US"/>
          </a:p>
        </p:txBody>
      </p:sp>
      <p:sp>
        <p:nvSpPr>
          <p:cNvPr id="11" name="Text 8"/>
          <p:cNvSpPr/>
          <p:nvPr/>
        </p:nvSpPr>
        <p:spPr>
          <a:xfrm>
            <a:off x="9886950" y="1955800"/>
            <a:ext cx="8368030" cy="381000"/>
          </a:xfrm>
          <a:prstGeom prst="rect">
            <a:avLst/>
          </a:prstGeom>
          <a:noFill/>
          <a:ln/>
        </p:spPr>
        <p:txBody>
          <a:bodyPr wrap="square" lIns="25400" tIns="25400" rIns="25400" bIns="25400" rtlCol="0" anchor="t">
            <a:normAutofit/>
          </a:bodyPr>
          <a:lstStyle/>
          <a:p>
            <a:pPr marL="0" indent="0" algn="l">
              <a:buNone/>
            </a:pPr>
            <a:r>
              <a:rPr lang="en-US" sz="1950" b="1" dirty="0">
                <a:solidFill>
                  <a:srgbClr val="6FB3F2"/>
                </a:solidFill>
                <a:latin typeface="Arial" pitchFamily="34" charset="0"/>
                <a:ea typeface="Arial" pitchFamily="34" charset="-122"/>
                <a:cs typeface="Arial" pitchFamily="34" charset="-120"/>
              </a:rPr>
              <a:t>Telemetry Generation · 60Hz</a:t>
            </a:r>
            <a:endParaRPr lang="en-US" sz="1950" dirty="0"/>
          </a:p>
        </p:txBody>
      </p:sp>
      <p:sp>
        <p:nvSpPr>
          <p:cNvPr id="12" name="Shape 9"/>
          <p:cNvSpPr/>
          <p:nvPr/>
        </p:nvSpPr>
        <p:spPr>
          <a:xfrm>
            <a:off x="9886950" y="2489200"/>
            <a:ext cx="76200" cy="76200"/>
          </a:xfrm>
          <a:prstGeom prst="roundRect">
            <a:avLst>
              <a:gd name="adj" fmla="val 25000"/>
            </a:avLst>
          </a:prstGeom>
          <a:solidFill>
            <a:srgbClr val="3B8EE6"/>
          </a:solidFill>
          <a:ln/>
        </p:spPr>
        <p:txBody>
          <a:bodyPr/>
          <a:lstStyle/>
          <a:p>
            <a:endParaRPr lang="en-US"/>
          </a:p>
        </p:txBody>
      </p:sp>
      <p:sp>
        <p:nvSpPr>
          <p:cNvPr id="13" name="Text 10"/>
          <p:cNvSpPr/>
          <p:nvPr/>
        </p:nvSpPr>
        <p:spPr>
          <a:xfrm>
            <a:off x="10077450" y="2403475"/>
            <a:ext cx="5193348"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Player sends raw input (keys, mouse) via WebSocket</a:t>
            </a:r>
            <a:endParaRPr lang="en-US" sz="1575" dirty="0"/>
          </a:p>
        </p:txBody>
      </p:sp>
      <p:sp>
        <p:nvSpPr>
          <p:cNvPr id="14" name="Shape 11"/>
          <p:cNvSpPr/>
          <p:nvPr/>
        </p:nvSpPr>
        <p:spPr>
          <a:xfrm>
            <a:off x="9886950" y="2834878"/>
            <a:ext cx="76200" cy="76200"/>
          </a:xfrm>
          <a:prstGeom prst="roundRect">
            <a:avLst>
              <a:gd name="adj" fmla="val 25000"/>
            </a:avLst>
          </a:prstGeom>
          <a:solidFill>
            <a:srgbClr val="3B8EE6"/>
          </a:solidFill>
          <a:ln/>
        </p:spPr>
        <p:txBody>
          <a:bodyPr/>
          <a:lstStyle/>
          <a:p>
            <a:endParaRPr lang="en-US"/>
          </a:p>
        </p:txBody>
      </p:sp>
      <p:sp>
        <p:nvSpPr>
          <p:cNvPr id="15" name="Text 12"/>
          <p:cNvSpPr/>
          <p:nvPr/>
        </p:nvSpPr>
        <p:spPr>
          <a:xfrm>
            <a:off x="10077450" y="2749153"/>
            <a:ext cx="5108000"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Server computes position, velocity, aim, hit detection</a:t>
            </a:r>
            <a:endParaRPr lang="en-US" sz="1575" dirty="0"/>
          </a:p>
        </p:txBody>
      </p:sp>
      <p:sp>
        <p:nvSpPr>
          <p:cNvPr id="16" name="Shape 13"/>
          <p:cNvSpPr/>
          <p:nvPr/>
        </p:nvSpPr>
        <p:spPr>
          <a:xfrm>
            <a:off x="9886950" y="3180556"/>
            <a:ext cx="76200" cy="76200"/>
          </a:xfrm>
          <a:prstGeom prst="roundRect">
            <a:avLst>
              <a:gd name="adj" fmla="val 25000"/>
            </a:avLst>
          </a:prstGeom>
          <a:solidFill>
            <a:srgbClr val="3B8EE6"/>
          </a:solidFill>
          <a:ln/>
        </p:spPr>
        <p:txBody>
          <a:bodyPr/>
          <a:lstStyle/>
          <a:p>
            <a:endParaRPr lang="en-US"/>
          </a:p>
        </p:txBody>
      </p:sp>
      <p:sp>
        <p:nvSpPr>
          <p:cNvPr id="17" name="Text 14"/>
          <p:cNvSpPr/>
          <p:nvPr/>
        </p:nvSpPr>
        <p:spPr>
          <a:xfrm>
            <a:off x="10077450" y="3094831"/>
            <a:ext cx="5137031"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Spatial context: nearest-enemy distance, angle, LOS</a:t>
            </a:r>
            <a:endParaRPr lang="en-US" sz="1575" dirty="0"/>
          </a:p>
        </p:txBody>
      </p:sp>
      <p:sp>
        <p:nvSpPr>
          <p:cNvPr id="18" name="Shape 15"/>
          <p:cNvSpPr/>
          <p:nvPr/>
        </p:nvSpPr>
        <p:spPr>
          <a:xfrm>
            <a:off x="9886950" y="3526234"/>
            <a:ext cx="76200" cy="76200"/>
          </a:xfrm>
          <a:prstGeom prst="roundRect">
            <a:avLst>
              <a:gd name="adj" fmla="val 25000"/>
            </a:avLst>
          </a:prstGeom>
          <a:solidFill>
            <a:srgbClr val="3B8EE6"/>
          </a:solidFill>
          <a:ln/>
        </p:spPr>
        <p:txBody>
          <a:bodyPr/>
          <a:lstStyle/>
          <a:p>
            <a:endParaRPr lang="en-US"/>
          </a:p>
        </p:txBody>
      </p:sp>
      <p:sp>
        <p:nvSpPr>
          <p:cNvPr id="19" name="Text 16"/>
          <p:cNvSpPr/>
          <p:nvPr/>
        </p:nvSpPr>
        <p:spPr>
          <a:xfrm>
            <a:off x="10077450" y="3440509"/>
            <a:ext cx="3950018"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18 raw fields per player per tick → Kafka</a:t>
            </a:r>
            <a:endParaRPr lang="en-US" sz="1575" dirty="0"/>
          </a:p>
        </p:txBody>
      </p:sp>
      <p:sp>
        <p:nvSpPr>
          <p:cNvPr id="20" name="Shape 17"/>
          <p:cNvSpPr/>
          <p:nvPr/>
        </p:nvSpPr>
        <p:spPr>
          <a:xfrm>
            <a:off x="9626600" y="4965700"/>
            <a:ext cx="8128000" cy="3060700"/>
          </a:xfrm>
          <a:prstGeom prst="roundRect">
            <a:avLst>
              <a:gd name="adj" fmla="val 3734"/>
            </a:avLst>
          </a:prstGeom>
          <a:solidFill>
            <a:srgbClr val="FFFFFF">
              <a:alpha val="4000"/>
            </a:srgbClr>
          </a:solidFill>
          <a:ln w="12700">
            <a:solidFill>
              <a:srgbClr val="FFFFFF">
                <a:alpha val="10000"/>
              </a:srgbClr>
            </a:solidFill>
            <a:prstDash val="solid"/>
          </a:ln>
        </p:spPr>
        <p:txBody>
          <a:bodyPr/>
          <a:lstStyle/>
          <a:p>
            <a:endParaRPr lang="en-US"/>
          </a:p>
        </p:txBody>
      </p:sp>
      <p:sp>
        <p:nvSpPr>
          <p:cNvPr id="21" name="Text 18"/>
          <p:cNvSpPr/>
          <p:nvPr/>
        </p:nvSpPr>
        <p:spPr>
          <a:xfrm>
            <a:off x="9886950" y="5168900"/>
            <a:ext cx="8368030" cy="381000"/>
          </a:xfrm>
          <a:prstGeom prst="rect">
            <a:avLst/>
          </a:prstGeom>
          <a:noFill/>
          <a:ln/>
        </p:spPr>
        <p:txBody>
          <a:bodyPr wrap="square" lIns="25400" tIns="25400" rIns="25400" bIns="25400" rtlCol="0" anchor="t">
            <a:normAutofit/>
          </a:bodyPr>
          <a:lstStyle/>
          <a:p>
            <a:pPr marL="0" indent="0" algn="l">
              <a:buNone/>
            </a:pPr>
            <a:r>
              <a:rPr lang="en-US" sz="1950" b="1" dirty="0">
                <a:solidFill>
                  <a:srgbClr val="F4B463"/>
                </a:solidFill>
                <a:latin typeface="Arial" pitchFamily="34" charset="0"/>
                <a:ea typeface="Arial" pitchFamily="34" charset="-122"/>
                <a:cs typeface="Arial" pitchFamily="34" charset="-120"/>
              </a:rPr>
              <a:t>Feature Engineering · Go</a:t>
            </a:r>
            <a:endParaRPr lang="en-US" sz="1950" dirty="0"/>
          </a:p>
        </p:txBody>
      </p:sp>
      <p:sp>
        <p:nvSpPr>
          <p:cNvPr id="22" name="Shape 19"/>
          <p:cNvSpPr/>
          <p:nvPr/>
        </p:nvSpPr>
        <p:spPr>
          <a:xfrm>
            <a:off x="9886950" y="5702300"/>
            <a:ext cx="76200" cy="76200"/>
          </a:xfrm>
          <a:prstGeom prst="roundRect">
            <a:avLst>
              <a:gd name="adj" fmla="val 25000"/>
            </a:avLst>
          </a:prstGeom>
          <a:solidFill>
            <a:srgbClr val="F2A33C"/>
          </a:solidFill>
          <a:ln/>
        </p:spPr>
        <p:txBody>
          <a:bodyPr/>
          <a:lstStyle/>
          <a:p>
            <a:endParaRPr lang="en-US"/>
          </a:p>
        </p:txBody>
      </p:sp>
      <p:sp>
        <p:nvSpPr>
          <p:cNvPr id="23" name="Text 20"/>
          <p:cNvSpPr/>
          <p:nvPr/>
        </p:nvSpPr>
        <p:spPr>
          <a:xfrm>
            <a:off x="10077450" y="5616575"/>
            <a:ext cx="5124152"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3 sliding windows: 1s (60), 5s (300), 30s (1800 ticks)</a:t>
            </a:r>
            <a:endParaRPr lang="en-US" sz="1575" dirty="0"/>
          </a:p>
        </p:txBody>
      </p:sp>
      <p:sp>
        <p:nvSpPr>
          <p:cNvPr id="24" name="Shape 21"/>
          <p:cNvSpPr/>
          <p:nvPr/>
        </p:nvSpPr>
        <p:spPr>
          <a:xfrm>
            <a:off x="9886950" y="6047979"/>
            <a:ext cx="76200" cy="76200"/>
          </a:xfrm>
          <a:prstGeom prst="roundRect">
            <a:avLst>
              <a:gd name="adj" fmla="val 25000"/>
            </a:avLst>
          </a:prstGeom>
          <a:solidFill>
            <a:srgbClr val="F2A33C"/>
          </a:solidFill>
          <a:ln/>
        </p:spPr>
        <p:txBody>
          <a:bodyPr/>
          <a:lstStyle/>
          <a:p>
            <a:endParaRPr lang="en-US"/>
          </a:p>
        </p:txBody>
      </p:sp>
      <p:sp>
        <p:nvSpPr>
          <p:cNvPr id="25" name="Text 22"/>
          <p:cNvSpPr/>
          <p:nvPr/>
        </p:nvSpPr>
        <p:spPr>
          <a:xfrm>
            <a:off x="10077450" y="5962254"/>
            <a:ext cx="5319733"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18 features: aim dynamics, combat, movement, spatial</a:t>
            </a:r>
            <a:endParaRPr lang="en-US" sz="1575" dirty="0"/>
          </a:p>
        </p:txBody>
      </p:sp>
      <p:sp>
        <p:nvSpPr>
          <p:cNvPr id="26" name="Shape 23"/>
          <p:cNvSpPr/>
          <p:nvPr/>
        </p:nvSpPr>
        <p:spPr>
          <a:xfrm>
            <a:off x="9886950" y="6393656"/>
            <a:ext cx="76200" cy="76200"/>
          </a:xfrm>
          <a:prstGeom prst="roundRect">
            <a:avLst>
              <a:gd name="adj" fmla="val 25000"/>
            </a:avLst>
          </a:prstGeom>
          <a:solidFill>
            <a:srgbClr val="F2A33C"/>
          </a:solidFill>
          <a:ln/>
        </p:spPr>
        <p:txBody>
          <a:bodyPr/>
          <a:lstStyle/>
          <a:p>
            <a:endParaRPr lang="en-US"/>
          </a:p>
        </p:txBody>
      </p:sp>
      <p:sp>
        <p:nvSpPr>
          <p:cNvPr id="27" name="Text 24"/>
          <p:cNvSpPr/>
          <p:nvPr/>
        </p:nvSpPr>
        <p:spPr>
          <a:xfrm>
            <a:off x="10077450" y="6307931"/>
            <a:ext cx="4619268"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Ring buffer per player · 60s cleanup for inactive</a:t>
            </a:r>
            <a:endParaRPr lang="en-US" sz="1575" dirty="0"/>
          </a:p>
        </p:txBody>
      </p:sp>
      <p:sp>
        <p:nvSpPr>
          <p:cNvPr id="28" name="Shape 25"/>
          <p:cNvSpPr/>
          <p:nvPr/>
        </p:nvSpPr>
        <p:spPr>
          <a:xfrm>
            <a:off x="9886950" y="6739335"/>
            <a:ext cx="76200" cy="76200"/>
          </a:xfrm>
          <a:prstGeom prst="roundRect">
            <a:avLst>
              <a:gd name="adj" fmla="val 25000"/>
            </a:avLst>
          </a:prstGeom>
          <a:solidFill>
            <a:srgbClr val="F2A33C"/>
          </a:solidFill>
          <a:ln/>
        </p:spPr>
        <p:txBody>
          <a:bodyPr/>
          <a:lstStyle/>
          <a:p>
            <a:endParaRPr lang="en-US"/>
          </a:p>
        </p:txBody>
      </p:sp>
      <p:sp>
        <p:nvSpPr>
          <p:cNvPr id="29" name="Text 26"/>
          <p:cNvSpPr/>
          <p:nvPr/>
        </p:nvSpPr>
        <p:spPr>
          <a:xfrm>
            <a:off x="10077450" y="6653610"/>
            <a:ext cx="3905270"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Feature vectors sent to ML on every tick</a:t>
            </a:r>
            <a:endParaRPr lang="en-US" sz="1575" dirty="0"/>
          </a:p>
        </p:txBody>
      </p:sp>
      <p:sp>
        <p:nvSpPr>
          <p:cNvPr id="30" name="Text 27"/>
          <p:cNvSpPr/>
          <p:nvPr/>
        </p:nvSpPr>
        <p:spPr>
          <a:xfrm>
            <a:off x="533400" y="8197850"/>
            <a:ext cx="18943320"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FFFFFF"/>
                </a:solidFill>
                <a:latin typeface="Arial" pitchFamily="34" charset="0"/>
                <a:ea typeface="Arial" pitchFamily="34" charset="-122"/>
                <a:cs typeface="Arial" pitchFamily="34" charset="-120"/>
              </a:rPr>
              <a:t>Cheat Simulation · Server-Side</a:t>
            </a:r>
            <a:endParaRPr lang="en-US" sz="1875" dirty="0"/>
          </a:p>
        </p:txBody>
      </p:sp>
      <p:sp>
        <p:nvSpPr>
          <p:cNvPr id="31" name="Shape 28"/>
          <p:cNvSpPr/>
          <p:nvPr/>
        </p:nvSpPr>
        <p:spPr>
          <a:xfrm>
            <a:off x="533400" y="8664575"/>
            <a:ext cx="4191000" cy="923925"/>
          </a:xfrm>
          <a:prstGeom prst="roundRect">
            <a:avLst>
              <a:gd name="adj" fmla="val 10309"/>
            </a:avLst>
          </a:prstGeom>
          <a:solidFill>
            <a:srgbClr val="FFFFFF">
              <a:alpha val="4000"/>
            </a:srgbClr>
          </a:solidFill>
          <a:ln/>
        </p:spPr>
        <p:txBody>
          <a:bodyPr/>
          <a:lstStyle/>
          <a:p>
            <a:endParaRPr lang="en-US"/>
          </a:p>
        </p:txBody>
      </p:sp>
      <p:sp>
        <p:nvSpPr>
          <p:cNvPr id="32" name="Shape 29"/>
          <p:cNvSpPr/>
          <p:nvPr/>
        </p:nvSpPr>
        <p:spPr>
          <a:xfrm>
            <a:off x="533400" y="9575800"/>
            <a:ext cx="4191000" cy="12700"/>
          </a:xfrm>
          <a:prstGeom prst="rect">
            <a:avLst/>
          </a:prstGeom>
          <a:solidFill>
            <a:srgbClr val="FFFFFF">
              <a:alpha val="10000"/>
            </a:srgbClr>
          </a:solidFill>
          <a:ln/>
        </p:spPr>
        <p:txBody>
          <a:bodyPr/>
          <a:lstStyle/>
          <a:p>
            <a:endParaRPr lang="en-US"/>
          </a:p>
        </p:txBody>
      </p:sp>
      <p:sp>
        <p:nvSpPr>
          <p:cNvPr id="33" name="Shape 30"/>
          <p:cNvSpPr/>
          <p:nvPr/>
        </p:nvSpPr>
        <p:spPr>
          <a:xfrm>
            <a:off x="533400" y="8664575"/>
            <a:ext cx="4191000" cy="38100"/>
          </a:xfrm>
          <a:prstGeom prst="rect">
            <a:avLst/>
          </a:prstGeom>
          <a:solidFill>
            <a:srgbClr val="F2A33C"/>
          </a:solidFill>
          <a:ln/>
        </p:spPr>
        <p:txBody>
          <a:bodyPr/>
          <a:lstStyle/>
          <a:p>
            <a:endParaRPr lang="en-US"/>
          </a:p>
        </p:txBody>
      </p:sp>
      <p:sp>
        <p:nvSpPr>
          <p:cNvPr id="34" name="Shape 31"/>
          <p:cNvSpPr/>
          <p:nvPr/>
        </p:nvSpPr>
        <p:spPr>
          <a:xfrm>
            <a:off x="533400" y="8664575"/>
            <a:ext cx="12700" cy="923925"/>
          </a:xfrm>
          <a:prstGeom prst="rect">
            <a:avLst/>
          </a:prstGeom>
          <a:solidFill>
            <a:srgbClr val="FFFFFF">
              <a:alpha val="10000"/>
            </a:srgbClr>
          </a:solidFill>
          <a:ln/>
        </p:spPr>
        <p:txBody>
          <a:bodyPr/>
          <a:lstStyle/>
          <a:p>
            <a:endParaRPr lang="en-US"/>
          </a:p>
        </p:txBody>
      </p:sp>
      <p:sp>
        <p:nvSpPr>
          <p:cNvPr id="35" name="Shape 32"/>
          <p:cNvSpPr/>
          <p:nvPr/>
        </p:nvSpPr>
        <p:spPr>
          <a:xfrm>
            <a:off x="4711700" y="8664575"/>
            <a:ext cx="12700" cy="923925"/>
          </a:xfrm>
          <a:prstGeom prst="rect">
            <a:avLst/>
          </a:prstGeom>
          <a:solidFill>
            <a:srgbClr val="FFFFFF">
              <a:alpha val="10000"/>
            </a:srgbClr>
          </a:solidFill>
          <a:ln/>
        </p:spPr>
        <p:txBody>
          <a:bodyPr/>
          <a:lstStyle/>
          <a:p>
            <a:endParaRPr lang="en-US"/>
          </a:p>
        </p:txBody>
      </p:sp>
      <p:sp>
        <p:nvSpPr>
          <p:cNvPr id="36" name="Text 33"/>
          <p:cNvSpPr/>
          <p:nvPr/>
        </p:nvSpPr>
        <p:spPr>
          <a:xfrm>
            <a:off x="736600" y="8855075"/>
            <a:ext cx="4163060" cy="342900"/>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Aimbot </a:t>
            </a:r>
            <a:r>
              <a:rPr lang="en-US" sz="1725" b="1" dirty="0">
                <a:solidFill>
                  <a:srgbClr val="F4B463"/>
                </a:solidFill>
                <a:latin typeface="Courier New" pitchFamily="34" charset="0"/>
                <a:ea typeface="Courier New" pitchFamily="34" charset="-122"/>
                <a:cs typeface="Courier New" pitchFamily="34" charset="-120"/>
              </a:rPr>
              <a:t>F5</a:t>
            </a:r>
            <a:endParaRPr lang="en-US" sz="1725" dirty="0"/>
          </a:p>
        </p:txBody>
      </p:sp>
      <p:sp>
        <p:nvSpPr>
          <p:cNvPr id="37" name="Text 34"/>
          <p:cNvSpPr/>
          <p:nvPr/>
        </p:nvSpPr>
        <p:spPr>
          <a:xfrm>
            <a:off x="736600" y="9207500"/>
            <a:ext cx="4163060" cy="254000"/>
          </a:xfrm>
          <a:prstGeom prst="rect">
            <a:avLst/>
          </a:prstGeom>
          <a:noFill/>
          <a:ln/>
        </p:spPr>
        <p:txBody>
          <a:bodyPr wrap="square" lIns="25400" tIns="25400" rIns="25400" bIns="25400" rtlCol="0" anchor="t">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Snaps aim · </a:t>
            </a:r>
            <a:r>
              <a:rPr lang="en-US" sz="1425" dirty="0">
                <a:solidFill>
                  <a:srgbClr val="9DB2C9"/>
                </a:solidFill>
                <a:latin typeface="Courier New" pitchFamily="34" charset="0"/>
                <a:ea typeface="Courier New" pitchFamily="34" charset="-122"/>
                <a:cs typeface="Courier New" pitchFamily="34" charset="-120"/>
              </a:rPr>
              <a:t>aim_delta &gt; 2.0 rad</a:t>
            </a:r>
            <a:endParaRPr lang="en-US" sz="1425" dirty="0"/>
          </a:p>
        </p:txBody>
      </p:sp>
      <p:sp>
        <p:nvSpPr>
          <p:cNvPr id="38" name="Shape 35"/>
          <p:cNvSpPr/>
          <p:nvPr/>
        </p:nvSpPr>
        <p:spPr>
          <a:xfrm>
            <a:off x="4876800" y="8664575"/>
            <a:ext cx="4191000" cy="923925"/>
          </a:xfrm>
          <a:prstGeom prst="roundRect">
            <a:avLst>
              <a:gd name="adj" fmla="val 10309"/>
            </a:avLst>
          </a:prstGeom>
          <a:solidFill>
            <a:srgbClr val="FFFFFF">
              <a:alpha val="4000"/>
            </a:srgbClr>
          </a:solidFill>
          <a:ln/>
        </p:spPr>
        <p:txBody>
          <a:bodyPr/>
          <a:lstStyle/>
          <a:p>
            <a:endParaRPr lang="en-US"/>
          </a:p>
        </p:txBody>
      </p:sp>
      <p:sp>
        <p:nvSpPr>
          <p:cNvPr id="39" name="Shape 36"/>
          <p:cNvSpPr/>
          <p:nvPr/>
        </p:nvSpPr>
        <p:spPr>
          <a:xfrm>
            <a:off x="4876800" y="9575800"/>
            <a:ext cx="4191000" cy="12700"/>
          </a:xfrm>
          <a:prstGeom prst="rect">
            <a:avLst/>
          </a:prstGeom>
          <a:solidFill>
            <a:srgbClr val="FFFFFF">
              <a:alpha val="10000"/>
            </a:srgbClr>
          </a:solidFill>
          <a:ln/>
        </p:spPr>
        <p:txBody>
          <a:bodyPr/>
          <a:lstStyle/>
          <a:p>
            <a:endParaRPr lang="en-US"/>
          </a:p>
        </p:txBody>
      </p:sp>
      <p:sp>
        <p:nvSpPr>
          <p:cNvPr id="40" name="Shape 37"/>
          <p:cNvSpPr/>
          <p:nvPr/>
        </p:nvSpPr>
        <p:spPr>
          <a:xfrm>
            <a:off x="4876800" y="8664575"/>
            <a:ext cx="4191000" cy="38100"/>
          </a:xfrm>
          <a:prstGeom prst="rect">
            <a:avLst/>
          </a:prstGeom>
          <a:solidFill>
            <a:srgbClr val="3B8EE6"/>
          </a:solidFill>
          <a:ln/>
        </p:spPr>
        <p:txBody>
          <a:bodyPr/>
          <a:lstStyle/>
          <a:p>
            <a:endParaRPr lang="en-US"/>
          </a:p>
        </p:txBody>
      </p:sp>
      <p:sp>
        <p:nvSpPr>
          <p:cNvPr id="41" name="Shape 38"/>
          <p:cNvSpPr/>
          <p:nvPr/>
        </p:nvSpPr>
        <p:spPr>
          <a:xfrm>
            <a:off x="4876800" y="8664575"/>
            <a:ext cx="12700" cy="923925"/>
          </a:xfrm>
          <a:prstGeom prst="rect">
            <a:avLst/>
          </a:prstGeom>
          <a:solidFill>
            <a:srgbClr val="FFFFFF">
              <a:alpha val="10000"/>
            </a:srgbClr>
          </a:solidFill>
          <a:ln/>
        </p:spPr>
        <p:txBody>
          <a:bodyPr/>
          <a:lstStyle/>
          <a:p>
            <a:endParaRPr lang="en-US"/>
          </a:p>
        </p:txBody>
      </p:sp>
      <p:sp>
        <p:nvSpPr>
          <p:cNvPr id="42" name="Shape 39"/>
          <p:cNvSpPr/>
          <p:nvPr/>
        </p:nvSpPr>
        <p:spPr>
          <a:xfrm>
            <a:off x="9055100" y="8664575"/>
            <a:ext cx="12700" cy="923925"/>
          </a:xfrm>
          <a:prstGeom prst="rect">
            <a:avLst/>
          </a:prstGeom>
          <a:solidFill>
            <a:srgbClr val="FFFFFF">
              <a:alpha val="10000"/>
            </a:srgbClr>
          </a:solidFill>
          <a:ln/>
        </p:spPr>
        <p:txBody>
          <a:bodyPr/>
          <a:lstStyle/>
          <a:p>
            <a:endParaRPr lang="en-US"/>
          </a:p>
        </p:txBody>
      </p:sp>
      <p:sp>
        <p:nvSpPr>
          <p:cNvPr id="43" name="Text 40"/>
          <p:cNvSpPr/>
          <p:nvPr/>
        </p:nvSpPr>
        <p:spPr>
          <a:xfrm>
            <a:off x="5080000" y="8855075"/>
            <a:ext cx="4163060" cy="342900"/>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Speedhack </a:t>
            </a:r>
            <a:r>
              <a:rPr lang="en-US" sz="1725" b="1" dirty="0">
                <a:solidFill>
                  <a:srgbClr val="6FB3F2"/>
                </a:solidFill>
                <a:latin typeface="Courier New" pitchFamily="34" charset="0"/>
                <a:ea typeface="Courier New" pitchFamily="34" charset="-122"/>
                <a:cs typeface="Courier New" pitchFamily="34" charset="-120"/>
              </a:rPr>
              <a:t>F6</a:t>
            </a:r>
            <a:endParaRPr lang="en-US" sz="1725" dirty="0"/>
          </a:p>
        </p:txBody>
      </p:sp>
      <p:sp>
        <p:nvSpPr>
          <p:cNvPr id="44" name="Text 41"/>
          <p:cNvSpPr/>
          <p:nvPr/>
        </p:nvSpPr>
        <p:spPr>
          <a:xfrm>
            <a:off x="5080000" y="9207500"/>
            <a:ext cx="4163060" cy="254000"/>
          </a:xfrm>
          <a:prstGeom prst="rect">
            <a:avLst/>
          </a:prstGeom>
          <a:noFill/>
          <a:ln/>
        </p:spPr>
        <p:txBody>
          <a:bodyPr wrap="square" lIns="25400" tIns="25400" rIns="25400" bIns="25400" rtlCol="0" anchor="t">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2.5× velocity · </a:t>
            </a:r>
            <a:r>
              <a:rPr lang="en-US" sz="1425" dirty="0">
                <a:solidFill>
                  <a:srgbClr val="9DB2C9"/>
                </a:solidFill>
                <a:latin typeface="Courier New" pitchFamily="34" charset="0"/>
                <a:ea typeface="Courier New" pitchFamily="34" charset="-122"/>
                <a:cs typeface="Courier New" pitchFamily="34" charset="-120"/>
              </a:rPr>
              <a:t>speed &gt; 7.0</a:t>
            </a:r>
            <a:endParaRPr lang="en-US" sz="1425" dirty="0"/>
          </a:p>
        </p:txBody>
      </p:sp>
      <p:sp>
        <p:nvSpPr>
          <p:cNvPr id="45" name="Shape 42"/>
          <p:cNvSpPr/>
          <p:nvPr/>
        </p:nvSpPr>
        <p:spPr>
          <a:xfrm>
            <a:off x="9220200" y="8664575"/>
            <a:ext cx="4191000" cy="923925"/>
          </a:xfrm>
          <a:prstGeom prst="roundRect">
            <a:avLst>
              <a:gd name="adj" fmla="val 10309"/>
            </a:avLst>
          </a:prstGeom>
          <a:solidFill>
            <a:srgbClr val="FFFFFF">
              <a:alpha val="4000"/>
            </a:srgbClr>
          </a:solidFill>
          <a:ln/>
        </p:spPr>
        <p:txBody>
          <a:bodyPr/>
          <a:lstStyle/>
          <a:p>
            <a:endParaRPr lang="en-US"/>
          </a:p>
        </p:txBody>
      </p:sp>
      <p:sp>
        <p:nvSpPr>
          <p:cNvPr id="46" name="Shape 43"/>
          <p:cNvSpPr/>
          <p:nvPr/>
        </p:nvSpPr>
        <p:spPr>
          <a:xfrm>
            <a:off x="9220200" y="9575800"/>
            <a:ext cx="4191000" cy="12700"/>
          </a:xfrm>
          <a:prstGeom prst="rect">
            <a:avLst/>
          </a:prstGeom>
          <a:solidFill>
            <a:srgbClr val="FFFFFF">
              <a:alpha val="10000"/>
            </a:srgbClr>
          </a:solidFill>
          <a:ln/>
        </p:spPr>
        <p:txBody>
          <a:bodyPr/>
          <a:lstStyle/>
          <a:p>
            <a:endParaRPr lang="en-US"/>
          </a:p>
        </p:txBody>
      </p:sp>
      <p:sp>
        <p:nvSpPr>
          <p:cNvPr id="47" name="Shape 44"/>
          <p:cNvSpPr/>
          <p:nvPr/>
        </p:nvSpPr>
        <p:spPr>
          <a:xfrm>
            <a:off x="9220200" y="8664575"/>
            <a:ext cx="4191000" cy="38100"/>
          </a:xfrm>
          <a:prstGeom prst="rect">
            <a:avLst/>
          </a:prstGeom>
          <a:solidFill>
            <a:srgbClr val="F0584E"/>
          </a:solidFill>
          <a:ln/>
        </p:spPr>
        <p:txBody>
          <a:bodyPr/>
          <a:lstStyle/>
          <a:p>
            <a:endParaRPr lang="en-US"/>
          </a:p>
        </p:txBody>
      </p:sp>
      <p:sp>
        <p:nvSpPr>
          <p:cNvPr id="48" name="Shape 45"/>
          <p:cNvSpPr/>
          <p:nvPr/>
        </p:nvSpPr>
        <p:spPr>
          <a:xfrm>
            <a:off x="9220200" y="8664575"/>
            <a:ext cx="12700" cy="923925"/>
          </a:xfrm>
          <a:prstGeom prst="rect">
            <a:avLst/>
          </a:prstGeom>
          <a:solidFill>
            <a:srgbClr val="FFFFFF">
              <a:alpha val="10000"/>
            </a:srgbClr>
          </a:solidFill>
          <a:ln/>
        </p:spPr>
        <p:txBody>
          <a:bodyPr/>
          <a:lstStyle/>
          <a:p>
            <a:endParaRPr lang="en-US"/>
          </a:p>
        </p:txBody>
      </p:sp>
      <p:sp>
        <p:nvSpPr>
          <p:cNvPr id="49" name="Shape 46"/>
          <p:cNvSpPr/>
          <p:nvPr/>
        </p:nvSpPr>
        <p:spPr>
          <a:xfrm>
            <a:off x="13398500" y="8664575"/>
            <a:ext cx="12700" cy="923925"/>
          </a:xfrm>
          <a:prstGeom prst="rect">
            <a:avLst/>
          </a:prstGeom>
          <a:solidFill>
            <a:srgbClr val="FFFFFF">
              <a:alpha val="10000"/>
            </a:srgbClr>
          </a:solidFill>
          <a:ln/>
        </p:spPr>
        <p:txBody>
          <a:bodyPr/>
          <a:lstStyle/>
          <a:p>
            <a:endParaRPr lang="en-US"/>
          </a:p>
        </p:txBody>
      </p:sp>
      <p:sp>
        <p:nvSpPr>
          <p:cNvPr id="50" name="Text 47"/>
          <p:cNvSpPr/>
          <p:nvPr/>
        </p:nvSpPr>
        <p:spPr>
          <a:xfrm>
            <a:off x="9423400" y="8855075"/>
            <a:ext cx="4163060" cy="342900"/>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Wallhack </a:t>
            </a:r>
            <a:r>
              <a:rPr lang="en-US" sz="1725" b="1" dirty="0">
                <a:solidFill>
                  <a:srgbClr val="F47E76"/>
                </a:solidFill>
                <a:latin typeface="Courier New" pitchFamily="34" charset="0"/>
                <a:ea typeface="Courier New" pitchFamily="34" charset="-122"/>
                <a:cs typeface="Courier New" pitchFamily="34" charset="-120"/>
              </a:rPr>
              <a:t>F7</a:t>
            </a:r>
            <a:endParaRPr lang="en-US" sz="1725" dirty="0"/>
          </a:p>
        </p:txBody>
      </p:sp>
      <p:sp>
        <p:nvSpPr>
          <p:cNvPr id="51" name="Text 48"/>
          <p:cNvSpPr/>
          <p:nvPr/>
        </p:nvSpPr>
        <p:spPr>
          <a:xfrm>
            <a:off x="9423400" y="9207500"/>
            <a:ext cx="4163060" cy="254000"/>
          </a:xfrm>
          <a:prstGeom prst="rect">
            <a:avLst/>
          </a:prstGeom>
          <a:noFill/>
          <a:ln/>
        </p:spPr>
        <p:txBody>
          <a:bodyPr wrap="square" lIns="25400" tIns="25400" rIns="25400" bIns="25400" rtlCol="0" anchor="t">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Aim through walls · </a:t>
            </a:r>
            <a:r>
              <a:rPr lang="en-US" sz="1425" dirty="0">
                <a:solidFill>
                  <a:srgbClr val="9DB2C9"/>
                </a:solidFill>
                <a:latin typeface="Courier New" pitchFamily="34" charset="0"/>
                <a:ea typeface="Courier New" pitchFamily="34" charset="-122"/>
                <a:cs typeface="Courier New" pitchFamily="34" charset="-120"/>
              </a:rPr>
              <a:t>prefire &gt; 60%</a:t>
            </a:r>
            <a:endParaRPr lang="en-US" sz="1425" dirty="0"/>
          </a:p>
        </p:txBody>
      </p:sp>
      <p:sp>
        <p:nvSpPr>
          <p:cNvPr id="52" name="Shape 49"/>
          <p:cNvSpPr/>
          <p:nvPr/>
        </p:nvSpPr>
        <p:spPr>
          <a:xfrm>
            <a:off x="13563600" y="8664575"/>
            <a:ext cx="4191000" cy="923925"/>
          </a:xfrm>
          <a:prstGeom prst="roundRect">
            <a:avLst>
              <a:gd name="adj" fmla="val 10309"/>
            </a:avLst>
          </a:prstGeom>
          <a:solidFill>
            <a:srgbClr val="FFFFFF">
              <a:alpha val="4000"/>
            </a:srgbClr>
          </a:solidFill>
          <a:ln/>
        </p:spPr>
        <p:txBody>
          <a:bodyPr/>
          <a:lstStyle/>
          <a:p>
            <a:endParaRPr lang="en-US"/>
          </a:p>
        </p:txBody>
      </p:sp>
      <p:sp>
        <p:nvSpPr>
          <p:cNvPr id="53" name="Shape 50"/>
          <p:cNvSpPr/>
          <p:nvPr/>
        </p:nvSpPr>
        <p:spPr>
          <a:xfrm>
            <a:off x="13563600" y="9575800"/>
            <a:ext cx="4191000" cy="12700"/>
          </a:xfrm>
          <a:prstGeom prst="rect">
            <a:avLst/>
          </a:prstGeom>
          <a:solidFill>
            <a:srgbClr val="FFFFFF">
              <a:alpha val="10000"/>
            </a:srgbClr>
          </a:solidFill>
          <a:ln/>
        </p:spPr>
        <p:txBody>
          <a:bodyPr/>
          <a:lstStyle/>
          <a:p>
            <a:endParaRPr lang="en-US"/>
          </a:p>
        </p:txBody>
      </p:sp>
      <p:sp>
        <p:nvSpPr>
          <p:cNvPr id="54" name="Shape 51"/>
          <p:cNvSpPr/>
          <p:nvPr/>
        </p:nvSpPr>
        <p:spPr>
          <a:xfrm>
            <a:off x="13563600" y="8664575"/>
            <a:ext cx="4191000" cy="38100"/>
          </a:xfrm>
          <a:prstGeom prst="rect">
            <a:avLst/>
          </a:prstGeom>
          <a:solidFill>
            <a:srgbClr val="9B7BE0"/>
          </a:solidFill>
          <a:ln/>
        </p:spPr>
        <p:txBody>
          <a:bodyPr/>
          <a:lstStyle/>
          <a:p>
            <a:endParaRPr lang="en-US"/>
          </a:p>
        </p:txBody>
      </p:sp>
      <p:sp>
        <p:nvSpPr>
          <p:cNvPr id="55" name="Shape 52"/>
          <p:cNvSpPr/>
          <p:nvPr/>
        </p:nvSpPr>
        <p:spPr>
          <a:xfrm>
            <a:off x="13563600" y="8664575"/>
            <a:ext cx="12700" cy="923925"/>
          </a:xfrm>
          <a:prstGeom prst="rect">
            <a:avLst/>
          </a:prstGeom>
          <a:solidFill>
            <a:srgbClr val="FFFFFF">
              <a:alpha val="10000"/>
            </a:srgbClr>
          </a:solidFill>
          <a:ln/>
        </p:spPr>
        <p:txBody>
          <a:bodyPr/>
          <a:lstStyle/>
          <a:p>
            <a:endParaRPr lang="en-US"/>
          </a:p>
        </p:txBody>
      </p:sp>
      <p:sp>
        <p:nvSpPr>
          <p:cNvPr id="56" name="Shape 53"/>
          <p:cNvSpPr/>
          <p:nvPr/>
        </p:nvSpPr>
        <p:spPr>
          <a:xfrm>
            <a:off x="17741900" y="8664575"/>
            <a:ext cx="12700" cy="923925"/>
          </a:xfrm>
          <a:prstGeom prst="rect">
            <a:avLst/>
          </a:prstGeom>
          <a:solidFill>
            <a:srgbClr val="FFFFFF">
              <a:alpha val="10000"/>
            </a:srgbClr>
          </a:solidFill>
          <a:ln/>
        </p:spPr>
        <p:txBody>
          <a:bodyPr/>
          <a:lstStyle/>
          <a:p>
            <a:endParaRPr lang="en-US"/>
          </a:p>
        </p:txBody>
      </p:sp>
      <p:sp>
        <p:nvSpPr>
          <p:cNvPr id="57" name="Text 54"/>
          <p:cNvSpPr/>
          <p:nvPr/>
        </p:nvSpPr>
        <p:spPr>
          <a:xfrm>
            <a:off x="13766800" y="8855075"/>
            <a:ext cx="4163060" cy="342900"/>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Triggerbot </a:t>
            </a:r>
            <a:r>
              <a:rPr lang="en-US" sz="1725" b="1" dirty="0">
                <a:solidFill>
                  <a:srgbClr val="B79CEA"/>
                </a:solidFill>
                <a:latin typeface="Courier New" pitchFamily="34" charset="0"/>
                <a:ea typeface="Courier New" pitchFamily="34" charset="-122"/>
                <a:cs typeface="Courier New" pitchFamily="34" charset="-120"/>
              </a:rPr>
              <a:t>F8</a:t>
            </a:r>
            <a:endParaRPr lang="en-US" sz="1725" dirty="0"/>
          </a:p>
        </p:txBody>
      </p:sp>
      <p:sp>
        <p:nvSpPr>
          <p:cNvPr id="58" name="Text 55"/>
          <p:cNvSpPr/>
          <p:nvPr/>
        </p:nvSpPr>
        <p:spPr>
          <a:xfrm>
            <a:off x="13766800" y="9207500"/>
            <a:ext cx="4163060" cy="254000"/>
          </a:xfrm>
          <a:prstGeom prst="rect">
            <a:avLst/>
          </a:prstGeom>
          <a:noFill/>
          <a:ln/>
        </p:spPr>
        <p:txBody>
          <a:bodyPr wrap="square" lIns="25400" tIns="25400" rIns="25400" bIns="25400" rtlCol="0" anchor="t">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Auto-fire · </a:t>
            </a:r>
            <a:r>
              <a:rPr lang="en-US" sz="1425" dirty="0">
                <a:solidFill>
                  <a:srgbClr val="9DB2C9"/>
                </a:solidFill>
                <a:latin typeface="Courier New" pitchFamily="34" charset="0"/>
                <a:ea typeface="Courier New" pitchFamily="34" charset="-122"/>
                <a:cs typeface="Courier New" pitchFamily="34" charset="-120"/>
              </a:rPr>
              <a:t>react &lt; 3 ticks</a:t>
            </a:r>
            <a:endParaRPr lang="en-US" sz="1425" dirty="0"/>
          </a:p>
        </p:txBody>
      </p:sp>
      <p:sp>
        <p:nvSpPr>
          <p:cNvPr id="59" name="Shape 56"/>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60" name="Text 57"/>
          <p:cNvSpPr/>
          <p:nvPr/>
        </p:nvSpPr>
        <p:spPr>
          <a:xfrm>
            <a:off x="5334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61" name="Text 58"/>
          <p:cNvSpPr/>
          <p:nvPr/>
        </p:nvSpPr>
        <p:spPr>
          <a:xfrm>
            <a:off x="172593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04 / 18</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609600" y="411163"/>
            <a:ext cx="104775" cy="104775"/>
          </a:xfrm>
          <a:prstGeom prst="roundRect">
            <a:avLst>
              <a:gd name="adj" fmla="val 18182"/>
            </a:avLst>
          </a:prstGeom>
          <a:solidFill>
            <a:srgbClr val="3B8EE6"/>
          </a:solidFill>
          <a:ln/>
          <a:effectLst>
            <a:outerShdw blurRad="133350" dist="50800" dir="16200000" algn="bl" rotWithShape="0">
              <a:srgbClr val="3B8EE6">
                <a:alpha val="100000"/>
              </a:srgbClr>
            </a:outerShdw>
          </a:effectLst>
        </p:spPr>
        <p:txBody>
          <a:bodyPr/>
          <a:lstStyle/>
          <a:p>
            <a:endParaRPr lang="en-US"/>
          </a:p>
        </p:txBody>
      </p:sp>
      <p:sp>
        <p:nvSpPr>
          <p:cNvPr id="4" name="Text 2"/>
          <p:cNvSpPr/>
          <p:nvPr/>
        </p:nvSpPr>
        <p:spPr>
          <a:xfrm>
            <a:off x="828675" y="323850"/>
            <a:ext cx="3240385"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6FB3F2"/>
                </a:solidFill>
                <a:latin typeface="Arial" pitchFamily="34" charset="0"/>
                <a:ea typeface="Arial" pitchFamily="34" charset="-122"/>
                <a:cs typeface="Arial" pitchFamily="34" charset="-120"/>
              </a:rPr>
              <a:t>DETECTION · LAYER 1</a:t>
            </a:r>
            <a:endParaRPr lang="en-US" sz="1500" dirty="0"/>
          </a:p>
        </p:txBody>
      </p:sp>
      <p:sp>
        <p:nvSpPr>
          <p:cNvPr id="5" name="Text 3"/>
          <p:cNvSpPr/>
          <p:nvPr/>
        </p:nvSpPr>
        <p:spPr>
          <a:xfrm>
            <a:off x="609600" y="708025"/>
            <a:ext cx="6027182"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Rule Engine</a:t>
            </a:r>
            <a:endParaRPr lang="en-US" sz="4050" dirty="0"/>
          </a:p>
        </p:txBody>
      </p:sp>
      <p:sp>
        <p:nvSpPr>
          <p:cNvPr id="6" name="Text 4"/>
          <p:cNvSpPr/>
          <p:nvPr/>
        </p:nvSpPr>
        <p:spPr>
          <a:xfrm>
            <a:off x="609600" y="1327150"/>
            <a:ext cx="6027182" cy="317500"/>
          </a:xfrm>
          <a:prstGeom prst="rect">
            <a:avLst/>
          </a:prstGeom>
          <a:noFill/>
          <a:ln/>
        </p:spPr>
        <p:txBody>
          <a:bodyPr wrap="square" lIns="25400" tIns="25400" rIns="25400" bIns="25400" rtlCol="0" anchor="t">
            <a:normAutofit/>
          </a:bodyPr>
          <a:lstStyle/>
          <a:p>
            <a:pPr marL="0" indent="0" algn="l">
              <a:buNone/>
            </a:pPr>
            <a:r>
              <a:rPr lang="en-US" sz="1875" dirty="0">
                <a:solidFill>
                  <a:srgbClr val="9DB2C9"/>
                </a:solidFill>
                <a:latin typeface="Arial" pitchFamily="34" charset="0"/>
                <a:ea typeface="Arial" pitchFamily="34" charset="-122"/>
                <a:cs typeface="Arial" pitchFamily="34" charset="-120"/>
              </a:rPr>
              <a:t>Physics-derived thresholds · Zero false-positive rate</a:t>
            </a:r>
            <a:endParaRPr lang="en-US" sz="1875" dirty="0"/>
          </a:p>
        </p:txBody>
      </p:sp>
      <p:sp>
        <p:nvSpPr>
          <p:cNvPr id="7" name="Text 5"/>
          <p:cNvSpPr/>
          <p:nvPr/>
        </p:nvSpPr>
        <p:spPr>
          <a:xfrm>
            <a:off x="158867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05</a:t>
            </a:r>
            <a:endParaRPr lang="en-US" sz="11250" dirty="0"/>
          </a:p>
        </p:txBody>
      </p:sp>
      <p:sp>
        <p:nvSpPr>
          <p:cNvPr id="8" name="Shape 6"/>
          <p:cNvSpPr/>
          <p:nvPr/>
        </p:nvSpPr>
        <p:spPr>
          <a:xfrm>
            <a:off x="609600" y="1758950"/>
            <a:ext cx="17068800" cy="19050"/>
          </a:xfrm>
          <a:prstGeom prst="rect">
            <a:avLst/>
          </a:prstGeom>
          <a:gradFill rotWithShape="1">
            <a:gsLst>
              <a:gs pos="0">
                <a:srgbClr val="3B8EE6">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9" name="Shape 7"/>
          <p:cNvSpPr/>
          <p:nvPr/>
        </p:nvSpPr>
        <p:spPr>
          <a:xfrm>
            <a:off x="609600" y="2006600"/>
            <a:ext cx="17068800" cy="6291660"/>
          </a:xfrm>
          <a:prstGeom prst="roundRect">
            <a:avLst>
              <a:gd name="adj" fmla="val 1817"/>
            </a:avLst>
          </a:prstGeom>
          <a:solidFill>
            <a:srgbClr val="FFFFFF">
              <a:alpha val="10000"/>
            </a:srgbClr>
          </a:solidFill>
          <a:ln w="12700">
            <a:solidFill>
              <a:srgbClr val="FFFFFF">
                <a:alpha val="10000"/>
              </a:srgbClr>
            </a:solidFill>
            <a:prstDash val="solid"/>
          </a:ln>
        </p:spPr>
        <p:txBody>
          <a:bodyPr/>
          <a:lstStyle/>
          <a:p>
            <a:endParaRPr lang="en-US"/>
          </a:p>
        </p:txBody>
      </p:sp>
      <p:sp>
        <p:nvSpPr>
          <p:cNvPr id="10" name="Shape 8"/>
          <p:cNvSpPr/>
          <p:nvPr/>
        </p:nvSpPr>
        <p:spPr>
          <a:xfrm>
            <a:off x="622300" y="2019300"/>
            <a:ext cx="3751064" cy="1159073"/>
          </a:xfrm>
          <a:prstGeom prst="rect">
            <a:avLst/>
          </a:prstGeom>
          <a:solidFill>
            <a:srgbClr val="13294A"/>
          </a:solidFill>
          <a:ln/>
        </p:spPr>
        <p:txBody>
          <a:bodyPr/>
          <a:lstStyle/>
          <a:p>
            <a:endParaRPr lang="en-US"/>
          </a:p>
        </p:txBody>
      </p:sp>
      <p:sp>
        <p:nvSpPr>
          <p:cNvPr id="11" name="Text 9"/>
          <p:cNvSpPr/>
          <p:nvPr/>
        </p:nvSpPr>
        <p:spPr>
          <a:xfrm>
            <a:off x="831850" y="2171700"/>
            <a:ext cx="3444496" cy="892373"/>
          </a:xfrm>
          <a:prstGeom prst="rect">
            <a:avLst/>
          </a:prstGeom>
          <a:noFill/>
          <a:ln/>
        </p:spPr>
        <p:txBody>
          <a:bodyPr wrap="square" lIns="25400" tIns="25400" rIns="25400" bIns="25400" rtlCol="0" anchor="t">
            <a:normAutofit/>
          </a:bodyPr>
          <a:lstStyle/>
          <a:p>
            <a:pPr marL="0" indent="0" algn="l">
              <a:buNone/>
            </a:pPr>
            <a:r>
              <a:rPr lang="en-US" sz="1650" b="1" dirty="0">
                <a:solidFill>
                  <a:srgbClr val="CFE0F2"/>
                </a:solidFill>
                <a:latin typeface="Arial" pitchFamily="34" charset="0"/>
                <a:ea typeface="Arial" pitchFamily="34" charset="-122"/>
                <a:cs typeface="Arial" pitchFamily="34" charset="-120"/>
              </a:rPr>
              <a:t>Rule</a:t>
            </a:r>
            <a:endParaRPr lang="en-US" sz="1650" dirty="0"/>
          </a:p>
        </p:txBody>
      </p:sp>
      <p:sp>
        <p:nvSpPr>
          <p:cNvPr id="12" name="Shape 10"/>
          <p:cNvSpPr/>
          <p:nvPr/>
        </p:nvSpPr>
        <p:spPr>
          <a:xfrm>
            <a:off x="4382889" y="2019300"/>
            <a:ext cx="5001617" cy="1159073"/>
          </a:xfrm>
          <a:prstGeom prst="rect">
            <a:avLst/>
          </a:prstGeom>
          <a:solidFill>
            <a:srgbClr val="13294A"/>
          </a:solidFill>
          <a:ln/>
        </p:spPr>
        <p:txBody>
          <a:bodyPr/>
          <a:lstStyle/>
          <a:p>
            <a:endParaRPr lang="en-US"/>
          </a:p>
        </p:txBody>
      </p:sp>
      <p:sp>
        <p:nvSpPr>
          <p:cNvPr id="13" name="Text 11"/>
          <p:cNvSpPr/>
          <p:nvPr/>
        </p:nvSpPr>
        <p:spPr>
          <a:xfrm>
            <a:off x="4592439" y="2171700"/>
            <a:ext cx="4732566" cy="892373"/>
          </a:xfrm>
          <a:prstGeom prst="rect">
            <a:avLst/>
          </a:prstGeom>
          <a:noFill/>
          <a:ln/>
        </p:spPr>
        <p:txBody>
          <a:bodyPr wrap="square" lIns="25400" tIns="25400" rIns="25400" bIns="25400" rtlCol="0" anchor="t">
            <a:normAutofit/>
          </a:bodyPr>
          <a:lstStyle/>
          <a:p>
            <a:pPr marL="0" indent="0" algn="l">
              <a:buNone/>
            </a:pPr>
            <a:r>
              <a:rPr lang="en-US" sz="1650" b="1" dirty="0">
                <a:solidFill>
                  <a:srgbClr val="CFE0F2"/>
                </a:solidFill>
                <a:latin typeface="Arial" pitchFamily="34" charset="0"/>
                <a:ea typeface="Arial" pitchFamily="34" charset="-122"/>
                <a:cs typeface="Arial" pitchFamily="34" charset="-120"/>
              </a:rPr>
              <a:t>Condition</a:t>
            </a:r>
            <a:endParaRPr lang="en-US" sz="1650" dirty="0"/>
          </a:p>
        </p:txBody>
      </p:sp>
      <p:sp>
        <p:nvSpPr>
          <p:cNvPr id="14" name="Shape 12"/>
          <p:cNvSpPr/>
          <p:nvPr/>
        </p:nvSpPr>
        <p:spPr>
          <a:xfrm>
            <a:off x="9394031" y="2019300"/>
            <a:ext cx="2750741" cy="1159073"/>
          </a:xfrm>
          <a:prstGeom prst="rect">
            <a:avLst/>
          </a:prstGeom>
          <a:solidFill>
            <a:srgbClr val="13294A"/>
          </a:solidFill>
          <a:ln/>
        </p:spPr>
        <p:txBody>
          <a:bodyPr/>
          <a:lstStyle/>
          <a:p>
            <a:endParaRPr lang="en-US"/>
          </a:p>
        </p:txBody>
      </p:sp>
      <p:sp>
        <p:nvSpPr>
          <p:cNvPr id="15" name="Text 13"/>
          <p:cNvSpPr/>
          <p:nvPr/>
        </p:nvSpPr>
        <p:spPr>
          <a:xfrm>
            <a:off x="9603581" y="2171700"/>
            <a:ext cx="2414163" cy="892373"/>
          </a:xfrm>
          <a:prstGeom prst="rect">
            <a:avLst/>
          </a:prstGeom>
          <a:noFill/>
          <a:ln/>
        </p:spPr>
        <p:txBody>
          <a:bodyPr wrap="square" lIns="25400" tIns="25400" rIns="25400" bIns="25400" rtlCol="0" anchor="t">
            <a:normAutofit/>
          </a:bodyPr>
          <a:lstStyle/>
          <a:p>
            <a:pPr marL="0" indent="0" algn="l">
              <a:buNone/>
            </a:pPr>
            <a:r>
              <a:rPr lang="en-US" sz="1650" b="1" dirty="0">
                <a:solidFill>
                  <a:srgbClr val="CFE0F2"/>
                </a:solidFill>
                <a:latin typeface="Arial" pitchFamily="34" charset="0"/>
                <a:ea typeface="Arial" pitchFamily="34" charset="-122"/>
                <a:cs typeface="Arial" pitchFamily="34" charset="-120"/>
              </a:rPr>
              <a:t>Detects</a:t>
            </a:r>
            <a:endParaRPr lang="en-US" sz="1650" dirty="0"/>
          </a:p>
        </p:txBody>
      </p:sp>
      <p:sp>
        <p:nvSpPr>
          <p:cNvPr id="16" name="Shape 14"/>
          <p:cNvSpPr/>
          <p:nvPr/>
        </p:nvSpPr>
        <p:spPr>
          <a:xfrm>
            <a:off x="12154298" y="2019300"/>
            <a:ext cx="3000970" cy="1159073"/>
          </a:xfrm>
          <a:prstGeom prst="rect">
            <a:avLst/>
          </a:prstGeom>
          <a:solidFill>
            <a:srgbClr val="13294A"/>
          </a:solidFill>
          <a:ln/>
        </p:spPr>
        <p:txBody>
          <a:bodyPr/>
          <a:lstStyle/>
          <a:p>
            <a:endParaRPr lang="en-US"/>
          </a:p>
        </p:txBody>
      </p:sp>
      <p:sp>
        <p:nvSpPr>
          <p:cNvPr id="17" name="Text 15"/>
          <p:cNvSpPr/>
          <p:nvPr/>
        </p:nvSpPr>
        <p:spPr>
          <a:xfrm>
            <a:off x="12363848" y="2171700"/>
            <a:ext cx="2671899" cy="892373"/>
          </a:xfrm>
          <a:prstGeom prst="rect">
            <a:avLst/>
          </a:prstGeom>
          <a:noFill/>
          <a:ln/>
        </p:spPr>
        <p:txBody>
          <a:bodyPr wrap="square" lIns="25400" tIns="25400" rIns="25400" bIns="25400" rtlCol="0" anchor="t">
            <a:normAutofit/>
          </a:bodyPr>
          <a:lstStyle/>
          <a:p>
            <a:pPr marL="0" indent="0" algn="l">
              <a:buNone/>
            </a:pPr>
            <a:r>
              <a:rPr lang="en-US" sz="1650" b="1" dirty="0">
                <a:solidFill>
                  <a:srgbClr val="CFE0F2"/>
                </a:solidFill>
                <a:latin typeface="Arial" pitchFamily="34" charset="0"/>
                <a:ea typeface="Arial" pitchFamily="34" charset="-122"/>
                <a:cs typeface="Arial" pitchFamily="34" charset="-120"/>
              </a:rPr>
              <a:t>Normal</a:t>
            </a:r>
            <a:endParaRPr lang="en-US" sz="1650" dirty="0"/>
          </a:p>
        </p:txBody>
      </p:sp>
      <p:sp>
        <p:nvSpPr>
          <p:cNvPr id="18" name="Shape 16"/>
          <p:cNvSpPr/>
          <p:nvPr/>
        </p:nvSpPr>
        <p:spPr>
          <a:xfrm>
            <a:off x="15164793" y="2019300"/>
            <a:ext cx="2500710" cy="1159073"/>
          </a:xfrm>
          <a:prstGeom prst="rect">
            <a:avLst/>
          </a:prstGeom>
          <a:solidFill>
            <a:srgbClr val="13294A"/>
          </a:solidFill>
          <a:ln/>
        </p:spPr>
        <p:txBody>
          <a:bodyPr/>
          <a:lstStyle/>
          <a:p>
            <a:endParaRPr lang="en-US"/>
          </a:p>
        </p:txBody>
      </p:sp>
      <p:sp>
        <p:nvSpPr>
          <p:cNvPr id="19" name="Text 17"/>
          <p:cNvSpPr/>
          <p:nvPr/>
        </p:nvSpPr>
        <p:spPr>
          <a:xfrm>
            <a:off x="15374343" y="2171700"/>
            <a:ext cx="2157810" cy="892373"/>
          </a:xfrm>
          <a:prstGeom prst="rect">
            <a:avLst/>
          </a:prstGeom>
          <a:noFill/>
          <a:ln/>
        </p:spPr>
        <p:txBody>
          <a:bodyPr wrap="square" lIns="25400" tIns="25400" rIns="25400" bIns="25400" rtlCol="0" anchor="t">
            <a:normAutofit/>
          </a:bodyPr>
          <a:lstStyle/>
          <a:p>
            <a:pPr marL="0" indent="0" algn="l">
              <a:buNone/>
            </a:pPr>
            <a:r>
              <a:rPr lang="en-US" sz="1650" b="1" dirty="0">
                <a:solidFill>
                  <a:srgbClr val="CFE0F2"/>
                </a:solidFill>
                <a:latin typeface="Arial" pitchFamily="34" charset="0"/>
                <a:ea typeface="Arial" pitchFamily="34" charset="-122"/>
                <a:cs typeface="Arial" pitchFamily="34" charset="-120"/>
              </a:rPr>
              <a:t>Cheat</a:t>
            </a:r>
            <a:endParaRPr lang="en-US" sz="1650" dirty="0"/>
          </a:p>
        </p:txBody>
      </p:sp>
      <p:sp>
        <p:nvSpPr>
          <p:cNvPr id="20" name="Shape 18"/>
          <p:cNvSpPr/>
          <p:nvPr/>
        </p:nvSpPr>
        <p:spPr>
          <a:xfrm>
            <a:off x="622300" y="3187898"/>
            <a:ext cx="3751064" cy="841573"/>
          </a:xfrm>
          <a:prstGeom prst="rect">
            <a:avLst/>
          </a:prstGeom>
          <a:solidFill>
            <a:srgbClr val="0B1A30"/>
          </a:solidFill>
          <a:ln/>
        </p:spPr>
        <p:txBody>
          <a:bodyPr/>
          <a:lstStyle/>
          <a:p>
            <a:endParaRPr lang="en-US"/>
          </a:p>
        </p:txBody>
      </p:sp>
      <p:sp>
        <p:nvSpPr>
          <p:cNvPr id="21" name="Text 19"/>
          <p:cNvSpPr/>
          <p:nvPr/>
        </p:nvSpPr>
        <p:spPr>
          <a:xfrm>
            <a:off x="831850" y="3494286"/>
            <a:ext cx="1156692"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EAF1FA"/>
                </a:solidFill>
                <a:latin typeface="Courier New" pitchFamily="34" charset="0"/>
                <a:ea typeface="Courier New" pitchFamily="34" charset="-122"/>
                <a:cs typeface="Courier New" pitchFamily="34" charset="-120"/>
              </a:rPr>
              <a:t>speed_cap</a:t>
            </a:r>
            <a:endParaRPr lang="en-US" sz="1575" dirty="0"/>
          </a:p>
        </p:txBody>
      </p:sp>
      <p:sp>
        <p:nvSpPr>
          <p:cNvPr id="22" name="Shape 20"/>
          <p:cNvSpPr/>
          <p:nvPr/>
        </p:nvSpPr>
        <p:spPr>
          <a:xfrm>
            <a:off x="4382889" y="3187898"/>
            <a:ext cx="5001617" cy="841573"/>
          </a:xfrm>
          <a:prstGeom prst="rect">
            <a:avLst/>
          </a:prstGeom>
          <a:solidFill>
            <a:srgbClr val="0B1A30"/>
          </a:solidFill>
          <a:ln/>
        </p:spPr>
        <p:txBody>
          <a:bodyPr/>
          <a:lstStyle/>
          <a:p>
            <a:endParaRPr lang="en-US"/>
          </a:p>
        </p:txBody>
      </p:sp>
      <p:sp>
        <p:nvSpPr>
          <p:cNvPr id="23" name="Text 21"/>
          <p:cNvSpPr/>
          <p:nvPr/>
        </p:nvSpPr>
        <p:spPr>
          <a:xfrm>
            <a:off x="4592439" y="3187898"/>
            <a:ext cx="4732566" cy="879673"/>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Courier New" pitchFamily="34" charset="0"/>
                <a:ea typeface="Courier New" pitchFamily="34" charset="-122"/>
                <a:cs typeface="Courier New" pitchFamily="34" charset="-120"/>
              </a:rPr>
              <a:t>speed_max_1s &gt; 7.0</a:t>
            </a:r>
            <a:endParaRPr lang="en-US" sz="1500" dirty="0"/>
          </a:p>
        </p:txBody>
      </p:sp>
      <p:sp>
        <p:nvSpPr>
          <p:cNvPr id="24" name="Shape 22"/>
          <p:cNvSpPr/>
          <p:nvPr/>
        </p:nvSpPr>
        <p:spPr>
          <a:xfrm>
            <a:off x="9394031" y="3187898"/>
            <a:ext cx="2750741" cy="841573"/>
          </a:xfrm>
          <a:prstGeom prst="rect">
            <a:avLst/>
          </a:prstGeom>
          <a:solidFill>
            <a:srgbClr val="0B1A30"/>
          </a:solidFill>
          <a:ln/>
        </p:spPr>
        <p:txBody>
          <a:bodyPr/>
          <a:lstStyle/>
          <a:p>
            <a:endParaRPr lang="en-US"/>
          </a:p>
        </p:txBody>
      </p:sp>
      <p:sp>
        <p:nvSpPr>
          <p:cNvPr id="25" name="Text 23"/>
          <p:cNvSpPr/>
          <p:nvPr/>
        </p:nvSpPr>
        <p:spPr>
          <a:xfrm>
            <a:off x="9603581" y="3187898"/>
            <a:ext cx="2414163" cy="879673"/>
          </a:xfrm>
          <a:prstGeom prst="rect">
            <a:avLst/>
          </a:prstGeom>
          <a:noFill/>
          <a:ln/>
        </p:spPr>
        <p:txBody>
          <a:bodyPr wrap="square" lIns="25400" tIns="25400" rIns="25400" bIns="25400" rtlCol="0" anchor="ctr">
            <a:normAutofit/>
          </a:bodyPr>
          <a:lstStyle/>
          <a:p>
            <a:pPr marL="0" indent="0" algn="l">
              <a:buNone/>
            </a:pPr>
            <a:r>
              <a:rPr lang="en-US" sz="1500" b="1" dirty="0">
                <a:solidFill>
                  <a:srgbClr val="6FB3F2"/>
                </a:solidFill>
                <a:latin typeface="Arial" pitchFamily="34" charset="0"/>
                <a:ea typeface="Arial" pitchFamily="34" charset="-122"/>
                <a:cs typeface="Arial" pitchFamily="34" charset="-120"/>
              </a:rPr>
              <a:t>Speedhack</a:t>
            </a:r>
            <a:endParaRPr lang="en-US" sz="1500" dirty="0"/>
          </a:p>
        </p:txBody>
      </p:sp>
      <p:sp>
        <p:nvSpPr>
          <p:cNvPr id="26" name="Shape 24"/>
          <p:cNvSpPr/>
          <p:nvPr/>
        </p:nvSpPr>
        <p:spPr>
          <a:xfrm>
            <a:off x="12154298" y="3187898"/>
            <a:ext cx="3000970" cy="841573"/>
          </a:xfrm>
          <a:prstGeom prst="rect">
            <a:avLst/>
          </a:prstGeom>
          <a:solidFill>
            <a:srgbClr val="0B1A30"/>
          </a:solidFill>
          <a:ln/>
        </p:spPr>
        <p:txBody>
          <a:bodyPr/>
          <a:lstStyle/>
          <a:p>
            <a:endParaRPr lang="en-US"/>
          </a:p>
        </p:txBody>
      </p:sp>
      <p:sp>
        <p:nvSpPr>
          <p:cNvPr id="27" name="Text 25"/>
          <p:cNvSpPr/>
          <p:nvPr/>
        </p:nvSpPr>
        <p:spPr>
          <a:xfrm>
            <a:off x="12363848" y="3187898"/>
            <a:ext cx="2671899" cy="879673"/>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Arial" pitchFamily="34" charset="0"/>
                <a:ea typeface="Arial" pitchFamily="34" charset="-122"/>
                <a:cs typeface="Arial" pitchFamily="34" charset="-120"/>
              </a:rPr>
              <a:t>0 – 5.0</a:t>
            </a:r>
            <a:endParaRPr lang="en-US" sz="1500" dirty="0"/>
          </a:p>
        </p:txBody>
      </p:sp>
      <p:sp>
        <p:nvSpPr>
          <p:cNvPr id="28" name="Shape 26"/>
          <p:cNvSpPr/>
          <p:nvPr/>
        </p:nvSpPr>
        <p:spPr>
          <a:xfrm>
            <a:off x="15164793" y="3187898"/>
            <a:ext cx="2500710" cy="841573"/>
          </a:xfrm>
          <a:prstGeom prst="rect">
            <a:avLst/>
          </a:prstGeom>
          <a:solidFill>
            <a:srgbClr val="0B1A30"/>
          </a:solidFill>
          <a:ln/>
        </p:spPr>
        <p:txBody>
          <a:bodyPr/>
          <a:lstStyle/>
          <a:p>
            <a:endParaRPr lang="en-US"/>
          </a:p>
        </p:txBody>
      </p:sp>
      <p:sp>
        <p:nvSpPr>
          <p:cNvPr id="29" name="Text 27"/>
          <p:cNvSpPr/>
          <p:nvPr/>
        </p:nvSpPr>
        <p:spPr>
          <a:xfrm>
            <a:off x="15374343" y="3187898"/>
            <a:ext cx="2157810" cy="879673"/>
          </a:xfrm>
          <a:prstGeom prst="rect">
            <a:avLst/>
          </a:prstGeom>
          <a:noFill/>
          <a:ln/>
        </p:spPr>
        <p:txBody>
          <a:bodyPr wrap="square" lIns="25400" tIns="25400" rIns="25400" bIns="25400" rtlCol="0" anchor="ctr">
            <a:normAutofit/>
          </a:bodyPr>
          <a:lstStyle/>
          <a:p>
            <a:pPr marL="0" indent="0" algn="l">
              <a:buNone/>
            </a:pPr>
            <a:r>
              <a:rPr lang="en-US" sz="1500" b="1" dirty="0">
                <a:solidFill>
                  <a:srgbClr val="F47E76"/>
                </a:solidFill>
                <a:latin typeface="Arial" pitchFamily="34" charset="0"/>
                <a:ea typeface="Arial" pitchFamily="34" charset="-122"/>
                <a:cs typeface="Arial" pitchFamily="34" charset="-120"/>
              </a:rPr>
              <a:t>~12.5</a:t>
            </a:r>
            <a:endParaRPr lang="en-US" sz="1500" dirty="0"/>
          </a:p>
        </p:txBody>
      </p:sp>
      <p:sp>
        <p:nvSpPr>
          <p:cNvPr id="30" name="Shape 28"/>
          <p:cNvSpPr/>
          <p:nvPr/>
        </p:nvSpPr>
        <p:spPr>
          <a:xfrm>
            <a:off x="622300" y="4038997"/>
            <a:ext cx="3751064" cy="841573"/>
          </a:xfrm>
          <a:prstGeom prst="rect">
            <a:avLst/>
          </a:prstGeom>
          <a:solidFill>
            <a:srgbClr val="0E2139"/>
          </a:solidFill>
          <a:ln/>
        </p:spPr>
        <p:txBody>
          <a:bodyPr/>
          <a:lstStyle/>
          <a:p>
            <a:endParaRPr lang="en-US"/>
          </a:p>
        </p:txBody>
      </p:sp>
      <p:sp>
        <p:nvSpPr>
          <p:cNvPr id="31" name="Text 29"/>
          <p:cNvSpPr/>
          <p:nvPr/>
        </p:nvSpPr>
        <p:spPr>
          <a:xfrm>
            <a:off x="831850" y="4345384"/>
            <a:ext cx="1036638"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EAF1FA"/>
                </a:solidFill>
                <a:latin typeface="Courier New" pitchFamily="34" charset="0"/>
                <a:ea typeface="Courier New" pitchFamily="34" charset="-122"/>
                <a:cs typeface="Courier New" pitchFamily="34" charset="-120"/>
              </a:rPr>
              <a:t>aim_snap</a:t>
            </a:r>
            <a:endParaRPr lang="en-US" sz="1575" dirty="0"/>
          </a:p>
        </p:txBody>
      </p:sp>
      <p:sp>
        <p:nvSpPr>
          <p:cNvPr id="32" name="Shape 30"/>
          <p:cNvSpPr/>
          <p:nvPr/>
        </p:nvSpPr>
        <p:spPr>
          <a:xfrm>
            <a:off x="4382889" y="4038997"/>
            <a:ext cx="5001617" cy="841573"/>
          </a:xfrm>
          <a:prstGeom prst="rect">
            <a:avLst/>
          </a:prstGeom>
          <a:solidFill>
            <a:srgbClr val="0E2139"/>
          </a:solidFill>
          <a:ln/>
        </p:spPr>
        <p:txBody>
          <a:bodyPr/>
          <a:lstStyle/>
          <a:p>
            <a:endParaRPr lang="en-US"/>
          </a:p>
        </p:txBody>
      </p:sp>
      <p:sp>
        <p:nvSpPr>
          <p:cNvPr id="33" name="Text 31"/>
          <p:cNvSpPr/>
          <p:nvPr/>
        </p:nvSpPr>
        <p:spPr>
          <a:xfrm>
            <a:off x="4592439" y="4038997"/>
            <a:ext cx="4732566" cy="879673"/>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Courier New" pitchFamily="34" charset="0"/>
                <a:ea typeface="Courier New" pitchFamily="34" charset="-122"/>
                <a:cs typeface="Courier New" pitchFamily="34" charset="-120"/>
              </a:rPr>
              <a:t>aim_delta_max_1s &gt; 2.0</a:t>
            </a:r>
            <a:endParaRPr lang="en-US" sz="1500" dirty="0"/>
          </a:p>
        </p:txBody>
      </p:sp>
      <p:sp>
        <p:nvSpPr>
          <p:cNvPr id="34" name="Shape 32"/>
          <p:cNvSpPr/>
          <p:nvPr/>
        </p:nvSpPr>
        <p:spPr>
          <a:xfrm>
            <a:off x="9394031" y="4038997"/>
            <a:ext cx="2750741" cy="841573"/>
          </a:xfrm>
          <a:prstGeom prst="rect">
            <a:avLst/>
          </a:prstGeom>
          <a:solidFill>
            <a:srgbClr val="0E2139"/>
          </a:solidFill>
          <a:ln/>
        </p:spPr>
        <p:txBody>
          <a:bodyPr/>
          <a:lstStyle/>
          <a:p>
            <a:endParaRPr lang="en-US"/>
          </a:p>
        </p:txBody>
      </p:sp>
      <p:sp>
        <p:nvSpPr>
          <p:cNvPr id="35" name="Text 33"/>
          <p:cNvSpPr/>
          <p:nvPr/>
        </p:nvSpPr>
        <p:spPr>
          <a:xfrm>
            <a:off x="9603581" y="4038997"/>
            <a:ext cx="2414163" cy="879673"/>
          </a:xfrm>
          <a:prstGeom prst="rect">
            <a:avLst/>
          </a:prstGeom>
          <a:noFill/>
          <a:ln/>
        </p:spPr>
        <p:txBody>
          <a:bodyPr wrap="square" lIns="25400" tIns="25400" rIns="25400" bIns="25400" rtlCol="0" anchor="ctr">
            <a:normAutofit/>
          </a:bodyPr>
          <a:lstStyle/>
          <a:p>
            <a:pPr marL="0" indent="0" algn="l">
              <a:buNone/>
            </a:pPr>
            <a:r>
              <a:rPr lang="en-US" sz="1500" b="1" dirty="0">
                <a:solidFill>
                  <a:srgbClr val="F4B463"/>
                </a:solidFill>
                <a:latin typeface="Arial" pitchFamily="34" charset="0"/>
                <a:ea typeface="Arial" pitchFamily="34" charset="-122"/>
                <a:cs typeface="Arial" pitchFamily="34" charset="-120"/>
              </a:rPr>
              <a:t>Aimbot</a:t>
            </a:r>
            <a:endParaRPr lang="en-US" sz="1500" dirty="0"/>
          </a:p>
        </p:txBody>
      </p:sp>
      <p:sp>
        <p:nvSpPr>
          <p:cNvPr id="36" name="Shape 34"/>
          <p:cNvSpPr/>
          <p:nvPr/>
        </p:nvSpPr>
        <p:spPr>
          <a:xfrm>
            <a:off x="12154298" y="4038997"/>
            <a:ext cx="3000970" cy="841573"/>
          </a:xfrm>
          <a:prstGeom prst="rect">
            <a:avLst/>
          </a:prstGeom>
          <a:solidFill>
            <a:srgbClr val="0E2139"/>
          </a:solidFill>
          <a:ln/>
        </p:spPr>
        <p:txBody>
          <a:bodyPr/>
          <a:lstStyle/>
          <a:p>
            <a:endParaRPr lang="en-US"/>
          </a:p>
        </p:txBody>
      </p:sp>
      <p:sp>
        <p:nvSpPr>
          <p:cNvPr id="37" name="Text 35"/>
          <p:cNvSpPr/>
          <p:nvPr/>
        </p:nvSpPr>
        <p:spPr>
          <a:xfrm>
            <a:off x="12363848" y="4038997"/>
            <a:ext cx="2671899" cy="879673"/>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Arial" pitchFamily="34" charset="0"/>
                <a:ea typeface="Arial" pitchFamily="34" charset="-122"/>
                <a:cs typeface="Arial" pitchFamily="34" charset="-120"/>
              </a:rPr>
              <a:t>0 – 0.5 rad</a:t>
            </a:r>
            <a:endParaRPr lang="en-US" sz="1500" dirty="0"/>
          </a:p>
        </p:txBody>
      </p:sp>
      <p:sp>
        <p:nvSpPr>
          <p:cNvPr id="38" name="Shape 36"/>
          <p:cNvSpPr/>
          <p:nvPr/>
        </p:nvSpPr>
        <p:spPr>
          <a:xfrm>
            <a:off x="15164793" y="4038997"/>
            <a:ext cx="2500710" cy="841573"/>
          </a:xfrm>
          <a:prstGeom prst="rect">
            <a:avLst/>
          </a:prstGeom>
          <a:solidFill>
            <a:srgbClr val="0E2139"/>
          </a:solidFill>
          <a:ln/>
        </p:spPr>
        <p:txBody>
          <a:bodyPr/>
          <a:lstStyle/>
          <a:p>
            <a:endParaRPr lang="en-US"/>
          </a:p>
        </p:txBody>
      </p:sp>
      <p:sp>
        <p:nvSpPr>
          <p:cNvPr id="39" name="Text 37"/>
          <p:cNvSpPr/>
          <p:nvPr/>
        </p:nvSpPr>
        <p:spPr>
          <a:xfrm>
            <a:off x="15374343" y="4038997"/>
            <a:ext cx="2157810" cy="879673"/>
          </a:xfrm>
          <a:prstGeom prst="rect">
            <a:avLst/>
          </a:prstGeom>
          <a:noFill/>
          <a:ln/>
        </p:spPr>
        <p:txBody>
          <a:bodyPr wrap="square" lIns="25400" tIns="25400" rIns="25400" bIns="25400" rtlCol="0" anchor="ctr">
            <a:normAutofit/>
          </a:bodyPr>
          <a:lstStyle/>
          <a:p>
            <a:pPr marL="0" indent="0" algn="l">
              <a:buNone/>
            </a:pPr>
            <a:r>
              <a:rPr lang="en-US" sz="1500" b="1" dirty="0">
                <a:solidFill>
                  <a:srgbClr val="F47E76"/>
                </a:solidFill>
                <a:latin typeface="Arial" pitchFamily="34" charset="0"/>
                <a:ea typeface="Arial" pitchFamily="34" charset="-122"/>
                <a:cs typeface="Arial" pitchFamily="34" charset="-120"/>
              </a:rPr>
              <a:t>~3.14 rad</a:t>
            </a:r>
            <a:endParaRPr lang="en-US" sz="1500" dirty="0"/>
          </a:p>
        </p:txBody>
      </p:sp>
      <p:sp>
        <p:nvSpPr>
          <p:cNvPr id="40" name="Shape 38"/>
          <p:cNvSpPr/>
          <p:nvPr/>
        </p:nvSpPr>
        <p:spPr>
          <a:xfrm>
            <a:off x="622300" y="4890096"/>
            <a:ext cx="3751064" cy="841573"/>
          </a:xfrm>
          <a:prstGeom prst="rect">
            <a:avLst/>
          </a:prstGeom>
          <a:solidFill>
            <a:srgbClr val="0B1A30"/>
          </a:solidFill>
          <a:ln/>
        </p:spPr>
        <p:txBody>
          <a:bodyPr/>
          <a:lstStyle/>
          <a:p>
            <a:endParaRPr lang="en-US"/>
          </a:p>
        </p:txBody>
      </p:sp>
      <p:sp>
        <p:nvSpPr>
          <p:cNvPr id="41" name="Text 39"/>
          <p:cNvSpPr/>
          <p:nvPr/>
        </p:nvSpPr>
        <p:spPr>
          <a:xfrm>
            <a:off x="831850" y="5196483"/>
            <a:ext cx="211274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EAF1FA"/>
                </a:solidFill>
                <a:latin typeface="Courier New" pitchFamily="34" charset="0"/>
                <a:ea typeface="Courier New" pitchFamily="34" charset="-122"/>
                <a:cs typeface="Courier New" pitchFamily="34" charset="-120"/>
              </a:rPr>
              <a:t>inhuman_accuracy</a:t>
            </a:r>
            <a:endParaRPr lang="en-US" sz="1575" dirty="0"/>
          </a:p>
        </p:txBody>
      </p:sp>
      <p:sp>
        <p:nvSpPr>
          <p:cNvPr id="42" name="Shape 40"/>
          <p:cNvSpPr/>
          <p:nvPr/>
        </p:nvSpPr>
        <p:spPr>
          <a:xfrm>
            <a:off x="4382889" y="4890096"/>
            <a:ext cx="5001617" cy="841573"/>
          </a:xfrm>
          <a:prstGeom prst="rect">
            <a:avLst/>
          </a:prstGeom>
          <a:solidFill>
            <a:srgbClr val="0B1A30"/>
          </a:solidFill>
          <a:ln/>
        </p:spPr>
        <p:txBody>
          <a:bodyPr/>
          <a:lstStyle/>
          <a:p>
            <a:endParaRPr lang="en-US"/>
          </a:p>
        </p:txBody>
      </p:sp>
      <p:sp>
        <p:nvSpPr>
          <p:cNvPr id="43" name="Text 41"/>
          <p:cNvSpPr/>
          <p:nvPr/>
        </p:nvSpPr>
        <p:spPr>
          <a:xfrm>
            <a:off x="4592439" y="4890096"/>
            <a:ext cx="4732566" cy="879673"/>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Courier New" pitchFamily="34" charset="0"/>
                <a:ea typeface="Courier New" pitchFamily="34" charset="-122"/>
                <a:cs typeface="Courier New" pitchFamily="34" charset="-120"/>
              </a:rPr>
              <a:t>hit_rate_5s &gt; 85%</a:t>
            </a:r>
            <a:endParaRPr lang="en-US" sz="1500" dirty="0"/>
          </a:p>
        </p:txBody>
      </p:sp>
      <p:sp>
        <p:nvSpPr>
          <p:cNvPr id="44" name="Shape 42"/>
          <p:cNvSpPr/>
          <p:nvPr/>
        </p:nvSpPr>
        <p:spPr>
          <a:xfrm>
            <a:off x="9394031" y="4890096"/>
            <a:ext cx="2750741" cy="841573"/>
          </a:xfrm>
          <a:prstGeom prst="rect">
            <a:avLst/>
          </a:prstGeom>
          <a:solidFill>
            <a:srgbClr val="0B1A30"/>
          </a:solidFill>
          <a:ln/>
        </p:spPr>
        <p:txBody>
          <a:bodyPr/>
          <a:lstStyle/>
          <a:p>
            <a:endParaRPr lang="en-US"/>
          </a:p>
        </p:txBody>
      </p:sp>
      <p:sp>
        <p:nvSpPr>
          <p:cNvPr id="45" name="Text 43"/>
          <p:cNvSpPr/>
          <p:nvPr/>
        </p:nvSpPr>
        <p:spPr>
          <a:xfrm>
            <a:off x="9603581" y="4890096"/>
            <a:ext cx="2414163" cy="879673"/>
          </a:xfrm>
          <a:prstGeom prst="rect">
            <a:avLst/>
          </a:prstGeom>
          <a:noFill/>
          <a:ln/>
        </p:spPr>
        <p:txBody>
          <a:bodyPr wrap="square" lIns="25400" tIns="25400" rIns="25400" bIns="25400" rtlCol="0" anchor="ctr">
            <a:normAutofit/>
          </a:bodyPr>
          <a:lstStyle/>
          <a:p>
            <a:pPr marL="0" indent="0" algn="l">
              <a:buNone/>
            </a:pPr>
            <a:r>
              <a:rPr lang="en-US" sz="1500" b="1" dirty="0">
                <a:solidFill>
                  <a:srgbClr val="F4B463"/>
                </a:solidFill>
                <a:latin typeface="Arial" pitchFamily="34" charset="0"/>
                <a:ea typeface="Arial" pitchFamily="34" charset="-122"/>
                <a:cs typeface="Arial" pitchFamily="34" charset="-120"/>
              </a:rPr>
              <a:t>Aimbot</a:t>
            </a:r>
            <a:endParaRPr lang="en-US" sz="1500" dirty="0"/>
          </a:p>
        </p:txBody>
      </p:sp>
      <p:sp>
        <p:nvSpPr>
          <p:cNvPr id="46" name="Shape 44"/>
          <p:cNvSpPr/>
          <p:nvPr/>
        </p:nvSpPr>
        <p:spPr>
          <a:xfrm>
            <a:off x="12154298" y="4890096"/>
            <a:ext cx="3000970" cy="841573"/>
          </a:xfrm>
          <a:prstGeom prst="rect">
            <a:avLst/>
          </a:prstGeom>
          <a:solidFill>
            <a:srgbClr val="0B1A30"/>
          </a:solidFill>
          <a:ln/>
        </p:spPr>
        <p:txBody>
          <a:bodyPr/>
          <a:lstStyle/>
          <a:p>
            <a:endParaRPr lang="en-US"/>
          </a:p>
        </p:txBody>
      </p:sp>
      <p:sp>
        <p:nvSpPr>
          <p:cNvPr id="47" name="Text 45"/>
          <p:cNvSpPr/>
          <p:nvPr/>
        </p:nvSpPr>
        <p:spPr>
          <a:xfrm>
            <a:off x="12363848" y="4890096"/>
            <a:ext cx="2671899" cy="879673"/>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Arial" pitchFamily="34" charset="0"/>
                <a:ea typeface="Arial" pitchFamily="34" charset="-122"/>
                <a:cs typeface="Arial" pitchFamily="34" charset="-120"/>
              </a:rPr>
              <a:t>20 – 50%</a:t>
            </a:r>
            <a:endParaRPr lang="en-US" sz="1500" dirty="0"/>
          </a:p>
        </p:txBody>
      </p:sp>
      <p:sp>
        <p:nvSpPr>
          <p:cNvPr id="48" name="Shape 46"/>
          <p:cNvSpPr/>
          <p:nvPr/>
        </p:nvSpPr>
        <p:spPr>
          <a:xfrm>
            <a:off x="15164793" y="4890096"/>
            <a:ext cx="2500710" cy="841573"/>
          </a:xfrm>
          <a:prstGeom prst="rect">
            <a:avLst/>
          </a:prstGeom>
          <a:solidFill>
            <a:srgbClr val="0B1A30"/>
          </a:solidFill>
          <a:ln/>
        </p:spPr>
        <p:txBody>
          <a:bodyPr/>
          <a:lstStyle/>
          <a:p>
            <a:endParaRPr lang="en-US"/>
          </a:p>
        </p:txBody>
      </p:sp>
      <p:sp>
        <p:nvSpPr>
          <p:cNvPr id="49" name="Text 47"/>
          <p:cNvSpPr/>
          <p:nvPr/>
        </p:nvSpPr>
        <p:spPr>
          <a:xfrm>
            <a:off x="15374343" y="4890096"/>
            <a:ext cx="2157810" cy="879673"/>
          </a:xfrm>
          <a:prstGeom prst="rect">
            <a:avLst/>
          </a:prstGeom>
          <a:noFill/>
          <a:ln/>
        </p:spPr>
        <p:txBody>
          <a:bodyPr wrap="square" lIns="25400" tIns="25400" rIns="25400" bIns="25400" rtlCol="0" anchor="ctr">
            <a:normAutofit/>
          </a:bodyPr>
          <a:lstStyle/>
          <a:p>
            <a:pPr marL="0" indent="0" algn="l">
              <a:buNone/>
            </a:pPr>
            <a:r>
              <a:rPr lang="en-US" sz="1500" b="1" dirty="0">
                <a:solidFill>
                  <a:srgbClr val="F47E76"/>
                </a:solidFill>
                <a:latin typeface="Arial" pitchFamily="34" charset="0"/>
                <a:ea typeface="Arial" pitchFamily="34" charset="-122"/>
                <a:cs typeface="Arial" pitchFamily="34" charset="-120"/>
              </a:rPr>
              <a:t>~100%</a:t>
            </a:r>
            <a:endParaRPr lang="en-US" sz="1500" dirty="0"/>
          </a:p>
        </p:txBody>
      </p:sp>
      <p:sp>
        <p:nvSpPr>
          <p:cNvPr id="50" name="Shape 48"/>
          <p:cNvSpPr/>
          <p:nvPr/>
        </p:nvSpPr>
        <p:spPr>
          <a:xfrm>
            <a:off x="622300" y="5741194"/>
            <a:ext cx="3751064" cy="841772"/>
          </a:xfrm>
          <a:prstGeom prst="rect">
            <a:avLst/>
          </a:prstGeom>
          <a:solidFill>
            <a:srgbClr val="0E2139"/>
          </a:solidFill>
          <a:ln/>
        </p:spPr>
        <p:txBody>
          <a:bodyPr/>
          <a:lstStyle/>
          <a:p>
            <a:endParaRPr lang="en-US"/>
          </a:p>
        </p:txBody>
      </p:sp>
      <p:sp>
        <p:nvSpPr>
          <p:cNvPr id="51" name="Text 49"/>
          <p:cNvSpPr/>
          <p:nvPr/>
        </p:nvSpPr>
        <p:spPr>
          <a:xfrm>
            <a:off x="831850" y="6047780"/>
            <a:ext cx="1036638"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EAF1FA"/>
                </a:solidFill>
                <a:latin typeface="Courier New" pitchFamily="34" charset="0"/>
                <a:ea typeface="Courier New" pitchFamily="34" charset="-122"/>
                <a:cs typeface="Courier New" pitchFamily="34" charset="-120"/>
              </a:rPr>
              <a:t>aim_lock</a:t>
            </a:r>
            <a:endParaRPr lang="en-US" sz="1575" dirty="0"/>
          </a:p>
        </p:txBody>
      </p:sp>
      <p:sp>
        <p:nvSpPr>
          <p:cNvPr id="52" name="Shape 50"/>
          <p:cNvSpPr/>
          <p:nvPr/>
        </p:nvSpPr>
        <p:spPr>
          <a:xfrm>
            <a:off x="4382889" y="5741194"/>
            <a:ext cx="5001617" cy="841772"/>
          </a:xfrm>
          <a:prstGeom prst="rect">
            <a:avLst/>
          </a:prstGeom>
          <a:solidFill>
            <a:srgbClr val="0E2139"/>
          </a:solidFill>
          <a:ln/>
        </p:spPr>
        <p:txBody>
          <a:bodyPr/>
          <a:lstStyle/>
          <a:p>
            <a:endParaRPr lang="en-US"/>
          </a:p>
        </p:txBody>
      </p:sp>
      <p:sp>
        <p:nvSpPr>
          <p:cNvPr id="53" name="Text 51"/>
          <p:cNvSpPr/>
          <p:nvPr/>
        </p:nvSpPr>
        <p:spPr>
          <a:xfrm>
            <a:off x="4592439" y="5741194"/>
            <a:ext cx="4732566" cy="879872"/>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Courier New" pitchFamily="34" charset="0"/>
                <a:ea typeface="Courier New" pitchFamily="34" charset="-122"/>
                <a:cs typeface="Courier New" pitchFamily="34" charset="-120"/>
              </a:rPr>
              <a:t>aim_lock_ratio &gt; 90%</a:t>
            </a:r>
            <a:endParaRPr lang="en-US" sz="1500" dirty="0"/>
          </a:p>
        </p:txBody>
      </p:sp>
      <p:sp>
        <p:nvSpPr>
          <p:cNvPr id="54" name="Shape 52"/>
          <p:cNvSpPr/>
          <p:nvPr/>
        </p:nvSpPr>
        <p:spPr>
          <a:xfrm>
            <a:off x="9394031" y="5741194"/>
            <a:ext cx="2750741" cy="841772"/>
          </a:xfrm>
          <a:prstGeom prst="rect">
            <a:avLst/>
          </a:prstGeom>
          <a:solidFill>
            <a:srgbClr val="0E2139"/>
          </a:solidFill>
          <a:ln/>
        </p:spPr>
        <p:txBody>
          <a:bodyPr/>
          <a:lstStyle/>
          <a:p>
            <a:endParaRPr lang="en-US"/>
          </a:p>
        </p:txBody>
      </p:sp>
      <p:sp>
        <p:nvSpPr>
          <p:cNvPr id="55" name="Text 53"/>
          <p:cNvSpPr/>
          <p:nvPr/>
        </p:nvSpPr>
        <p:spPr>
          <a:xfrm>
            <a:off x="9603581" y="5741194"/>
            <a:ext cx="2414163" cy="879872"/>
          </a:xfrm>
          <a:prstGeom prst="rect">
            <a:avLst/>
          </a:prstGeom>
          <a:noFill/>
          <a:ln/>
        </p:spPr>
        <p:txBody>
          <a:bodyPr wrap="square" lIns="25400" tIns="25400" rIns="25400" bIns="25400" rtlCol="0" anchor="ctr">
            <a:normAutofit/>
          </a:bodyPr>
          <a:lstStyle/>
          <a:p>
            <a:pPr marL="0" indent="0" algn="l">
              <a:buNone/>
            </a:pPr>
            <a:r>
              <a:rPr lang="en-US" sz="1500" b="1" dirty="0">
                <a:solidFill>
                  <a:srgbClr val="F4B463"/>
                </a:solidFill>
                <a:latin typeface="Arial" pitchFamily="34" charset="0"/>
                <a:ea typeface="Arial" pitchFamily="34" charset="-122"/>
                <a:cs typeface="Arial" pitchFamily="34" charset="-120"/>
              </a:rPr>
              <a:t>Aimbot</a:t>
            </a:r>
            <a:endParaRPr lang="en-US" sz="1500" dirty="0"/>
          </a:p>
        </p:txBody>
      </p:sp>
      <p:sp>
        <p:nvSpPr>
          <p:cNvPr id="56" name="Shape 54"/>
          <p:cNvSpPr/>
          <p:nvPr/>
        </p:nvSpPr>
        <p:spPr>
          <a:xfrm>
            <a:off x="12154298" y="5741194"/>
            <a:ext cx="3000970" cy="841772"/>
          </a:xfrm>
          <a:prstGeom prst="rect">
            <a:avLst/>
          </a:prstGeom>
          <a:solidFill>
            <a:srgbClr val="0E2139"/>
          </a:solidFill>
          <a:ln/>
        </p:spPr>
        <p:txBody>
          <a:bodyPr/>
          <a:lstStyle/>
          <a:p>
            <a:endParaRPr lang="en-US"/>
          </a:p>
        </p:txBody>
      </p:sp>
      <p:sp>
        <p:nvSpPr>
          <p:cNvPr id="57" name="Text 55"/>
          <p:cNvSpPr/>
          <p:nvPr/>
        </p:nvSpPr>
        <p:spPr>
          <a:xfrm>
            <a:off x="12363848" y="5741194"/>
            <a:ext cx="2671899" cy="879872"/>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Arial" pitchFamily="34" charset="0"/>
                <a:ea typeface="Arial" pitchFamily="34" charset="-122"/>
                <a:cs typeface="Arial" pitchFamily="34" charset="-120"/>
              </a:rPr>
              <a:t>5 – 30%</a:t>
            </a:r>
            <a:endParaRPr lang="en-US" sz="1500" dirty="0"/>
          </a:p>
        </p:txBody>
      </p:sp>
      <p:sp>
        <p:nvSpPr>
          <p:cNvPr id="58" name="Shape 56"/>
          <p:cNvSpPr/>
          <p:nvPr/>
        </p:nvSpPr>
        <p:spPr>
          <a:xfrm>
            <a:off x="15164793" y="5741194"/>
            <a:ext cx="2500710" cy="841772"/>
          </a:xfrm>
          <a:prstGeom prst="rect">
            <a:avLst/>
          </a:prstGeom>
          <a:solidFill>
            <a:srgbClr val="0E2139"/>
          </a:solidFill>
          <a:ln/>
        </p:spPr>
        <p:txBody>
          <a:bodyPr/>
          <a:lstStyle/>
          <a:p>
            <a:endParaRPr lang="en-US"/>
          </a:p>
        </p:txBody>
      </p:sp>
      <p:sp>
        <p:nvSpPr>
          <p:cNvPr id="59" name="Text 57"/>
          <p:cNvSpPr/>
          <p:nvPr/>
        </p:nvSpPr>
        <p:spPr>
          <a:xfrm>
            <a:off x="15374343" y="5741194"/>
            <a:ext cx="2157810" cy="879872"/>
          </a:xfrm>
          <a:prstGeom prst="rect">
            <a:avLst/>
          </a:prstGeom>
          <a:noFill/>
          <a:ln/>
        </p:spPr>
        <p:txBody>
          <a:bodyPr wrap="square" lIns="25400" tIns="25400" rIns="25400" bIns="25400" rtlCol="0" anchor="ctr">
            <a:normAutofit/>
          </a:bodyPr>
          <a:lstStyle/>
          <a:p>
            <a:pPr marL="0" indent="0" algn="l">
              <a:buNone/>
            </a:pPr>
            <a:r>
              <a:rPr lang="en-US" sz="1500" b="1" dirty="0">
                <a:solidFill>
                  <a:srgbClr val="F47E76"/>
                </a:solidFill>
                <a:latin typeface="Arial" pitchFamily="34" charset="0"/>
                <a:ea typeface="Arial" pitchFamily="34" charset="-122"/>
                <a:cs typeface="Arial" pitchFamily="34" charset="-120"/>
              </a:rPr>
              <a:t>~100%</a:t>
            </a:r>
            <a:endParaRPr lang="en-US" sz="1500" dirty="0"/>
          </a:p>
        </p:txBody>
      </p:sp>
      <p:sp>
        <p:nvSpPr>
          <p:cNvPr id="60" name="Shape 58"/>
          <p:cNvSpPr/>
          <p:nvPr/>
        </p:nvSpPr>
        <p:spPr>
          <a:xfrm>
            <a:off x="622300" y="6592491"/>
            <a:ext cx="3751064" cy="841772"/>
          </a:xfrm>
          <a:prstGeom prst="rect">
            <a:avLst/>
          </a:prstGeom>
          <a:solidFill>
            <a:srgbClr val="0B1A30"/>
          </a:solidFill>
          <a:ln/>
        </p:spPr>
        <p:txBody>
          <a:bodyPr/>
          <a:lstStyle/>
          <a:p>
            <a:endParaRPr lang="en-US"/>
          </a:p>
        </p:txBody>
      </p:sp>
      <p:sp>
        <p:nvSpPr>
          <p:cNvPr id="61" name="Text 59"/>
          <p:cNvSpPr/>
          <p:nvPr/>
        </p:nvSpPr>
        <p:spPr>
          <a:xfrm>
            <a:off x="831850" y="6899077"/>
            <a:ext cx="916583"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EAF1FA"/>
                </a:solidFill>
                <a:latin typeface="Courier New" pitchFamily="34" charset="0"/>
                <a:ea typeface="Courier New" pitchFamily="34" charset="-122"/>
                <a:cs typeface="Courier New" pitchFamily="34" charset="-120"/>
              </a:rPr>
              <a:t>prefire</a:t>
            </a:r>
            <a:endParaRPr lang="en-US" sz="1575" dirty="0"/>
          </a:p>
        </p:txBody>
      </p:sp>
      <p:sp>
        <p:nvSpPr>
          <p:cNvPr id="62" name="Shape 60"/>
          <p:cNvSpPr/>
          <p:nvPr/>
        </p:nvSpPr>
        <p:spPr>
          <a:xfrm>
            <a:off x="4382889" y="6592491"/>
            <a:ext cx="5001617" cy="841772"/>
          </a:xfrm>
          <a:prstGeom prst="rect">
            <a:avLst/>
          </a:prstGeom>
          <a:solidFill>
            <a:srgbClr val="0B1A30"/>
          </a:solidFill>
          <a:ln/>
        </p:spPr>
        <p:txBody>
          <a:bodyPr/>
          <a:lstStyle/>
          <a:p>
            <a:endParaRPr lang="en-US"/>
          </a:p>
        </p:txBody>
      </p:sp>
      <p:sp>
        <p:nvSpPr>
          <p:cNvPr id="63" name="Text 61"/>
          <p:cNvSpPr/>
          <p:nvPr/>
        </p:nvSpPr>
        <p:spPr>
          <a:xfrm>
            <a:off x="4592439" y="6592491"/>
            <a:ext cx="4732566" cy="879872"/>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Courier New" pitchFamily="34" charset="0"/>
                <a:ea typeface="Courier New" pitchFamily="34" charset="-122"/>
                <a:cs typeface="Courier New" pitchFamily="34" charset="-120"/>
              </a:rPr>
              <a:t>prefire_ratio &gt; 60%</a:t>
            </a:r>
            <a:endParaRPr lang="en-US" sz="1500" dirty="0"/>
          </a:p>
        </p:txBody>
      </p:sp>
      <p:sp>
        <p:nvSpPr>
          <p:cNvPr id="64" name="Shape 62"/>
          <p:cNvSpPr/>
          <p:nvPr/>
        </p:nvSpPr>
        <p:spPr>
          <a:xfrm>
            <a:off x="9394031" y="6592491"/>
            <a:ext cx="2750741" cy="841772"/>
          </a:xfrm>
          <a:prstGeom prst="rect">
            <a:avLst/>
          </a:prstGeom>
          <a:solidFill>
            <a:srgbClr val="0B1A30"/>
          </a:solidFill>
          <a:ln/>
        </p:spPr>
        <p:txBody>
          <a:bodyPr/>
          <a:lstStyle/>
          <a:p>
            <a:endParaRPr lang="en-US"/>
          </a:p>
        </p:txBody>
      </p:sp>
      <p:sp>
        <p:nvSpPr>
          <p:cNvPr id="65" name="Text 63"/>
          <p:cNvSpPr/>
          <p:nvPr/>
        </p:nvSpPr>
        <p:spPr>
          <a:xfrm>
            <a:off x="9603581" y="6592491"/>
            <a:ext cx="2414163" cy="879872"/>
          </a:xfrm>
          <a:prstGeom prst="rect">
            <a:avLst/>
          </a:prstGeom>
          <a:noFill/>
          <a:ln/>
        </p:spPr>
        <p:txBody>
          <a:bodyPr wrap="square" lIns="25400" tIns="25400" rIns="25400" bIns="25400" rtlCol="0" anchor="ctr">
            <a:normAutofit/>
          </a:bodyPr>
          <a:lstStyle/>
          <a:p>
            <a:pPr marL="0" indent="0" algn="l">
              <a:buNone/>
            </a:pPr>
            <a:r>
              <a:rPr lang="en-US" sz="1500" b="1" dirty="0">
                <a:solidFill>
                  <a:srgbClr val="F47E76"/>
                </a:solidFill>
                <a:latin typeface="Arial" pitchFamily="34" charset="0"/>
                <a:ea typeface="Arial" pitchFamily="34" charset="-122"/>
                <a:cs typeface="Arial" pitchFamily="34" charset="-120"/>
              </a:rPr>
              <a:t>Wallhack</a:t>
            </a:r>
            <a:endParaRPr lang="en-US" sz="1500" dirty="0"/>
          </a:p>
        </p:txBody>
      </p:sp>
      <p:sp>
        <p:nvSpPr>
          <p:cNvPr id="66" name="Shape 64"/>
          <p:cNvSpPr/>
          <p:nvPr/>
        </p:nvSpPr>
        <p:spPr>
          <a:xfrm>
            <a:off x="12154298" y="6592491"/>
            <a:ext cx="3000970" cy="841772"/>
          </a:xfrm>
          <a:prstGeom prst="rect">
            <a:avLst/>
          </a:prstGeom>
          <a:solidFill>
            <a:srgbClr val="0B1A30"/>
          </a:solidFill>
          <a:ln/>
        </p:spPr>
        <p:txBody>
          <a:bodyPr/>
          <a:lstStyle/>
          <a:p>
            <a:endParaRPr lang="en-US"/>
          </a:p>
        </p:txBody>
      </p:sp>
      <p:sp>
        <p:nvSpPr>
          <p:cNvPr id="67" name="Text 65"/>
          <p:cNvSpPr/>
          <p:nvPr/>
        </p:nvSpPr>
        <p:spPr>
          <a:xfrm>
            <a:off x="12363848" y="6592491"/>
            <a:ext cx="2671899" cy="879872"/>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Arial" pitchFamily="34" charset="0"/>
                <a:ea typeface="Arial" pitchFamily="34" charset="-122"/>
                <a:cs typeface="Arial" pitchFamily="34" charset="-120"/>
              </a:rPr>
              <a:t>0 – 15%</a:t>
            </a:r>
            <a:endParaRPr lang="en-US" sz="1500" dirty="0"/>
          </a:p>
        </p:txBody>
      </p:sp>
      <p:sp>
        <p:nvSpPr>
          <p:cNvPr id="68" name="Shape 66"/>
          <p:cNvSpPr/>
          <p:nvPr/>
        </p:nvSpPr>
        <p:spPr>
          <a:xfrm>
            <a:off x="15164793" y="6592491"/>
            <a:ext cx="2500710" cy="841772"/>
          </a:xfrm>
          <a:prstGeom prst="rect">
            <a:avLst/>
          </a:prstGeom>
          <a:solidFill>
            <a:srgbClr val="0B1A30"/>
          </a:solidFill>
          <a:ln/>
        </p:spPr>
        <p:txBody>
          <a:bodyPr/>
          <a:lstStyle/>
          <a:p>
            <a:endParaRPr lang="en-US"/>
          </a:p>
        </p:txBody>
      </p:sp>
      <p:sp>
        <p:nvSpPr>
          <p:cNvPr id="69" name="Text 67"/>
          <p:cNvSpPr/>
          <p:nvPr/>
        </p:nvSpPr>
        <p:spPr>
          <a:xfrm>
            <a:off x="15374343" y="6592491"/>
            <a:ext cx="2157810" cy="879872"/>
          </a:xfrm>
          <a:prstGeom prst="rect">
            <a:avLst/>
          </a:prstGeom>
          <a:noFill/>
          <a:ln/>
        </p:spPr>
        <p:txBody>
          <a:bodyPr wrap="square" lIns="25400" tIns="25400" rIns="25400" bIns="25400" rtlCol="0" anchor="ctr">
            <a:normAutofit/>
          </a:bodyPr>
          <a:lstStyle/>
          <a:p>
            <a:pPr marL="0" indent="0" algn="l">
              <a:buNone/>
            </a:pPr>
            <a:r>
              <a:rPr lang="en-US" sz="1500" b="1" dirty="0">
                <a:solidFill>
                  <a:srgbClr val="F47E76"/>
                </a:solidFill>
                <a:latin typeface="Arial" pitchFamily="34" charset="0"/>
                <a:ea typeface="Arial" pitchFamily="34" charset="-122"/>
                <a:cs typeface="Arial" pitchFamily="34" charset="-120"/>
              </a:rPr>
              <a:t>&gt; 60%</a:t>
            </a:r>
            <a:endParaRPr lang="en-US" sz="1500" dirty="0"/>
          </a:p>
        </p:txBody>
      </p:sp>
      <p:sp>
        <p:nvSpPr>
          <p:cNvPr id="70" name="Shape 68"/>
          <p:cNvSpPr/>
          <p:nvPr/>
        </p:nvSpPr>
        <p:spPr>
          <a:xfrm>
            <a:off x="622300" y="7443788"/>
            <a:ext cx="3751064" cy="841772"/>
          </a:xfrm>
          <a:prstGeom prst="rect">
            <a:avLst/>
          </a:prstGeom>
          <a:solidFill>
            <a:srgbClr val="0E2139"/>
          </a:solidFill>
          <a:ln/>
        </p:spPr>
        <p:txBody>
          <a:bodyPr/>
          <a:lstStyle/>
          <a:p>
            <a:endParaRPr lang="en-US"/>
          </a:p>
        </p:txBody>
      </p:sp>
      <p:sp>
        <p:nvSpPr>
          <p:cNvPr id="71" name="Text 69"/>
          <p:cNvSpPr/>
          <p:nvPr/>
        </p:nvSpPr>
        <p:spPr>
          <a:xfrm>
            <a:off x="831850" y="7750373"/>
            <a:ext cx="211274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EAF1FA"/>
                </a:solidFill>
                <a:latin typeface="Courier New" pitchFamily="34" charset="0"/>
                <a:ea typeface="Courier New" pitchFamily="34" charset="-122"/>
                <a:cs typeface="Courier New" pitchFamily="34" charset="-120"/>
              </a:rPr>
              <a:t>triggerbot_react</a:t>
            </a:r>
            <a:endParaRPr lang="en-US" sz="1575" dirty="0"/>
          </a:p>
        </p:txBody>
      </p:sp>
      <p:sp>
        <p:nvSpPr>
          <p:cNvPr id="72" name="Shape 70"/>
          <p:cNvSpPr/>
          <p:nvPr/>
        </p:nvSpPr>
        <p:spPr>
          <a:xfrm>
            <a:off x="4382889" y="7443788"/>
            <a:ext cx="5001617" cy="841772"/>
          </a:xfrm>
          <a:prstGeom prst="rect">
            <a:avLst/>
          </a:prstGeom>
          <a:solidFill>
            <a:srgbClr val="0E2139"/>
          </a:solidFill>
          <a:ln/>
        </p:spPr>
        <p:txBody>
          <a:bodyPr/>
          <a:lstStyle/>
          <a:p>
            <a:endParaRPr lang="en-US"/>
          </a:p>
        </p:txBody>
      </p:sp>
      <p:sp>
        <p:nvSpPr>
          <p:cNvPr id="73" name="Text 71"/>
          <p:cNvSpPr/>
          <p:nvPr/>
        </p:nvSpPr>
        <p:spPr>
          <a:xfrm>
            <a:off x="4592439" y="7443788"/>
            <a:ext cx="4732566" cy="879872"/>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Courier New" pitchFamily="34" charset="0"/>
                <a:ea typeface="Courier New" pitchFamily="34" charset="-122"/>
                <a:cs typeface="Courier New" pitchFamily="34" charset="-120"/>
              </a:rPr>
              <a:t>reaction_time &lt; 3</a:t>
            </a:r>
            <a:endParaRPr lang="en-US" sz="1500" dirty="0"/>
          </a:p>
        </p:txBody>
      </p:sp>
      <p:sp>
        <p:nvSpPr>
          <p:cNvPr id="74" name="Shape 72"/>
          <p:cNvSpPr/>
          <p:nvPr/>
        </p:nvSpPr>
        <p:spPr>
          <a:xfrm>
            <a:off x="9394031" y="7443788"/>
            <a:ext cx="2750741" cy="841772"/>
          </a:xfrm>
          <a:prstGeom prst="rect">
            <a:avLst/>
          </a:prstGeom>
          <a:solidFill>
            <a:srgbClr val="0E2139"/>
          </a:solidFill>
          <a:ln/>
        </p:spPr>
        <p:txBody>
          <a:bodyPr/>
          <a:lstStyle/>
          <a:p>
            <a:endParaRPr lang="en-US"/>
          </a:p>
        </p:txBody>
      </p:sp>
      <p:sp>
        <p:nvSpPr>
          <p:cNvPr id="75" name="Text 73"/>
          <p:cNvSpPr/>
          <p:nvPr/>
        </p:nvSpPr>
        <p:spPr>
          <a:xfrm>
            <a:off x="9603581" y="7443788"/>
            <a:ext cx="2414163" cy="879872"/>
          </a:xfrm>
          <a:prstGeom prst="rect">
            <a:avLst/>
          </a:prstGeom>
          <a:noFill/>
          <a:ln/>
        </p:spPr>
        <p:txBody>
          <a:bodyPr wrap="square" lIns="25400" tIns="25400" rIns="25400" bIns="25400" rtlCol="0" anchor="ctr">
            <a:normAutofit/>
          </a:bodyPr>
          <a:lstStyle/>
          <a:p>
            <a:pPr marL="0" indent="0" algn="l">
              <a:buNone/>
            </a:pPr>
            <a:r>
              <a:rPr lang="en-US" sz="1500" b="1" dirty="0">
                <a:solidFill>
                  <a:srgbClr val="B79CEA"/>
                </a:solidFill>
                <a:latin typeface="Arial" pitchFamily="34" charset="0"/>
                <a:ea typeface="Arial" pitchFamily="34" charset="-122"/>
                <a:cs typeface="Arial" pitchFamily="34" charset="-120"/>
              </a:rPr>
              <a:t>Triggerbot</a:t>
            </a:r>
            <a:endParaRPr lang="en-US" sz="1500" dirty="0"/>
          </a:p>
        </p:txBody>
      </p:sp>
      <p:sp>
        <p:nvSpPr>
          <p:cNvPr id="76" name="Shape 74"/>
          <p:cNvSpPr/>
          <p:nvPr/>
        </p:nvSpPr>
        <p:spPr>
          <a:xfrm>
            <a:off x="12154298" y="7443788"/>
            <a:ext cx="3000970" cy="841772"/>
          </a:xfrm>
          <a:prstGeom prst="rect">
            <a:avLst/>
          </a:prstGeom>
          <a:solidFill>
            <a:srgbClr val="0E2139"/>
          </a:solidFill>
          <a:ln/>
        </p:spPr>
        <p:txBody>
          <a:bodyPr/>
          <a:lstStyle/>
          <a:p>
            <a:endParaRPr lang="en-US"/>
          </a:p>
        </p:txBody>
      </p:sp>
      <p:sp>
        <p:nvSpPr>
          <p:cNvPr id="77" name="Text 75"/>
          <p:cNvSpPr/>
          <p:nvPr/>
        </p:nvSpPr>
        <p:spPr>
          <a:xfrm>
            <a:off x="12363848" y="7443788"/>
            <a:ext cx="2671899" cy="879872"/>
          </a:xfrm>
          <a:prstGeom prst="rect">
            <a:avLst/>
          </a:prstGeom>
          <a:noFill/>
          <a:ln/>
        </p:spPr>
        <p:txBody>
          <a:bodyPr wrap="square" lIns="25400" tIns="25400" rIns="25400" bIns="25400" rtlCol="0" anchor="ctr">
            <a:normAutofit/>
          </a:bodyPr>
          <a:lstStyle/>
          <a:p>
            <a:pPr marL="0" indent="0" algn="l">
              <a:buNone/>
            </a:pPr>
            <a:r>
              <a:rPr lang="en-US" sz="1500" dirty="0">
                <a:solidFill>
                  <a:srgbClr val="AFC2D6"/>
                </a:solidFill>
                <a:latin typeface="Arial" pitchFamily="34" charset="0"/>
                <a:ea typeface="Arial" pitchFamily="34" charset="-122"/>
                <a:cs typeface="Arial" pitchFamily="34" charset="-120"/>
              </a:rPr>
              <a:t>9 – 15 ticks</a:t>
            </a:r>
            <a:endParaRPr lang="en-US" sz="1500" dirty="0"/>
          </a:p>
        </p:txBody>
      </p:sp>
      <p:sp>
        <p:nvSpPr>
          <p:cNvPr id="78" name="Shape 76"/>
          <p:cNvSpPr/>
          <p:nvPr/>
        </p:nvSpPr>
        <p:spPr>
          <a:xfrm>
            <a:off x="15164793" y="7443788"/>
            <a:ext cx="2500710" cy="841772"/>
          </a:xfrm>
          <a:prstGeom prst="rect">
            <a:avLst/>
          </a:prstGeom>
          <a:solidFill>
            <a:srgbClr val="0E2139"/>
          </a:solidFill>
          <a:ln/>
        </p:spPr>
        <p:txBody>
          <a:bodyPr/>
          <a:lstStyle/>
          <a:p>
            <a:endParaRPr lang="en-US"/>
          </a:p>
        </p:txBody>
      </p:sp>
      <p:sp>
        <p:nvSpPr>
          <p:cNvPr id="79" name="Text 77"/>
          <p:cNvSpPr/>
          <p:nvPr/>
        </p:nvSpPr>
        <p:spPr>
          <a:xfrm>
            <a:off x="15374343" y="7443788"/>
            <a:ext cx="2157810" cy="879872"/>
          </a:xfrm>
          <a:prstGeom prst="rect">
            <a:avLst/>
          </a:prstGeom>
          <a:noFill/>
          <a:ln/>
        </p:spPr>
        <p:txBody>
          <a:bodyPr wrap="square" lIns="25400" tIns="25400" rIns="25400" bIns="25400" rtlCol="0" anchor="ctr">
            <a:normAutofit/>
          </a:bodyPr>
          <a:lstStyle/>
          <a:p>
            <a:pPr marL="0" indent="0" algn="l">
              <a:buNone/>
            </a:pPr>
            <a:r>
              <a:rPr lang="en-US" sz="1500" b="1" dirty="0">
                <a:solidFill>
                  <a:srgbClr val="F47E76"/>
                </a:solidFill>
                <a:latin typeface="Arial" pitchFamily="34" charset="0"/>
                <a:ea typeface="Arial" pitchFamily="34" charset="-122"/>
                <a:cs typeface="Arial" pitchFamily="34" charset="-120"/>
              </a:rPr>
              <a:t>1 – 2</a:t>
            </a:r>
            <a:endParaRPr lang="en-US" sz="1500" dirty="0"/>
          </a:p>
        </p:txBody>
      </p:sp>
      <p:sp>
        <p:nvSpPr>
          <p:cNvPr id="80" name="Shape 78"/>
          <p:cNvSpPr/>
          <p:nvPr/>
        </p:nvSpPr>
        <p:spPr>
          <a:xfrm>
            <a:off x="609600" y="8507810"/>
            <a:ext cx="17068800" cy="1061641"/>
          </a:xfrm>
          <a:prstGeom prst="roundRect">
            <a:avLst>
              <a:gd name="adj" fmla="val 10766"/>
            </a:avLst>
          </a:prstGeom>
          <a:gradFill rotWithShape="1">
            <a:gsLst>
              <a:gs pos="0">
                <a:srgbClr val="3B8EE6">
                  <a:alpha val="18000"/>
                </a:srgbClr>
              </a:gs>
              <a:gs pos="100000">
                <a:srgbClr val="FFFFFF">
                  <a:alpha val="3000"/>
                </a:srgbClr>
              </a:gs>
            </a:gsLst>
            <a:lin ang="0" scaled="0"/>
          </a:gradFill>
          <a:ln w="12700">
            <a:solidFill>
              <a:srgbClr val="FFFFFF">
                <a:alpha val="10000"/>
              </a:srgbClr>
            </a:solidFill>
            <a:prstDash val="solid"/>
          </a:ln>
        </p:spPr>
        <p:txBody>
          <a:bodyPr/>
          <a:lstStyle/>
          <a:p>
            <a:endParaRPr lang="en-US"/>
          </a:p>
        </p:txBody>
      </p:sp>
      <p:sp>
        <p:nvSpPr>
          <p:cNvPr id="81" name="Text 79"/>
          <p:cNvSpPr/>
          <p:nvPr/>
        </p:nvSpPr>
        <p:spPr>
          <a:xfrm>
            <a:off x="908050" y="8898930"/>
            <a:ext cx="1721148" cy="317500"/>
          </a:xfrm>
          <a:prstGeom prst="rect">
            <a:avLst/>
          </a:prstGeom>
          <a:noFill/>
          <a:ln/>
        </p:spPr>
        <p:txBody>
          <a:bodyPr wrap="square" lIns="25400" tIns="25400" rIns="25400" bIns="25400" rtlCol="0" anchor="t">
            <a:normAutofit/>
          </a:bodyPr>
          <a:lstStyle/>
          <a:p>
            <a:pPr marL="0" indent="0" algn="l">
              <a:buNone/>
            </a:pPr>
            <a:r>
              <a:rPr lang="en-US" sz="1500" b="1" kern="0" spc="113" dirty="0">
                <a:solidFill>
                  <a:srgbClr val="6FB3F2"/>
                </a:solidFill>
                <a:latin typeface="Arial" pitchFamily="34" charset="0"/>
                <a:ea typeface="Arial" pitchFamily="34" charset="-122"/>
                <a:cs typeface="Arial" pitchFamily="34" charset="-120"/>
              </a:rPr>
              <a:t>KEY INSIGHT</a:t>
            </a:r>
            <a:endParaRPr lang="en-US" sz="1500" dirty="0"/>
          </a:p>
        </p:txBody>
      </p:sp>
      <p:sp>
        <p:nvSpPr>
          <p:cNvPr id="82" name="Text 80"/>
          <p:cNvSpPr/>
          <p:nvPr/>
        </p:nvSpPr>
        <p:spPr>
          <a:xfrm>
            <a:off x="2701330" y="8730060"/>
            <a:ext cx="15118979" cy="655241"/>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D2DEEB"/>
                </a:solidFill>
                <a:latin typeface="Arial" pitchFamily="34" charset="0"/>
                <a:ea typeface="Arial" pitchFamily="34" charset="-122"/>
                <a:cs typeface="Arial" pitchFamily="34" charset="-120"/>
              </a:rPr>
              <a:t>Every threshold sits in a </a:t>
            </a:r>
            <a:r>
              <a:rPr lang="en-US" sz="1800" b="1" dirty="0">
                <a:solidFill>
                  <a:srgbClr val="FFFFFF"/>
                </a:solidFill>
                <a:latin typeface="Arial" pitchFamily="34" charset="0"/>
                <a:ea typeface="Arial" pitchFamily="34" charset="-122"/>
                <a:cs typeface="Arial" pitchFamily="34" charset="-120"/>
              </a:rPr>
              <a:t>dead zone </a:t>
            </a:r>
            <a:r>
              <a:rPr lang="en-US" sz="1800" dirty="0">
                <a:solidFill>
                  <a:srgbClr val="D2DEEB"/>
                </a:solidFill>
                <a:latin typeface="Arial" pitchFamily="34" charset="0"/>
                <a:ea typeface="Arial" pitchFamily="34" charset="-122"/>
                <a:cs typeface="Arial" pitchFamily="34" charset="-120"/>
              </a:rPr>
              <a:t>between what is physically possible for a human and what the cheat produces - derived directly from game physics, with no statistical tuning required.</a:t>
            </a:r>
            <a:endParaRPr lang="en-US" sz="1800" dirty="0"/>
          </a:p>
        </p:txBody>
      </p:sp>
      <p:sp>
        <p:nvSpPr>
          <p:cNvPr id="83" name="Shape 81"/>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84" name="Text 82"/>
          <p:cNvSpPr/>
          <p:nvPr/>
        </p:nvSpPr>
        <p:spPr>
          <a:xfrm>
            <a:off x="6096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85" name="Text 83"/>
          <p:cNvSpPr/>
          <p:nvPr/>
        </p:nvSpPr>
        <p:spPr>
          <a:xfrm>
            <a:off x="171831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05 / 18</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609600" y="411163"/>
            <a:ext cx="104775" cy="104775"/>
          </a:xfrm>
          <a:prstGeom prst="roundRect">
            <a:avLst>
              <a:gd name="adj" fmla="val 18182"/>
            </a:avLst>
          </a:prstGeom>
          <a:solidFill>
            <a:srgbClr val="F2A33C"/>
          </a:solidFill>
          <a:ln/>
          <a:effectLst>
            <a:outerShdw blurRad="133350" dist="50800" dir="16200000" algn="bl" rotWithShape="0">
              <a:srgbClr val="F2A33C">
                <a:alpha val="100000"/>
              </a:srgbClr>
            </a:outerShdw>
          </a:effectLst>
        </p:spPr>
        <p:txBody>
          <a:bodyPr/>
          <a:lstStyle/>
          <a:p>
            <a:endParaRPr lang="en-US"/>
          </a:p>
        </p:txBody>
      </p:sp>
      <p:sp>
        <p:nvSpPr>
          <p:cNvPr id="4" name="Text 2"/>
          <p:cNvSpPr/>
          <p:nvPr/>
        </p:nvSpPr>
        <p:spPr>
          <a:xfrm>
            <a:off x="828675" y="323850"/>
            <a:ext cx="4041041"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F4B463"/>
                </a:solidFill>
                <a:latin typeface="Arial" pitchFamily="34" charset="0"/>
                <a:ea typeface="Arial" pitchFamily="34" charset="-122"/>
                <a:cs typeface="Arial" pitchFamily="34" charset="-120"/>
              </a:rPr>
              <a:t>DETECTION · LAYERS 2 &amp; 3</a:t>
            </a:r>
            <a:endParaRPr lang="en-US" sz="1500" dirty="0"/>
          </a:p>
        </p:txBody>
      </p:sp>
      <p:sp>
        <p:nvSpPr>
          <p:cNvPr id="5" name="Text 3"/>
          <p:cNvSpPr/>
          <p:nvPr/>
        </p:nvSpPr>
        <p:spPr>
          <a:xfrm>
            <a:off x="609600" y="708025"/>
            <a:ext cx="10987187"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Why XGBoost + LSTM Autoencoder?</a:t>
            </a:r>
            <a:endParaRPr lang="en-US" sz="4050" dirty="0"/>
          </a:p>
        </p:txBody>
      </p:sp>
      <p:sp>
        <p:nvSpPr>
          <p:cNvPr id="6" name="Text 4"/>
          <p:cNvSpPr/>
          <p:nvPr/>
        </p:nvSpPr>
        <p:spPr>
          <a:xfrm>
            <a:off x="158867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06</a:t>
            </a:r>
            <a:endParaRPr lang="en-US" sz="11250" dirty="0"/>
          </a:p>
        </p:txBody>
      </p:sp>
      <p:sp>
        <p:nvSpPr>
          <p:cNvPr id="7" name="Shape 5"/>
          <p:cNvSpPr/>
          <p:nvPr/>
        </p:nvSpPr>
        <p:spPr>
          <a:xfrm>
            <a:off x="609600" y="1504950"/>
            <a:ext cx="17068800" cy="19050"/>
          </a:xfrm>
          <a:prstGeom prst="rect">
            <a:avLst/>
          </a:prstGeom>
          <a:gradFill rotWithShape="1">
            <a:gsLst>
              <a:gs pos="0">
                <a:srgbClr val="F2A33C">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Shape 6"/>
          <p:cNvSpPr/>
          <p:nvPr/>
        </p:nvSpPr>
        <p:spPr>
          <a:xfrm>
            <a:off x="609600" y="1752600"/>
            <a:ext cx="8401050" cy="7816850"/>
          </a:xfrm>
          <a:prstGeom prst="roundRect">
            <a:avLst>
              <a:gd name="adj" fmla="val 1706"/>
            </a:avLst>
          </a:prstGeom>
          <a:solidFill>
            <a:srgbClr val="FFFFFF">
              <a:alpha val="4000"/>
            </a:srgbClr>
          </a:solidFill>
          <a:ln w="12700">
            <a:solidFill>
              <a:srgbClr val="FFFFFF">
                <a:alpha val="10000"/>
              </a:srgbClr>
            </a:solidFill>
            <a:prstDash val="solid"/>
          </a:ln>
        </p:spPr>
        <p:txBody>
          <a:bodyPr/>
          <a:lstStyle/>
          <a:p>
            <a:endParaRPr lang="en-US"/>
          </a:p>
        </p:txBody>
      </p:sp>
      <p:sp>
        <p:nvSpPr>
          <p:cNvPr id="9" name="Shape 7"/>
          <p:cNvSpPr/>
          <p:nvPr/>
        </p:nvSpPr>
        <p:spPr>
          <a:xfrm>
            <a:off x="622300" y="1765300"/>
            <a:ext cx="8375650" cy="787400"/>
          </a:xfrm>
          <a:prstGeom prst="rect">
            <a:avLst/>
          </a:prstGeom>
          <a:gradFill rotWithShape="1">
            <a:gsLst>
              <a:gs pos="0">
                <a:srgbClr val="E0892B">
                  <a:alpha val="100000"/>
                </a:srgbClr>
              </a:gs>
              <a:gs pos="100000">
                <a:srgbClr val="F2A33C">
                  <a:alpha val="100000"/>
                </a:srgbClr>
              </a:gs>
            </a:gsLst>
            <a:lin ang="600000" scaled="0"/>
          </a:gradFill>
          <a:ln/>
        </p:spPr>
        <p:txBody>
          <a:bodyPr/>
          <a:lstStyle/>
          <a:p>
            <a:endParaRPr lang="en-US"/>
          </a:p>
        </p:txBody>
      </p:sp>
      <p:sp>
        <p:nvSpPr>
          <p:cNvPr id="10" name="Text 8"/>
          <p:cNvSpPr/>
          <p:nvPr/>
        </p:nvSpPr>
        <p:spPr>
          <a:xfrm>
            <a:off x="889000" y="1955800"/>
            <a:ext cx="8626475" cy="444500"/>
          </a:xfrm>
          <a:prstGeom prst="rect">
            <a:avLst/>
          </a:prstGeom>
          <a:noFill/>
          <a:ln/>
        </p:spPr>
        <p:txBody>
          <a:bodyPr wrap="square" lIns="25400" tIns="25400" rIns="25400" bIns="25400" rtlCol="0" anchor="t">
            <a:normAutofit/>
          </a:bodyPr>
          <a:lstStyle/>
          <a:p>
            <a:pPr marL="0" indent="0" algn="l">
              <a:buNone/>
            </a:pPr>
            <a:r>
              <a:rPr lang="en-US" sz="2250" b="1" dirty="0">
                <a:solidFill>
                  <a:srgbClr val="1A1206"/>
                </a:solidFill>
                <a:latin typeface="Arial" pitchFamily="34" charset="0"/>
                <a:ea typeface="Arial" pitchFamily="34" charset="-122"/>
                <a:cs typeface="Arial" pitchFamily="34" charset="-120"/>
              </a:rPr>
              <a:t>XGBoost · Supervised Classification</a:t>
            </a:r>
            <a:endParaRPr lang="en-US" sz="2250" dirty="0"/>
          </a:p>
        </p:txBody>
      </p:sp>
      <p:sp>
        <p:nvSpPr>
          <p:cNvPr id="11" name="Text 9"/>
          <p:cNvSpPr/>
          <p:nvPr/>
        </p:nvSpPr>
        <p:spPr>
          <a:xfrm>
            <a:off x="889000" y="2762250"/>
            <a:ext cx="8626475" cy="292100"/>
          </a:xfrm>
          <a:prstGeom prst="rect">
            <a:avLst/>
          </a:prstGeom>
          <a:noFill/>
          <a:ln/>
        </p:spPr>
        <p:txBody>
          <a:bodyPr wrap="square" lIns="25400" tIns="25400" rIns="25400" bIns="25400" rtlCol="0" anchor="t">
            <a:normAutofit/>
          </a:bodyPr>
          <a:lstStyle/>
          <a:p>
            <a:pPr marL="0" indent="0" algn="l">
              <a:buNone/>
            </a:pPr>
            <a:r>
              <a:rPr lang="en-US" sz="1425" b="1" kern="0" spc="75" dirty="0">
                <a:solidFill>
                  <a:srgbClr val="F4B463"/>
                </a:solidFill>
                <a:latin typeface="Arial" pitchFamily="34" charset="0"/>
                <a:ea typeface="Arial" pitchFamily="34" charset="-122"/>
                <a:cs typeface="Arial" pitchFamily="34" charset="-120"/>
              </a:rPr>
              <a:t>ALTERNATIVES CONSIDERED</a:t>
            </a:r>
            <a:endParaRPr lang="en-US" sz="1425" dirty="0"/>
          </a:p>
        </p:txBody>
      </p:sp>
      <p:sp>
        <p:nvSpPr>
          <p:cNvPr id="12" name="Text 10"/>
          <p:cNvSpPr/>
          <p:nvPr/>
        </p:nvSpPr>
        <p:spPr>
          <a:xfrm>
            <a:off x="889000" y="3149600"/>
            <a:ext cx="239713" cy="317500"/>
          </a:xfrm>
          <a:prstGeom prst="rect">
            <a:avLst/>
          </a:prstGeom>
          <a:noFill/>
          <a:ln/>
        </p:spPr>
        <p:txBody>
          <a:bodyPr wrap="square" lIns="25400" tIns="25400" rIns="25400" bIns="25400" rtlCol="0" anchor="t">
            <a:normAutofit/>
          </a:bodyPr>
          <a:lstStyle/>
          <a:p>
            <a:pPr marL="0" indent="0" algn="l">
              <a:buNone/>
            </a:pPr>
            <a:r>
              <a:rPr lang="en-US" sz="1575" b="1" dirty="0">
                <a:solidFill>
                  <a:srgbClr val="F0584E"/>
                </a:solidFill>
                <a:latin typeface="Arial" pitchFamily="34" charset="0"/>
                <a:ea typeface="Arial" pitchFamily="34" charset="-122"/>
                <a:cs typeface="Arial" pitchFamily="34" charset="-120"/>
              </a:rPr>
              <a:t>✕</a:t>
            </a:r>
            <a:endParaRPr lang="en-US" sz="1575" dirty="0"/>
          </a:p>
        </p:txBody>
      </p:sp>
      <p:sp>
        <p:nvSpPr>
          <p:cNvPr id="13" name="Text 11"/>
          <p:cNvSpPr/>
          <p:nvPr/>
        </p:nvSpPr>
        <p:spPr>
          <a:xfrm>
            <a:off x="1176338" y="3175000"/>
            <a:ext cx="6224290"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Random Forest </a:t>
            </a:r>
            <a:r>
              <a:rPr lang="en-US" sz="1575" dirty="0">
                <a:solidFill>
                  <a:srgbClr val="D2DEEB"/>
                </a:solidFill>
                <a:latin typeface="Arial" pitchFamily="34" charset="0"/>
                <a:ea typeface="Arial" pitchFamily="34" charset="-122"/>
                <a:cs typeface="Arial" pitchFamily="34" charset="-120"/>
              </a:rPr>
              <a:t>- slower inference; trees traversed sequentially</a:t>
            </a:r>
            <a:endParaRPr lang="en-US" sz="1575" dirty="0"/>
          </a:p>
        </p:txBody>
      </p:sp>
      <p:sp>
        <p:nvSpPr>
          <p:cNvPr id="14" name="Text 12"/>
          <p:cNvSpPr/>
          <p:nvPr/>
        </p:nvSpPr>
        <p:spPr>
          <a:xfrm>
            <a:off x="889000" y="3539728"/>
            <a:ext cx="239713" cy="317500"/>
          </a:xfrm>
          <a:prstGeom prst="rect">
            <a:avLst/>
          </a:prstGeom>
          <a:noFill/>
          <a:ln/>
        </p:spPr>
        <p:txBody>
          <a:bodyPr wrap="square" lIns="25400" tIns="25400" rIns="25400" bIns="25400" rtlCol="0" anchor="t">
            <a:normAutofit/>
          </a:bodyPr>
          <a:lstStyle/>
          <a:p>
            <a:pPr marL="0" indent="0" algn="l">
              <a:buNone/>
            </a:pPr>
            <a:r>
              <a:rPr lang="en-US" sz="1575" b="1" dirty="0">
                <a:solidFill>
                  <a:srgbClr val="F0584E"/>
                </a:solidFill>
                <a:latin typeface="Arial" pitchFamily="34" charset="0"/>
                <a:ea typeface="Arial" pitchFamily="34" charset="-122"/>
                <a:cs typeface="Arial" pitchFamily="34" charset="-120"/>
              </a:rPr>
              <a:t>✕</a:t>
            </a:r>
            <a:endParaRPr lang="en-US" sz="1575" dirty="0"/>
          </a:p>
        </p:txBody>
      </p:sp>
      <p:sp>
        <p:nvSpPr>
          <p:cNvPr id="15" name="Text 13"/>
          <p:cNvSpPr/>
          <p:nvPr/>
        </p:nvSpPr>
        <p:spPr>
          <a:xfrm>
            <a:off x="1176338" y="3565128"/>
            <a:ext cx="6323171"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SVM </a:t>
            </a:r>
            <a:r>
              <a:rPr lang="en-US" sz="1575" dirty="0">
                <a:solidFill>
                  <a:srgbClr val="D2DEEB"/>
                </a:solidFill>
                <a:latin typeface="Arial" pitchFamily="34" charset="0"/>
                <a:ea typeface="Arial" pitchFamily="34" charset="-122"/>
                <a:cs typeface="Arial" pitchFamily="34" charset="-120"/>
              </a:rPr>
              <a:t>- scales poorly beyond 10K samples; no native probabilities</a:t>
            </a:r>
            <a:endParaRPr lang="en-US" sz="1575" dirty="0"/>
          </a:p>
        </p:txBody>
      </p:sp>
      <p:sp>
        <p:nvSpPr>
          <p:cNvPr id="16" name="Text 14"/>
          <p:cNvSpPr/>
          <p:nvPr/>
        </p:nvSpPr>
        <p:spPr>
          <a:xfrm>
            <a:off x="889000" y="3929856"/>
            <a:ext cx="239713" cy="317500"/>
          </a:xfrm>
          <a:prstGeom prst="rect">
            <a:avLst/>
          </a:prstGeom>
          <a:noFill/>
          <a:ln/>
        </p:spPr>
        <p:txBody>
          <a:bodyPr wrap="square" lIns="25400" tIns="25400" rIns="25400" bIns="25400" rtlCol="0" anchor="t">
            <a:normAutofit/>
          </a:bodyPr>
          <a:lstStyle/>
          <a:p>
            <a:pPr marL="0" indent="0" algn="l">
              <a:buNone/>
            </a:pPr>
            <a:r>
              <a:rPr lang="en-US" sz="1575" b="1" dirty="0">
                <a:solidFill>
                  <a:srgbClr val="F0584E"/>
                </a:solidFill>
                <a:latin typeface="Arial" pitchFamily="34" charset="0"/>
                <a:ea typeface="Arial" pitchFamily="34" charset="-122"/>
                <a:cs typeface="Arial" pitchFamily="34" charset="-120"/>
              </a:rPr>
              <a:t>✕</a:t>
            </a:r>
            <a:endParaRPr lang="en-US" sz="1575" dirty="0"/>
          </a:p>
        </p:txBody>
      </p:sp>
      <p:sp>
        <p:nvSpPr>
          <p:cNvPr id="17" name="Text 15"/>
          <p:cNvSpPr/>
          <p:nvPr/>
        </p:nvSpPr>
        <p:spPr>
          <a:xfrm>
            <a:off x="1176338" y="3955256"/>
            <a:ext cx="5906473"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Deep Neural Net </a:t>
            </a:r>
            <a:r>
              <a:rPr lang="en-US" sz="1575" dirty="0">
                <a:solidFill>
                  <a:srgbClr val="D2DEEB"/>
                </a:solidFill>
                <a:latin typeface="Arial" pitchFamily="34" charset="0"/>
                <a:ea typeface="Arial" pitchFamily="34" charset="-122"/>
                <a:cs typeface="Arial" pitchFamily="34" charset="-120"/>
              </a:rPr>
              <a:t>- overfits small tabular data; XGBoost wins</a:t>
            </a:r>
            <a:endParaRPr lang="en-US" sz="1575" dirty="0"/>
          </a:p>
        </p:txBody>
      </p:sp>
      <p:sp>
        <p:nvSpPr>
          <p:cNvPr id="18" name="Text 16"/>
          <p:cNvSpPr/>
          <p:nvPr/>
        </p:nvSpPr>
        <p:spPr>
          <a:xfrm>
            <a:off x="889000" y="4319985"/>
            <a:ext cx="239713" cy="317500"/>
          </a:xfrm>
          <a:prstGeom prst="rect">
            <a:avLst/>
          </a:prstGeom>
          <a:noFill/>
          <a:ln/>
        </p:spPr>
        <p:txBody>
          <a:bodyPr wrap="square" lIns="25400" tIns="25400" rIns="25400" bIns="25400" rtlCol="0" anchor="t">
            <a:normAutofit/>
          </a:bodyPr>
          <a:lstStyle/>
          <a:p>
            <a:pPr marL="0" indent="0" algn="l">
              <a:buNone/>
            </a:pPr>
            <a:r>
              <a:rPr lang="en-US" sz="1575" b="1" dirty="0">
                <a:solidFill>
                  <a:srgbClr val="F0584E"/>
                </a:solidFill>
                <a:latin typeface="Arial" pitchFamily="34" charset="0"/>
                <a:ea typeface="Arial" pitchFamily="34" charset="-122"/>
                <a:cs typeface="Arial" pitchFamily="34" charset="-120"/>
              </a:rPr>
              <a:t>✕</a:t>
            </a:r>
            <a:endParaRPr lang="en-US" sz="1575" dirty="0"/>
          </a:p>
        </p:txBody>
      </p:sp>
      <p:sp>
        <p:nvSpPr>
          <p:cNvPr id="19" name="Text 17"/>
          <p:cNvSpPr/>
          <p:nvPr/>
        </p:nvSpPr>
        <p:spPr>
          <a:xfrm>
            <a:off x="1176338" y="4345384"/>
            <a:ext cx="5980470"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Logistic Regression </a:t>
            </a:r>
            <a:r>
              <a:rPr lang="en-US" sz="1575" dirty="0">
                <a:solidFill>
                  <a:srgbClr val="D2DEEB"/>
                </a:solidFill>
                <a:latin typeface="Arial" pitchFamily="34" charset="0"/>
                <a:ea typeface="Arial" pitchFamily="34" charset="-122"/>
                <a:cs typeface="Arial" pitchFamily="34" charset="-120"/>
              </a:rPr>
              <a:t>- cannot capture non-linear interactions</a:t>
            </a:r>
            <a:endParaRPr lang="en-US" sz="1575" dirty="0"/>
          </a:p>
        </p:txBody>
      </p:sp>
      <p:sp>
        <p:nvSpPr>
          <p:cNvPr id="20" name="Shape 18"/>
          <p:cNvSpPr/>
          <p:nvPr/>
        </p:nvSpPr>
        <p:spPr>
          <a:xfrm>
            <a:off x="889000" y="4767263"/>
            <a:ext cx="7842250" cy="9525"/>
          </a:xfrm>
          <a:prstGeom prst="rect">
            <a:avLst/>
          </a:prstGeom>
          <a:solidFill>
            <a:srgbClr val="FFFFFF">
              <a:alpha val="10000"/>
            </a:srgbClr>
          </a:solidFill>
          <a:ln/>
        </p:spPr>
        <p:txBody>
          <a:bodyPr/>
          <a:lstStyle/>
          <a:p>
            <a:endParaRPr lang="en-US"/>
          </a:p>
        </p:txBody>
      </p:sp>
      <p:sp>
        <p:nvSpPr>
          <p:cNvPr id="21" name="Text 19"/>
          <p:cNvSpPr/>
          <p:nvPr/>
        </p:nvSpPr>
        <p:spPr>
          <a:xfrm>
            <a:off x="889000" y="4938713"/>
            <a:ext cx="8626475" cy="292100"/>
          </a:xfrm>
          <a:prstGeom prst="rect">
            <a:avLst/>
          </a:prstGeom>
          <a:noFill/>
          <a:ln/>
        </p:spPr>
        <p:txBody>
          <a:bodyPr wrap="square" lIns="25400" tIns="25400" rIns="25400" bIns="25400" rtlCol="0" anchor="t">
            <a:normAutofit/>
          </a:bodyPr>
          <a:lstStyle/>
          <a:p>
            <a:pPr marL="0" indent="0" algn="l">
              <a:buNone/>
            </a:pPr>
            <a:r>
              <a:rPr lang="en-US" sz="1425" b="1" kern="0" spc="75" dirty="0">
                <a:solidFill>
                  <a:srgbClr val="F4B463"/>
                </a:solidFill>
                <a:latin typeface="Arial" pitchFamily="34" charset="0"/>
                <a:ea typeface="Arial" pitchFamily="34" charset="-122"/>
                <a:cs typeface="Arial" pitchFamily="34" charset="-120"/>
              </a:rPr>
              <a:t>WHY IT WINS</a:t>
            </a:r>
            <a:endParaRPr lang="en-US" sz="1425" dirty="0"/>
          </a:p>
        </p:txBody>
      </p:sp>
      <p:sp>
        <p:nvSpPr>
          <p:cNvPr id="22" name="Shape 20"/>
          <p:cNvSpPr/>
          <p:nvPr/>
        </p:nvSpPr>
        <p:spPr>
          <a:xfrm>
            <a:off x="889000" y="5421313"/>
            <a:ext cx="76200" cy="76200"/>
          </a:xfrm>
          <a:prstGeom prst="roundRect">
            <a:avLst>
              <a:gd name="adj" fmla="val 25000"/>
            </a:avLst>
          </a:prstGeom>
          <a:solidFill>
            <a:srgbClr val="F2A33C"/>
          </a:solidFill>
          <a:ln/>
        </p:spPr>
        <p:txBody>
          <a:bodyPr/>
          <a:lstStyle/>
          <a:p>
            <a:endParaRPr lang="en-US"/>
          </a:p>
        </p:txBody>
      </p:sp>
      <p:sp>
        <p:nvSpPr>
          <p:cNvPr id="23" name="Text 21"/>
          <p:cNvSpPr/>
          <p:nvPr/>
        </p:nvSpPr>
        <p:spPr>
          <a:xfrm>
            <a:off x="1089025" y="5326063"/>
            <a:ext cx="4212828"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&lt; 1ms inference per tick - real-time at 60Hz</a:t>
            </a:r>
            <a:endParaRPr lang="en-US" sz="1575" dirty="0"/>
          </a:p>
        </p:txBody>
      </p:sp>
      <p:sp>
        <p:nvSpPr>
          <p:cNvPr id="24" name="Shape 22"/>
          <p:cNvSpPr/>
          <p:nvPr/>
        </p:nvSpPr>
        <p:spPr>
          <a:xfrm>
            <a:off x="889000" y="5776516"/>
            <a:ext cx="76200" cy="76200"/>
          </a:xfrm>
          <a:prstGeom prst="roundRect">
            <a:avLst>
              <a:gd name="adj" fmla="val 25000"/>
            </a:avLst>
          </a:prstGeom>
          <a:solidFill>
            <a:srgbClr val="F2A33C"/>
          </a:solidFill>
          <a:ln/>
        </p:spPr>
        <p:txBody>
          <a:bodyPr/>
          <a:lstStyle/>
          <a:p>
            <a:endParaRPr lang="en-US"/>
          </a:p>
        </p:txBody>
      </p:sp>
      <p:sp>
        <p:nvSpPr>
          <p:cNvPr id="25" name="Text 23"/>
          <p:cNvSpPr/>
          <p:nvPr/>
        </p:nvSpPr>
        <p:spPr>
          <a:xfrm>
            <a:off x="1089025" y="5681266"/>
            <a:ext cx="4133592"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Built-in feature importance - top-3 per alert</a:t>
            </a:r>
            <a:endParaRPr lang="en-US" sz="1575" dirty="0"/>
          </a:p>
        </p:txBody>
      </p:sp>
      <p:sp>
        <p:nvSpPr>
          <p:cNvPr id="26" name="Shape 24"/>
          <p:cNvSpPr/>
          <p:nvPr/>
        </p:nvSpPr>
        <p:spPr>
          <a:xfrm>
            <a:off x="889000" y="6131719"/>
            <a:ext cx="76200" cy="76200"/>
          </a:xfrm>
          <a:prstGeom prst="roundRect">
            <a:avLst>
              <a:gd name="adj" fmla="val 25000"/>
            </a:avLst>
          </a:prstGeom>
          <a:solidFill>
            <a:srgbClr val="F2A33C"/>
          </a:solidFill>
          <a:ln/>
        </p:spPr>
        <p:txBody>
          <a:bodyPr/>
          <a:lstStyle/>
          <a:p>
            <a:endParaRPr lang="en-US"/>
          </a:p>
        </p:txBody>
      </p:sp>
      <p:sp>
        <p:nvSpPr>
          <p:cNvPr id="27" name="Text 25"/>
          <p:cNvSpPr/>
          <p:nvPr/>
        </p:nvSpPr>
        <p:spPr>
          <a:xfrm>
            <a:off x="1089025" y="6036469"/>
            <a:ext cx="4934684"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Handles missing values + class imbalance natively</a:t>
            </a:r>
            <a:endParaRPr lang="en-US" sz="1575" dirty="0"/>
          </a:p>
        </p:txBody>
      </p:sp>
      <p:sp>
        <p:nvSpPr>
          <p:cNvPr id="28" name="Shape 26"/>
          <p:cNvSpPr/>
          <p:nvPr/>
        </p:nvSpPr>
        <p:spPr>
          <a:xfrm>
            <a:off x="889000" y="6474222"/>
            <a:ext cx="76200" cy="76200"/>
          </a:xfrm>
          <a:prstGeom prst="roundRect">
            <a:avLst>
              <a:gd name="adj" fmla="val 25000"/>
            </a:avLst>
          </a:prstGeom>
          <a:solidFill>
            <a:srgbClr val="F2A33C"/>
          </a:solidFill>
          <a:ln/>
        </p:spPr>
        <p:txBody>
          <a:bodyPr/>
          <a:lstStyle/>
          <a:p>
            <a:endParaRPr lang="en-US"/>
          </a:p>
        </p:txBody>
      </p:sp>
      <p:sp>
        <p:nvSpPr>
          <p:cNvPr id="29" name="Text 27"/>
          <p:cNvSpPr/>
          <p:nvPr/>
        </p:nvSpPr>
        <p:spPr>
          <a:xfrm>
            <a:off x="1089025" y="6391672"/>
            <a:ext cx="5545654"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Courier New" pitchFamily="34" charset="0"/>
                <a:ea typeface="Courier New" pitchFamily="34" charset="-122"/>
                <a:cs typeface="Courier New" pitchFamily="34" charset="-120"/>
              </a:rPr>
              <a:t>max_depth=6 · lr=0.1 · n_est=200 · sub=0.8</a:t>
            </a:r>
            <a:endParaRPr lang="en-US" sz="1575" dirty="0"/>
          </a:p>
        </p:txBody>
      </p:sp>
      <p:sp>
        <p:nvSpPr>
          <p:cNvPr id="30" name="Shape 28"/>
          <p:cNvSpPr/>
          <p:nvPr/>
        </p:nvSpPr>
        <p:spPr>
          <a:xfrm>
            <a:off x="9277350" y="1752600"/>
            <a:ext cx="8401050" cy="7816850"/>
          </a:xfrm>
          <a:prstGeom prst="roundRect">
            <a:avLst>
              <a:gd name="adj" fmla="val 1706"/>
            </a:avLst>
          </a:prstGeom>
          <a:solidFill>
            <a:srgbClr val="FFFFFF">
              <a:alpha val="4000"/>
            </a:srgbClr>
          </a:solidFill>
          <a:ln w="12700">
            <a:solidFill>
              <a:srgbClr val="FFFFFF">
                <a:alpha val="10000"/>
              </a:srgbClr>
            </a:solidFill>
            <a:prstDash val="solid"/>
          </a:ln>
        </p:spPr>
        <p:txBody>
          <a:bodyPr/>
          <a:lstStyle/>
          <a:p>
            <a:endParaRPr lang="en-US"/>
          </a:p>
        </p:txBody>
      </p:sp>
      <p:sp>
        <p:nvSpPr>
          <p:cNvPr id="31" name="Shape 29"/>
          <p:cNvSpPr/>
          <p:nvPr/>
        </p:nvSpPr>
        <p:spPr>
          <a:xfrm>
            <a:off x="9290050" y="1765300"/>
            <a:ext cx="8375650" cy="787400"/>
          </a:xfrm>
          <a:prstGeom prst="rect">
            <a:avLst/>
          </a:prstGeom>
          <a:gradFill rotWithShape="1">
            <a:gsLst>
              <a:gs pos="0">
                <a:srgbClr val="CF4B43">
                  <a:alpha val="100000"/>
                </a:srgbClr>
              </a:gs>
              <a:gs pos="100000">
                <a:srgbClr val="F0584E">
                  <a:alpha val="100000"/>
                </a:srgbClr>
              </a:gs>
            </a:gsLst>
            <a:lin ang="600000" scaled="0"/>
          </a:gradFill>
          <a:ln/>
        </p:spPr>
        <p:txBody>
          <a:bodyPr/>
          <a:lstStyle/>
          <a:p>
            <a:endParaRPr lang="en-US"/>
          </a:p>
        </p:txBody>
      </p:sp>
      <p:sp>
        <p:nvSpPr>
          <p:cNvPr id="32" name="Text 30"/>
          <p:cNvSpPr/>
          <p:nvPr/>
        </p:nvSpPr>
        <p:spPr>
          <a:xfrm>
            <a:off x="9556750" y="1955800"/>
            <a:ext cx="8626475" cy="4445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LSTM Autoencoder · Anomaly Detection</a:t>
            </a:r>
            <a:endParaRPr lang="en-US" sz="2250" dirty="0"/>
          </a:p>
        </p:txBody>
      </p:sp>
      <p:sp>
        <p:nvSpPr>
          <p:cNvPr id="33" name="Text 31"/>
          <p:cNvSpPr/>
          <p:nvPr/>
        </p:nvSpPr>
        <p:spPr>
          <a:xfrm>
            <a:off x="9556750" y="2762250"/>
            <a:ext cx="8626475" cy="292100"/>
          </a:xfrm>
          <a:prstGeom prst="rect">
            <a:avLst/>
          </a:prstGeom>
          <a:noFill/>
          <a:ln/>
        </p:spPr>
        <p:txBody>
          <a:bodyPr wrap="square" lIns="25400" tIns="25400" rIns="25400" bIns="25400" rtlCol="0" anchor="t">
            <a:normAutofit/>
          </a:bodyPr>
          <a:lstStyle/>
          <a:p>
            <a:pPr marL="0" indent="0" algn="l">
              <a:buNone/>
            </a:pPr>
            <a:r>
              <a:rPr lang="en-US" sz="1425" b="1" kern="0" spc="75" dirty="0">
                <a:solidFill>
                  <a:srgbClr val="F47E76"/>
                </a:solidFill>
                <a:latin typeface="Arial" pitchFamily="34" charset="0"/>
                <a:ea typeface="Arial" pitchFamily="34" charset="-122"/>
                <a:cs typeface="Arial" pitchFamily="34" charset="-120"/>
              </a:rPr>
              <a:t>ALTERNATIVES CONSIDERED</a:t>
            </a:r>
            <a:endParaRPr lang="en-US" sz="1425" dirty="0"/>
          </a:p>
        </p:txBody>
      </p:sp>
      <p:sp>
        <p:nvSpPr>
          <p:cNvPr id="34" name="Text 32"/>
          <p:cNvSpPr/>
          <p:nvPr/>
        </p:nvSpPr>
        <p:spPr>
          <a:xfrm>
            <a:off x="9556750" y="3149600"/>
            <a:ext cx="239713" cy="317500"/>
          </a:xfrm>
          <a:prstGeom prst="rect">
            <a:avLst/>
          </a:prstGeom>
          <a:noFill/>
          <a:ln/>
        </p:spPr>
        <p:txBody>
          <a:bodyPr wrap="square" lIns="25400" tIns="25400" rIns="25400" bIns="25400" rtlCol="0" anchor="t">
            <a:normAutofit/>
          </a:bodyPr>
          <a:lstStyle/>
          <a:p>
            <a:pPr marL="0" indent="0" algn="l">
              <a:buNone/>
            </a:pPr>
            <a:r>
              <a:rPr lang="en-US" sz="1575" b="1" dirty="0">
                <a:solidFill>
                  <a:srgbClr val="F0584E"/>
                </a:solidFill>
                <a:latin typeface="Arial" pitchFamily="34" charset="0"/>
                <a:ea typeface="Arial" pitchFamily="34" charset="-122"/>
                <a:cs typeface="Arial" pitchFamily="34" charset="-120"/>
              </a:rPr>
              <a:t>✕</a:t>
            </a:r>
            <a:endParaRPr lang="en-US" sz="1575" dirty="0"/>
          </a:p>
        </p:txBody>
      </p:sp>
      <p:sp>
        <p:nvSpPr>
          <p:cNvPr id="35" name="Text 33"/>
          <p:cNvSpPr/>
          <p:nvPr/>
        </p:nvSpPr>
        <p:spPr>
          <a:xfrm>
            <a:off x="9844088" y="3175000"/>
            <a:ext cx="6896814"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Isolation Forest </a:t>
            </a:r>
            <a:r>
              <a:rPr lang="en-US" sz="1575" dirty="0">
                <a:solidFill>
                  <a:srgbClr val="D2DEEB"/>
                </a:solidFill>
                <a:latin typeface="Arial" pitchFamily="34" charset="0"/>
                <a:ea typeface="Arial" pitchFamily="34" charset="-122"/>
                <a:cs typeface="Arial" pitchFamily="34" charset="-120"/>
              </a:rPr>
              <a:t>- treats ticks independently; misses temporal patterns</a:t>
            </a:r>
            <a:endParaRPr lang="en-US" sz="1575" dirty="0"/>
          </a:p>
        </p:txBody>
      </p:sp>
      <p:sp>
        <p:nvSpPr>
          <p:cNvPr id="36" name="Text 34"/>
          <p:cNvSpPr/>
          <p:nvPr/>
        </p:nvSpPr>
        <p:spPr>
          <a:xfrm>
            <a:off x="9556750" y="3539728"/>
            <a:ext cx="239713" cy="317500"/>
          </a:xfrm>
          <a:prstGeom prst="rect">
            <a:avLst/>
          </a:prstGeom>
          <a:noFill/>
          <a:ln/>
        </p:spPr>
        <p:txBody>
          <a:bodyPr wrap="square" lIns="25400" tIns="25400" rIns="25400" bIns="25400" rtlCol="0" anchor="t">
            <a:normAutofit/>
          </a:bodyPr>
          <a:lstStyle/>
          <a:p>
            <a:pPr marL="0" indent="0" algn="l">
              <a:buNone/>
            </a:pPr>
            <a:r>
              <a:rPr lang="en-US" sz="1575" b="1" dirty="0">
                <a:solidFill>
                  <a:srgbClr val="F0584E"/>
                </a:solidFill>
                <a:latin typeface="Arial" pitchFamily="34" charset="0"/>
                <a:ea typeface="Arial" pitchFamily="34" charset="-122"/>
                <a:cs typeface="Arial" pitchFamily="34" charset="-120"/>
              </a:rPr>
              <a:t>✕</a:t>
            </a:r>
            <a:endParaRPr lang="en-US" sz="1575" dirty="0"/>
          </a:p>
        </p:txBody>
      </p:sp>
      <p:sp>
        <p:nvSpPr>
          <p:cNvPr id="37" name="Text 35"/>
          <p:cNvSpPr/>
          <p:nvPr/>
        </p:nvSpPr>
        <p:spPr>
          <a:xfrm>
            <a:off x="9844088" y="3565128"/>
            <a:ext cx="6004699"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1D CNN </a:t>
            </a:r>
            <a:r>
              <a:rPr lang="en-US" sz="1575" dirty="0">
                <a:solidFill>
                  <a:srgbClr val="D2DEEB"/>
                </a:solidFill>
                <a:latin typeface="Arial" pitchFamily="34" charset="0"/>
                <a:ea typeface="Arial" pitchFamily="34" charset="-122"/>
                <a:cs typeface="Arial" pitchFamily="34" charset="-120"/>
              </a:rPr>
              <a:t>- fixed receptive field; LSTM captures variable length</a:t>
            </a:r>
            <a:endParaRPr lang="en-US" sz="1575" dirty="0"/>
          </a:p>
        </p:txBody>
      </p:sp>
      <p:sp>
        <p:nvSpPr>
          <p:cNvPr id="38" name="Text 36"/>
          <p:cNvSpPr/>
          <p:nvPr/>
        </p:nvSpPr>
        <p:spPr>
          <a:xfrm>
            <a:off x="9556750" y="3929856"/>
            <a:ext cx="239713" cy="317500"/>
          </a:xfrm>
          <a:prstGeom prst="rect">
            <a:avLst/>
          </a:prstGeom>
          <a:noFill/>
          <a:ln/>
        </p:spPr>
        <p:txBody>
          <a:bodyPr wrap="square" lIns="25400" tIns="25400" rIns="25400" bIns="25400" rtlCol="0" anchor="t">
            <a:normAutofit/>
          </a:bodyPr>
          <a:lstStyle/>
          <a:p>
            <a:pPr marL="0" indent="0" algn="l">
              <a:buNone/>
            </a:pPr>
            <a:r>
              <a:rPr lang="en-US" sz="1575" b="1" dirty="0">
                <a:solidFill>
                  <a:srgbClr val="F0584E"/>
                </a:solidFill>
                <a:latin typeface="Arial" pitchFamily="34" charset="0"/>
                <a:ea typeface="Arial" pitchFamily="34" charset="-122"/>
                <a:cs typeface="Arial" pitchFamily="34" charset="-120"/>
              </a:rPr>
              <a:t>✕</a:t>
            </a:r>
            <a:endParaRPr lang="en-US" sz="1575" dirty="0"/>
          </a:p>
        </p:txBody>
      </p:sp>
      <p:sp>
        <p:nvSpPr>
          <p:cNvPr id="39" name="Text 37"/>
          <p:cNvSpPr/>
          <p:nvPr/>
        </p:nvSpPr>
        <p:spPr>
          <a:xfrm>
            <a:off x="9844088" y="3955256"/>
            <a:ext cx="5686445"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Transformer </a:t>
            </a:r>
            <a:r>
              <a:rPr lang="en-US" sz="1575" dirty="0">
                <a:solidFill>
                  <a:srgbClr val="D2DEEB"/>
                </a:solidFill>
                <a:latin typeface="Arial" pitchFamily="34" charset="0"/>
                <a:ea typeface="Arial" pitchFamily="34" charset="-122"/>
                <a:cs typeface="Arial" pitchFamily="34" charset="-120"/>
              </a:rPr>
              <a:t>- quadratic memory; overkill for 60-step seqs</a:t>
            </a:r>
            <a:endParaRPr lang="en-US" sz="1575" dirty="0"/>
          </a:p>
        </p:txBody>
      </p:sp>
      <p:sp>
        <p:nvSpPr>
          <p:cNvPr id="40" name="Text 38"/>
          <p:cNvSpPr/>
          <p:nvPr/>
        </p:nvSpPr>
        <p:spPr>
          <a:xfrm>
            <a:off x="9556750" y="4319985"/>
            <a:ext cx="239713" cy="317500"/>
          </a:xfrm>
          <a:prstGeom prst="rect">
            <a:avLst/>
          </a:prstGeom>
          <a:noFill/>
          <a:ln/>
        </p:spPr>
        <p:txBody>
          <a:bodyPr wrap="square" lIns="25400" tIns="25400" rIns="25400" bIns="25400" rtlCol="0" anchor="t">
            <a:normAutofit/>
          </a:bodyPr>
          <a:lstStyle/>
          <a:p>
            <a:pPr marL="0" indent="0" algn="l">
              <a:buNone/>
            </a:pPr>
            <a:r>
              <a:rPr lang="en-US" sz="1575" b="1" dirty="0">
                <a:solidFill>
                  <a:srgbClr val="F0584E"/>
                </a:solidFill>
                <a:latin typeface="Arial" pitchFamily="34" charset="0"/>
                <a:ea typeface="Arial" pitchFamily="34" charset="-122"/>
                <a:cs typeface="Arial" pitchFamily="34" charset="-120"/>
              </a:rPr>
              <a:t>✕</a:t>
            </a:r>
            <a:endParaRPr lang="en-US" sz="1575" dirty="0"/>
          </a:p>
        </p:txBody>
      </p:sp>
      <p:sp>
        <p:nvSpPr>
          <p:cNvPr id="41" name="Text 39"/>
          <p:cNvSpPr/>
          <p:nvPr/>
        </p:nvSpPr>
        <p:spPr>
          <a:xfrm>
            <a:off x="9844088" y="4345384"/>
            <a:ext cx="6033294"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b="1" dirty="0">
                <a:solidFill>
                  <a:srgbClr val="FFFFFF"/>
                </a:solidFill>
                <a:latin typeface="Arial" pitchFamily="34" charset="0"/>
                <a:ea typeface="Arial" pitchFamily="34" charset="-122"/>
                <a:cs typeface="Arial" pitchFamily="34" charset="-120"/>
              </a:rPr>
              <a:t>Dense Autoencoder </a:t>
            </a:r>
            <a:r>
              <a:rPr lang="en-US" sz="1575" dirty="0">
                <a:solidFill>
                  <a:srgbClr val="D2DEEB"/>
                </a:solidFill>
                <a:latin typeface="Arial" pitchFamily="34" charset="0"/>
                <a:ea typeface="Arial" pitchFamily="34" charset="-122"/>
                <a:cs typeface="Arial" pitchFamily="34" charset="-120"/>
              </a:rPr>
              <a:t>- no temporal modeling; loses sequence</a:t>
            </a:r>
            <a:endParaRPr lang="en-US" sz="1575" dirty="0"/>
          </a:p>
        </p:txBody>
      </p:sp>
      <p:sp>
        <p:nvSpPr>
          <p:cNvPr id="42" name="Shape 40"/>
          <p:cNvSpPr/>
          <p:nvPr/>
        </p:nvSpPr>
        <p:spPr>
          <a:xfrm>
            <a:off x="9556750" y="4767263"/>
            <a:ext cx="7842250" cy="9525"/>
          </a:xfrm>
          <a:prstGeom prst="rect">
            <a:avLst/>
          </a:prstGeom>
          <a:solidFill>
            <a:srgbClr val="FFFFFF">
              <a:alpha val="10000"/>
            </a:srgbClr>
          </a:solidFill>
          <a:ln/>
        </p:spPr>
        <p:txBody>
          <a:bodyPr/>
          <a:lstStyle/>
          <a:p>
            <a:endParaRPr lang="en-US"/>
          </a:p>
        </p:txBody>
      </p:sp>
      <p:sp>
        <p:nvSpPr>
          <p:cNvPr id="43" name="Text 41"/>
          <p:cNvSpPr/>
          <p:nvPr/>
        </p:nvSpPr>
        <p:spPr>
          <a:xfrm>
            <a:off x="9556750" y="4938713"/>
            <a:ext cx="8626475" cy="292100"/>
          </a:xfrm>
          <a:prstGeom prst="rect">
            <a:avLst/>
          </a:prstGeom>
          <a:noFill/>
          <a:ln/>
        </p:spPr>
        <p:txBody>
          <a:bodyPr wrap="square" lIns="25400" tIns="25400" rIns="25400" bIns="25400" rtlCol="0" anchor="t">
            <a:normAutofit/>
          </a:bodyPr>
          <a:lstStyle/>
          <a:p>
            <a:pPr marL="0" indent="0" algn="l">
              <a:buNone/>
            </a:pPr>
            <a:r>
              <a:rPr lang="en-US" sz="1425" b="1" kern="0" spc="75" dirty="0">
                <a:solidFill>
                  <a:srgbClr val="F47E76"/>
                </a:solidFill>
                <a:latin typeface="Arial" pitchFamily="34" charset="0"/>
                <a:ea typeface="Arial" pitchFamily="34" charset="-122"/>
                <a:cs typeface="Arial" pitchFamily="34" charset="-120"/>
              </a:rPr>
              <a:t>WHY IT WINS</a:t>
            </a:r>
            <a:endParaRPr lang="en-US" sz="1425" dirty="0"/>
          </a:p>
        </p:txBody>
      </p:sp>
      <p:sp>
        <p:nvSpPr>
          <p:cNvPr id="44" name="Shape 42"/>
          <p:cNvSpPr/>
          <p:nvPr/>
        </p:nvSpPr>
        <p:spPr>
          <a:xfrm>
            <a:off x="9556750" y="5421313"/>
            <a:ext cx="76200" cy="76200"/>
          </a:xfrm>
          <a:prstGeom prst="roundRect">
            <a:avLst>
              <a:gd name="adj" fmla="val 25000"/>
            </a:avLst>
          </a:prstGeom>
          <a:solidFill>
            <a:srgbClr val="F0584E"/>
          </a:solidFill>
          <a:ln/>
        </p:spPr>
        <p:txBody>
          <a:bodyPr/>
          <a:lstStyle/>
          <a:p>
            <a:endParaRPr lang="en-US"/>
          </a:p>
        </p:txBody>
      </p:sp>
      <p:sp>
        <p:nvSpPr>
          <p:cNvPr id="45" name="Text 43"/>
          <p:cNvSpPr/>
          <p:nvPr/>
        </p:nvSpPr>
        <p:spPr>
          <a:xfrm>
            <a:off x="9756775" y="5326063"/>
            <a:ext cx="5951439"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Captures order: aim-snap THEN hit = aimbot; reversed = skill</a:t>
            </a:r>
            <a:endParaRPr lang="en-US" sz="1575" dirty="0"/>
          </a:p>
        </p:txBody>
      </p:sp>
      <p:sp>
        <p:nvSpPr>
          <p:cNvPr id="46" name="Shape 44"/>
          <p:cNvSpPr/>
          <p:nvPr/>
        </p:nvSpPr>
        <p:spPr>
          <a:xfrm>
            <a:off x="9556750" y="5763816"/>
            <a:ext cx="76200" cy="76200"/>
          </a:xfrm>
          <a:prstGeom prst="roundRect">
            <a:avLst>
              <a:gd name="adj" fmla="val 25000"/>
            </a:avLst>
          </a:prstGeom>
          <a:solidFill>
            <a:srgbClr val="F0584E"/>
          </a:solidFill>
          <a:ln/>
        </p:spPr>
        <p:txBody>
          <a:bodyPr/>
          <a:lstStyle/>
          <a:p>
            <a:endParaRPr lang="en-US"/>
          </a:p>
        </p:txBody>
      </p:sp>
      <p:sp>
        <p:nvSpPr>
          <p:cNvPr id="47" name="Text 45"/>
          <p:cNvSpPr/>
          <p:nvPr/>
        </p:nvSpPr>
        <p:spPr>
          <a:xfrm>
            <a:off x="9756775" y="5681266"/>
            <a:ext cx="5677714"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Courier New" pitchFamily="34" charset="0"/>
                <a:ea typeface="Courier New" pitchFamily="34" charset="-122"/>
                <a:cs typeface="Courier New" pitchFamily="34" charset="-120"/>
              </a:rPr>
              <a:t>Enc LSTM(18→64→32) · Dec LSTM(32→32→64)→Dense(64→18)</a:t>
            </a:r>
            <a:endParaRPr lang="en-US" sz="1575" dirty="0"/>
          </a:p>
        </p:txBody>
      </p:sp>
      <p:sp>
        <p:nvSpPr>
          <p:cNvPr id="48" name="Shape 46"/>
          <p:cNvSpPr/>
          <p:nvPr/>
        </p:nvSpPr>
        <p:spPr>
          <a:xfrm>
            <a:off x="9556750" y="6131719"/>
            <a:ext cx="76200" cy="76200"/>
          </a:xfrm>
          <a:prstGeom prst="roundRect">
            <a:avLst>
              <a:gd name="adj" fmla="val 25000"/>
            </a:avLst>
          </a:prstGeom>
          <a:solidFill>
            <a:srgbClr val="F0584E"/>
          </a:solidFill>
          <a:ln/>
        </p:spPr>
        <p:txBody>
          <a:bodyPr/>
          <a:lstStyle/>
          <a:p>
            <a:endParaRPr lang="en-US"/>
          </a:p>
        </p:txBody>
      </p:sp>
      <p:sp>
        <p:nvSpPr>
          <p:cNvPr id="49" name="Text 47"/>
          <p:cNvSpPr/>
          <p:nvPr/>
        </p:nvSpPr>
        <p:spPr>
          <a:xfrm>
            <a:off x="9756775" y="6036469"/>
            <a:ext cx="6739434"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Trained on clean data only - detects ANY deviation, incl. novel cheats</a:t>
            </a:r>
            <a:endParaRPr lang="en-US" sz="1575" dirty="0"/>
          </a:p>
        </p:txBody>
      </p:sp>
      <p:sp>
        <p:nvSpPr>
          <p:cNvPr id="50" name="Shape 48"/>
          <p:cNvSpPr/>
          <p:nvPr/>
        </p:nvSpPr>
        <p:spPr>
          <a:xfrm>
            <a:off x="9556750" y="6486922"/>
            <a:ext cx="76200" cy="76200"/>
          </a:xfrm>
          <a:prstGeom prst="roundRect">
            <a:avLst>
              <a:gd name="adj" fmla="val 25000"/>
            </a:avLst>
          </a:prstGeom>
          <a:solidFill>
            <a:srgbClr val="F0584E"/>
          </a:solidFill>
          <a:ln/>
        </p:spPr>
        <p:txBody>
          <a:bodyPr/>
          <a:lstStyle/>
          <a:p>
            <a:endParaRPr lang="en-US"/>
          </a:p>
        </p:txBody>
      </p:sp>
      <p:sp>
        <p:nvSpPr>
          <p:cNvPr id="51" name="Text 49"/>
          <p:cNvSpPr/>
          <p:nvPr/>
        </p:nvSpPr>
        <p:spPr>
          <a:xfrm>
            <a:off x="9756775" y="6391672"/>
            <a:ext cx="5963444" cy="298053"/>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Anomaly score = MSE reconstruction; threshold = mean + 4σ</a:t>
            </a:r>
            <a:endParaRPr lang="en-US" sz="1575" dirty="0"/>
          </a:p>
        </p:txBody>
      </p:sp>
      <p:sp>
        <p:nvSpPr>
          <p:cNvPr id="52" name="Shape 50"/>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53" name="Text 51"/>
          <p:cNvSpPr/>
          <p:nvPr/>
        </p:nvSpPr>
        <p:spPr>
          <a:xfrm>
            <a:off x="6096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54" name="Text 52"/>
          <p:cNvSpPr/>
          <p:nvPr/>
        </p:nvSpPr>
        <p:spPr>
          <a:xfrm>
            <a:off x="171831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06 / 18</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609600" y="411163"/>
            <a:ext cx="104775" cy="104775"/>
          </a:xfrm>
          <a:prstGeom prst="roundRect">
            <a:avLst>
              <a:gd name="adj" fmla="val 18182"/>
            </a:avLst>
          </a:prstGeom>
          <a:solidFill>
            <a:srgbClr val="9B7BE0"/>
          </a:solidFill>
          <a:ln/>
          <a:effectLst>
            <a:outerShdw blurRad="133350" dist="50800" dir="16200000" algn="bl" rotWithShape="0">
              <a:srgbClr val="9B7BE0">
                <a:alpha val="100000"/>
              </a:srgbClr>
            </a:outerShdw>
          </a:effectLst>
        </p:spPr>
        <p:txBody>
          <a:bodyPr/>
          <a:lstStyle/>
          <a:p>
            <a:endParaRPr lang="en-US"/>
          </a:p>
        </p:txBody>
      </p:sp>
      <p:sp>
        <p:nvSpPr>
          <p:cNvPr id="4" name="Text 2"/>
          <p:cNvSpPr/>
          <p:nvPr/>
        </p:nvSpPr>
        <p:spPr>
          <a:xfrm>
            <a:off x="828675" y="323850"/>
            <a:ext cx="3585488"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B79CEA"/>
                </a:solidFill>
                <a:latin typeface="Arial" pitchFamily="34" charset="0"/>
                <a:ea typeface="Arial" pitchFamily="34" charset="-122"/>
                <a:cs typeface="Arial" pitchFamily="34" charset="-120"/>
              </a:rPr>
              <a:t>DETECTION · ENSEMBLE</a:t>
            </a:r>
            <a:endParaRPr lang="en-US" sz="1500" dirty="0"/>
          </a:p>
        </p:txBody>
      </p:sp>
      <p:sp>
        <p:nvSpPr>
          <p:cNvPr id="5" name="Text 3"/>
          <p:cNvSpPr/>
          <p:nvPr/>
        </p:nvSpPr>
        <p:spPr>
          <a:xfrm>
            <a:off x="609600" y="708025"/>
            <a:ext cx="9979601"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Three-Layer Detection Ensemble</a:t>
            </a:r>
            <a:endParaRPr lang="en-US" sz="4050" dirty="0"/>
          </a:p>
        </p:txBody>
      </p:sp>
      <p:sp>
        <p:nvSpPr>
          <p:cNvPr id="6" name="Text 4"/>
          <p:cNvSpPr/>
          <p:nvPr/>
        </p:nvSpPr>
        <p:spPr>
          <a:xfrm>
            <a:off x="158867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07</a:t>
            </a:r>
            <a:endParaRPr lang="en-US" sz="11250" dirty="0"/>
          </a:p>
        </p:txBody>
      </p:sp>
      <p:sp>
        <p:nvSpPr>
          <p:cNvPr id="7" name="Shape 5"/>
          <p:cNvSpPr/>
          <p:nvPr/>
        </p:nvSpPr>
        <p:spPr>
          <a:xfrm>
            <a:off x="609600" y="1504950"/>
            <a:ext cx="17068800" cy="19050"/>
          </a:xfrm>
          <a:prstGeom prst="rect">
            <a:avLst/>
          </a:prstGeom>
          <a:gradFill rotWithShape="1">
            <a:gsLst>
              <a:gs pos="0">
                <a:srgbClr val="9B7BE0">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Shape 6"/>
          <p:cNvSpPr/>
          <p:nvPr/>
        </p:nvSpPr>
        <p:spPr>
          <a:xfrm>
            <a:off x="609600" y="1771650"/>
            <a:ext cx="9806782" cy="7797800"/>
          </a:xfrm>
          <a:prstGeom prst="roundRect">
            <a:avLst>
              <a:gd name="adj" fmla="val 1710"/>
            </a:avLst>
          </a:prstGeom>
          <a:solidFill>
            <a:srgbClr val="FFFFFF"/>
          </a:solidFill>
          <a:ln w="12700">
            <a:solidFill>
              <a:srgbClr val="FFFFFF">
                <a:alpha val="14000"/>
              </a:srgbClr>
            </a:solidFill>
            <a:prstDash val="solid"/>
          </a:ln>
        </p:spPr>
        <p:txBody>
          <a:bodyPr/>
          <a:lstStyle/>
          <a:p>
            <a:endParaRPr lang="en-US"/>
          </a:p>
        </p:txBody>
      </p:sp>
      <p:pic>
        <p:nvPicPr>
          <p:cNvPr id="9" name="Image 0" descr="preencoded.png"/>
          <p:cNvPicPr>
            <a:picLocks noChangeAspect="1"/>
          </p:cNvPicPr>
          <p:nvPr/>
        </p:nvPicPr>
        <p:blipFill>
          <a:blip r:embed="rId3"/>
          <a:srcRect l="-1" r="-1"/>
          <a:stretch/>
        </p:blipFill>
        <p:spPr>
          <a:xfrm>
            <a:off x="793750" y="2394545"/>
            <a:ext cx="9438481" cy="6552009"/>
          </a:xfrm>
          <a:prstGeom prst="rect">
            <a:avLst/>
          </a:prstGeom>
        </p:spPr>
      </p:pic>
      <p:sp>
        <p:nvSpPr>
          <p:cNvPr id="10" name="Text 7"/>
          <p:cNvSpPr/>
          <p:nvPr/>
        </p:nvSpPr>
        <p:spPr>
          <a:xfrm>
            <a:off x="10702132" y="1771650"/>
            <a:ext cx="7673896" cy="393700"/>
          </a:xfrm>
          <a:prstGeom prst="rect">
            <a:avLst/>
          </a:prstGeom>
          <a:noFill/>
          <a:ln/>
        </p:spPr>
        <p:txBody>
          <a:bodyPr wrap="square" lIns="25400" tIns="25400" rIns="25400" bIns="25400" rtlCol="0" anchor="t">
            <a:normAutofit/>
          </a:bodyPr>
          <a:lstStyle/>
          <a:p>
            <a:pPr marL="0" indent="0" algn="l">
              <a:buNone/>
            </a:pPr>
            <a:r>
              <a:rPr lang="en-US" sz="2025" b="1" dirty="0">
                <a:solidFill>
                  <a:srgbClr val="FFFFFF"/>
                </a:solidFill>
                <a:latin typeface="Arial" pitchFamily="34" charset="0"/>
                <a:ea typeface="Arial" pitchFamily="34" charset="-122"/>
                <a:cs typeface="Arial" pitchFamily="34" charset="-120"/>
              </a:rPr>
              <a:t>How the layers combine</a:t>
            </a:r>
            <a:endParaRPr lang="en-US" sz="2025" dirty="0"/>
          </a:p>
        </p:txBody>
      </p:sp>
      <p:sp>
        <p:nvSpPr>
          <p:cNvPr id="11" name="Shape 8"/>
          <p:cNvSpPr/>
          <p:nvPr/>
        </p:nvSpPr>
        <p:spPr>
          <a:xfrm>
            <a:off x="10702132" y="2279650"/>
            <a:ext cx="6976269" cy="520700"/>
          </a:xfrm>
          <a:prstGeom prst="roundRect">
            <a:avLst>
              <a:gd name="adj" fmla="val 18293"/>
            </a:avLst>
          </a:prstGeom>
          <a:solidFill>
            <a:srgbClr val="34C27E">
              <a:alpha val="14000"/>
            </a:srgbClr>
          </a:solidFill>
          <a:ln w="12700">
            <a:solidFill>
              <a:srgbClr val="34C27E">
                <a:alpha val="45000"/>
              </a:srgbClr>
            </a:solidFill>
            <a:prstDash val="solid"/>
          </a:ln>
        </p:spPr>
        <p:txBody>
          <a:bodyPr/>
          <a:lstStyle/>
          <a:p>
            <a:endParaRPr lang="en-US"/>
          </a:p>
        </p:txBody>
      </p:sp>
      <p:sp>
        <p:nvSpPr>
          <p:cNvPr id="12" name="Text 9"/>
          <p:cNvSpPr/>
          <p:nvPr/>
        </p:nvSpPr>
        <p:spPr>
          <a:xfrm>
            <a:off x="10886282" y="2425700"/>
            <a:ext cx="6817257"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dirty="0">
                <a:solidFill>
                  <a:schemeClr val="accent6"/>
                </a:solidFill>
                <a:latin typeface="Arial" pitchFamily="34" charset="0"/>
                <a:ea typeface="Arial" pitchFamily="34" charset="-122"/>
                <a:cs typeface="Arial" pitchFamily="34" charset="-120"/>
              </a:rPr>
              <a:t>2 / 3 layers agree </a:t>
            </a:r>
            <a:r>
              <a:rPr lang="en-US" sz="1575" dirty="0">
                <a:solidFill>
                  <a:schemeClr val="accent6"/>
                </a:solidFill>
                <a:highlight>
                  <a:srgbClr val="E3F6ED"/>
                </a:highlight>
                <a:latin typeface="Arial" pitchFamily="34" charset="0"/>
                <a:ea typeface="Arial" pitchFamily="34" charset="-122"/>
                <a:cs typeface="Arial" pitchFamily="34" charset="-120"/>
              </a:rPr>
              <a:t>→ HIGH-CONFIDENCE alert</a:t>
            </a:r>
            <a:endParaRPr lang="en-US" sz="1575" dirty="0">
              <a:solidFill>
                <a:schemeClr val="accent6"/>
              </a:solidFill>
            </a:endParaRPr>
          </a:p>
        </p:txBody>
      </p:sp>
      <p:sp>
        <p:nvSpPr>
          <p:cNvPr id="13" name="Shape 10"/>
          <p:cNvSpPr/>
          <p:nvPr/>
        </p:nvSpPr>
        <p:spPr>
          <a:xfrm>
            <a:off x="10702132" y="2914650"/>
            <a:ext cx="6976269" cy="520700"/>
          </a:xfrm>
          <a:prstGeom prst="roundRect">
            <a:avLst>
              <a:gd name="adj" fmla="val 18293"/>
            </a:avLst>
          </a:prstGeom>
          <a:solidFill>
            <a:srgbClr val="F2A33C">
              <a:alpha val="14000"/>
            </a:srgbClr>
          </a:solidFill>
          <a:ln w="12700">
            <a:solidFill>
              <a:srgbClr val="F2A33C">
                <a:alpha val="45000"/>
              </a:srgbClr>
            </a:solidFill>
            <a:prstDash val="solid"/>
          </a:ln>
        </p:spPr>
        <p:txBody>
          <a:bodyPr/>
          <a:lstStyle/>
          <a:p>
            <a:endParaRPr lang="en-US"/>
          </a:p>
        </p:txBody>
      </p:sp>
      <p:sp>
        <p:nvSpPr>
          <p:cNvPr id="14" name="Text 11"/>
          <p:cNvSpPr/>
          <p:nvPr/>
        </p:nvSpPr>
        <p:spPr>
          <a:xfrm>
            <a:off x="10886282" y="3060700"/>
            <a:ext cx="6817257"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dirty="0">
                <a:solidFill>
                  <a:srgbClr val="FF0000"/>
                </a:solidFill>
                <a:latin typeface="Arial" pitchFamily="34" charset="0"/>
                <a:ea typeface="Arial" pitchFamily="34" charset="-122"/>
                <a:cs typeface="Arial" pitchFamily="34" charset="-120"/>
              </a:rPr>
              <a:t>1 / 3 layers </a:t>
            </a:r>
            <a:r>
              <a:rPr lang="en-US" sz="1575" dirty="0">
                <a:solidFill>
                  <a:srgbClr val="FF0000"/>
                </a:solidFill>
                <a:highlight>
                  <a:srgbClr val="FDF2E4"/>
                </a:highlight>
                <a:latin typeface="Arial" pitchFamily="34" charset="0"/>
                <a:ea typeface="Arial" pitchFamily="34" charset="-122"/>
                <a:cs typeface="Arial" pitchFamily="34" charset="-120"/>
              </a:rPr>
              <a:t>→ WARNING flag</a:t>
            </a:r>
            <a:endParaRPr lang="en-US" sz="1575" dirty="0">
              <a:solidFill>
                <a:srgbClr val="FF0000"/>
              </a:solidFill>
            </a:endParaRPr>
          </a:p>
        </p:txBody>
      </p:sp>
      <p:sp>
        <p:nvSpPr>
          <p:cNvPr id="15" name="Shape 12"/>
          <p:cNvSpPr/>
          <p:nvPr/>
        </p:nvSpPr>
        <p:spPr>
          <a:xfrm>
            <a:off x="10702132" y="3587750"/>
            <a:ext cx="6976269" cy="1703784"/>
          </a:xfrm>
          <a:prstGeom prst="roundRect">
            <a:avLst>
              <a:gd name="adj" fmla="val 5590"/>
            </a:avLst>
          </a:prstGeom>
          <a:solidFill>
            <a:srgbClr val="FFFFFF">
              <a:alpha val="4000"/>
            </a:srgbClr>
          </a:solidFill>
          <a:ln/>
        </p:spPr>
        <p:txBody>
          <a:bodyPr/>
          <a:lstStyle/>
          <a:p>
            <a:endParaRPr lang="en-US"/>
          </a:p>
        </p:txBody>
      </p:sp>
      <p:sp>
        <p:nvSpPr>
          <p:cNvPr id="16" name="Shape 13"/>
          <p:cNvSpPr/>
          <p:nvPr/>
        </p:nvSpPr>
        <p:spPr>
          <a:xfrm>
            <a:off x="10702132" y="5278835"/>
            <a:ext cx="6976269" cy="12700"/>
          </a:xfrm>
          <a:prstGeom prst="rect">
            <a:avLst/>
          </a:prstGeom>
          <a:solidFill>
            <a:srgbClr val="FFFFFF">
              <a:alpha val="10000"/>
            </a:srgbClr>
          </a:solidFill>
          <a:ln/>
        </p:spPr>
        <p:txBody>
          <a:bodyPr/>
          <a:lstStyle/>
          <a:p>
            <a:endParaRPr lang="en-US"/>
          </a:p>
        </p:txBody>
      </p:sp>
      <p:sp>
        <p:nvSpPr>
          <p:cNvPr id="17" name="Shape 14"/>
          <p:cNvSpPr/>
          <p:nvPr/>
        </p:nvSpPr>
        <p:spPr>
          <a:xfrm>
            <a:off x="10702132" y="3587750"/>
            <a:ext cx="6976269" cy="12700"/>
          </a:xfrm>
          <a:prstGeom prst="rect">
            <a:avLst/>
          </a:prstGeom>
          <a:solidFill>
            <a:srgbClr val="FFFFFF">
              <a:alpha val="10000"/>
            </a:srgbClr>
          </a:solidFill>
          <a:ln/>
        </p:spPr>
        <p:txBody>
          <a:bodyPr/>
          <a:lstStyle/>
          <a:p>
            <a:endParaRPr lang="en-US"/>
          </a:p>
        </p:txBody>
      </p:sp>
      <p:sp>
        <p:nvSpPr>
          <p:cNvPr id="18" name="Shape 15"/>
          <p:cNvSpPr/>
          <p:nvPr/>
        </p:nvSpPr>
        <p:spPr>
          <a:xfrm>
            <a:off x="10702132" y="3587750"/>
            <a:ext cx="38100" cy="1703784"/>
          </a:xfrm>
          <a:prstGeom prst="rect">
            <a:avLst/>
          </a:prstGeom>
          <a:solidFill>
            <a:srgbClr val="3B8EE6"/>
          </a:solidFill>
          <a:ln/>
        </p:spPr>
        <p:txBody>
          <a:bodyPr/>
          <a:lstStyle/>
          <a:p>
            <a:endParaRPr lang="en-US"/>
          </a:p>
        </p:txBody>
      </p:sp>
      <p:sp>
        <p:nvSpPr>
          <p:cNvPr id="19" name="Shape 16"/>
          <p:cNvSpPr/>
          <p:nvPr/>
        </p:nvSpPr>
        <p:spPr>
          <a:xfrm>
            <a:off x="17665701" y="3587750"/>
            <a:ext cx="12700" cy="1703784"/>
          </a:xfrm>
          <a:prstGeom prst="rect">
            <a:avLst/>
          </a:prstGeom>
          <a:solidFill>
            <a:srgbClr val="FFFFFF">
              <a:alpha val="10000"/>
            </a:srgbClr>
          </a:solidFill>
          <a:ln/>
        </p:spPr>
        <p:txBody>
          <a:bodyPr/>
          <a:lstStyle/>
          <a:p>
            <a:endParaRPr lang="en-US"/>
          </a:p>
        </p:txBody>
      </p:sp>
      <p:sp>
        <p:nvSpPr>
          <p:cNvPr id="20" name="Text 17"/>
          <p:cNvSpPr/>
          <p:nvPr/>
        </p:nvSpPr>
        <p:spPr>
          <a:xfrm>
            <a:off x="10911682" y="4190405"/>
            <a:ext cx="7240826" cy="317500"/>
          </a:xfrm>
          <a:prstGeom prst="rect">
            <a:avLst/>
          </a:prstGeom>
          <a:noFill/>
          <a:ln/>
        </p:spPr>
        <p:txBody>
          <a:bodyPr wrap="square" lIns="25400" tIns="25400" rIns="25400" bIns="25400" rtlCol="0" anchor="t">
            <a:normAutofit/>
          </a:bodyPr>
          <a:lstStyle/>
          <a:p>
            <a:pPr marL="0" indent="0" algn="l">
              <a:buNone/>
            </a:pPr>
            <a:r>
              <a:rPr lang="en-US" sz="1500" b="1" dirty="0">
                <a:solidFill>
                  <a:srgbClr val="FFFFFF"/>
                </a:solidFill>
                <a:latin typeface="Arial" pitchFamily="34" charset="0"/>
                <a:ea typeface="Arial" pitchFamily="34" charset="-122"/>
                <a:cs typeface="Arial" pitchFamily="34" charset="-120"/>
              </a:rPr>
              <a:t>L1 · Rule Engine</a:t>
            </a:r>
            <a:endParaRPr lang="en-US" sz="1500" dirty="0"/>
          </a:p>
        </p:txBody>
      </p:sp>
      <p:sp>
        <p:nvSpPr>
          <p:cNvPr id="21" name="Text 18"/>
          <p:cNvSpPr/>
          <p:nvPr/>
        </p:nvSpPr>
        <p:spPr>
          <a:xfrm>
            <a:off x="10911682" y="4498380"/>
            <a:ext cx="7240826"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&lt; 1 ms · 0% FP · 6 physics rules</a:t>
            </a:r>
            <a:endParaRPr lang="en-US" sz="1275" dirty="0"/>
          </a:p>
        </p:txBody>
      </p:sp>
      <p:sp>
        <p:nvSpPr>
          <p:cNvPr id="22" name="Shape 19"/>
          <p:cNvSpPr/>
          <p:nvPr/>
        </p:nvSpPr>
        <p:spPr>
          <a:xfrm>
            <a:off x="10702132" y="5396310"/>
            <a:ext cx="6976269" cy="1703983"/>
          </a:xfrm>
          <a:prstGeom prst="roundRect">
            <a:avLst>
              <a:gd name="adj" fmla="val 5590"/>
            </a:avLst>
          </a:prstGeom>
          <a:solidFill>
            <a:srgbClr val="FFFFFF">
              <a:alpha val="4000"/>
            </a:srgbClr>
          </a:solidFill>
          <a:ln/>
        </p:spPr>
        <p:txBody>
          <a:bodyPr/>
          <a:lstStyle/>
          <a:p>
            <a:endParaRPr lang="en-US"/>
          </a:p>
        </p:txBody>
      </p:sp>
      <p:sp>
        <p:nvSpPr>
          <p:cNvPr id="23" name="Shape 20"/>
          <p:cNvSpPr/>
          <p:nvPr/>
        </p:nvSpPr>
        <p:spPr>
          <a:xfrm>
            <a:off x="10702132" y="7087593"/>
            <a:ext cx="6976269" cy="12700"/>
          </a:xfrm>
          <a:prstGeom prst="rect">
            <a:avLst/>
          </a:prstGeom>
          <a:solidFill>
            <a:srgbClr val="FFFFFF">
              <a:alpha val="10000"/>
            </a:srgbClr>
          </a:solidFill>
          <a:ln/>
        </p:spPr>
        <p:txBody>
          <a:bodyPr/>
          <a:lstStyle/>
          <a:p>
            <a:endParaRPr lang="en-US"/>
          </a:p>
        </p:txBody>
      </p:sp>
      <p:sp>
        <p:nvSpPr>
          <p:cNvPr id="24" name="Shape 21"/>
          <p:cNvSpPr/>
          <p:nvPr/>
        </p:nvSpPr>
        <p:spPr>
          <a:xfrm>
            <a:off x="10702132" y="5396310"/>
            <a:ext cx="6976269" cy="12700"/>
          </a:xfrm>
          <a:prstGeom prst="rect">
            <a:avLst/>
          </a:prstGeom>
          <a:solidFill>
            <a:srgbClr val="FFFFFF">
              <a:alpha val="10000"/>
            </a:srgbClr>
          </a:solidFill>
          <a:ln/>
        </p:spPr>
        <p:txBody>
          <a:bodyPr/>
          <a:lstStyle/>
          <a:p>
            <a:endParaRPr lang="en-US"/>
          </a:p>
        </p:txBody>
      </p:sp>
      <p:sp>
        <p:nvSpPr>
          <p:cNvPr id="25" name="Shape 22"/>
          <p:cNvSpPr/>
          <p:nvPr/>
        </p:nvSpPr>
        <p:spPr>
          <a:xfrm>
            <a:off x="10702132" y="5396310"/>
            <a:ext cx="38100" cy="1703983"/>
          </a:xfrm>
          <a:prstGeom prst="rect">
            <a:avLst/>
          </a:prstGeom>
          <a:solidFill>
            <a:srgbClr val="F2A33C"/>
          </a:solidFill>
          <a:ln/>
        </p:spPr>
        <p:txBody>
          <a:bodyPr/>
          <a:lstStyle/>
          <a:p>
            <a:endParaRPr lang="en-US"/>
          </a:p>
        </p:txBody>
      </p:sp>
      <p:sp>
        <p:nvSpPr>
          <p:cNvPr id="26" name="Shape 23"/>
          <p:cNvSpPr/>
          <p:nvPr/>
        </p:nvSpPr>
        <p:spPr>
          <a:xfrm>
            <a:off x="17665701" y="5396310"/>
            <a:ext cx="12700" cy="1703983"/>
          </a:xfrm>
          <a:prstGeom prst="rect">
            <a:avLst/>
          </a:prstGeom>
          <a:solidFill>
            <a:srgbClr val="FFFFFF">
              <a:alpha val="10000"/>
            </a:srgbClr>
          </a:solidFill>
          <a:ln/>
        </p:spPr>
        <p:txBody>
          <a:bodyPr/>
          <a:lstStyle/>
          <a:p>
            <a:endParaRPr lang="en-US"/>
          </a:p>
        </p:txBody>
      </p:sp>
      <p:sp>
        <p:nvSpPr>
          <p:cNvPr id="27" name="Text 24"/>
          <p:cNvSpPr/>
          <p:nvPr/>
        </p:nvSpPr>
        <p:spPr>
          <a:xfrm>
            <a:off x="10911682" y="5998964"/>
            <a:ext cx="7240826" cy="317500"/>
          </a:xfrm>
          <a:prstGeom prst="rect">
            <a:avLst/>
          </a:prstGeom>
          <a:noFill/>
          <a:ln/>
        </p:spPr>
        <p:txBody>
          <a:bodyPr wrap="square" lIns="25400" tIns="25400" rIns="25400" bIns="25400" rtlCol="0" anchor="t">
            <a:normAutofit/>
          </a:bodyPr>
          <a:lstStyle/>
          <a:p>
            <a:pPr marL="0" indent="0" algn="l">
              <a:buNone/>
            </a:pPr>
            <a:r>
              <a:rPr lang="en-US" sz="1500" b="1" dirty="0">
                <a:solidFill>
                  <a:srgbClr val="FFFFFF"/>
                </a:solidFill>
                <a:latin typeface="Arial" pitchFamily="34" charset="0"/>
                <a:ea typeface="Arial" pitchFamily="34" charset="-122"/>
                <a:cs typeface="Arial" pitchFamily="34" charset="-120"/>
              </a:rPr>
              <a:t>L2 · XGBoost</a:t>
            </a:r>
            <a:endParaRPr lang="en-US" sz="1500" dirty="0"/>
          </a:p>
        </p:txBody>
      </p:sp>
      <p:sp>
        <p:nvSpPr>
          <p:cNvPr id="28" name="Text 25"/>
          <p:cNvSpPr/>
          <p:nvPr/>
        </p:nvSpPr>
        <p:spPr>
          <a:xfrm>
            <a:off x="10911682" y="6306939"/>
            <a:ext cx="7240826"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&lt; 1 ms · 85.9% · 0.95 confidence gate</a:t>
            </a:r>
            <a:endParaRPr lang="en-US" sz="1275" dirty="0"/>
          </a:p>
        </p:txBody>
      </p:sp>
      <p:sp>
        <p:nvSpPr>
          <p:cNvPr id="29" name="Shape 26"/>
          <p:cNvSpPr/>
          <p:nvPr/>
        </p:nvSpPr>
        <p:spPr>
          <a:xfrm>
            <a:off x="10702132" y="7205067"/>
            <a:ext cx="6976269" cy="1703983"/>
          </a:xfrm>
          <a:prstGeom prst="roundRect">
            <a:avLst>
              <a:gd name="adj" fmla="val 5590"/>
            </a:avLst>
          </a:prstGeom>
          <a:solidFill>
            <a:srgbClr val="FFFFFF">
              <a:alpha val="4000"/>
            </a:srgbClr>
          </a:solidFill>
          <a:ln/>
        </p:spPr>
        <p:txBody>
          <a:bodyPr/>
          <a:lstStyle/>
          <a:p>
            <a:endParaRPr lang="en-US"/>
          </a:p>
        </p:txBody>
      </p:sp>
      <p:sp>
        <p:nvSpPr>
          <p:cNvPr id="30" name="Shape 27"/>
          <p:cNvSpPr/>
          <p:nvPr/>
        </p:nvSpPr>
        <p:spPr>
          <a:xfrm>
            <a:off x="10702132" y="8896350"/>
            <a:ext cx="6976269" cy="12700"/>
          </a:xfrm>
          <a:prstGeom prst="rect">
            <a:avLst/>
          </a:prstGeom>
          <a:solidFill>
            <a:srgbClr val="FFFFFF">
              <a:alpha val="10000"/>
            </a:srgbClr>
          </a:solidFill>
          <a:ln/>
        </p:spPr>
        <p:txBody>
          <a:bodyPr/>
          <a:lstStyle/>
          <a:p>
            <a:endParaRPr lang="en-US"/>
          </a:p>
        </p:txBody>
      </p:sp>
      <p:sp>
        <p:nvSpPr>
          <p:cNvPr id="31" name="Shape 28"/>
          <p:cNvSpPr/>
          <p:nvPr/>
        </p:nvSpPr>
        <p:spPr>
          <a:xfrm>
            <a:off x="10702132" y="7205067"/>
            <a:ext cx="6976269" cy="12700"/>
          </a:xfrm>
          <a:prstGeom prst="rect">
            <a:avLst/>
          </a:prstGeom>
          <a:solidFill>
            <a:srgbClr val="FFFFFF">
              <a:alpha val="10000"/>
            </a:srgbClr>
          </a:solidFill>
          <a:ln/>
        </p:spPr>
        <p:txBody>
          <a:bodyPr/>
          <a:lstStyle/>
          <a:p>
            <a:endParaRPr lang="en-US"/>
          </a:p>
        </p:txBody>
      </p:sp>
      <p:sp>
        <p:nvSpPr>
          <p:cNvPr id="32" name="Shape 29"/>
          <p:cNvSpPr/>
          <p:nvPr/>
        </p:nvSpPr>
        <p:spPr>
          <a:xfrm>
            <a:off x="10702132" y="7205067"/>
            <a:ext cx="38100" cy="1703983"/>
          </a:xfrm>
          <a:prstGeom prst="rect">
            <a:avLst/>
          </a:prstGeom>
          <a:solidFill>
            <a:srgbClr val="F0584E"/>
          </a:solidFill>
          <a:ln/>
        </p:spPr>
        <p:txBody>
          <a:bodyPr/>
          <a:lstStyle/>
          <a:p>
            <a:endParaRPr lang="en-US"/>
          </a:p>
        </p:txBody>
      </p:sp>
      <p:sp>
        <p:nvSpPr>
          <p:cNvPr id="33" name="Shape 30"/>
          <p:cNvSpPr/>
          <p:nvPr/>
        </p:nvSpPr>
        <p:spPr>
          <a:xfrm>
            <a:off x="17665701" y="7205067"/>
            <a:ext cx="12700" cy="1703983"/>
          </a:xfrm>
          <a:prstGeom prst="rect">
            <a:avLst/>
          </a:prstGeom>
          <a:solidFill>
            <a:srgbClr val="FFFFFF">
              <a:alpha val="10000"/>
            </a:srgbClr>
          </a:solidFill>
          <a:ln/>
        </p:spPr>
        <p:txBody>
          <a:bodyPr/>
          <a:lstStyle/>
          <a:p>
            <a:endParaRPr lang="en-US"/>
          </a:p>
        </p:txBody>
      </p:sp>
      <p:sp>
        <p:nvSpPr>
          <p:cNvPr id="34" name="Text 31"/>
          <p:cNvSpPr/>
          <p:nvPr/>
        </p:nvSpPr>
        <p:spPr>
          <a:xfrm>
            <a:off x="10911682" y="7807722"/>
            <a:ext cx="7240826" cy="317500"/>
          </a:xfrm>
          <a:prstGeom prst="rect">
            <a:avLst/>
          </a:prstGeom>
          <a:noFill/>
          <a:ln/>
        </p:spPr>
        <p:txBody>
          <a:bodyPr wrap="square" lIns="25400" tIns="25400" rIns="25400" bIns="25400" rtlCol="0" anchor="t">
            <a:normAutofit/>
          </a:bodyPr>
          <a:lstStyle/>
          <a:p>
            <a:pPr marL="0" indent="0" algn="l">
              <a:buNone/>
            </a:pPr>
            <a:r>
              <a:rPr lang="en-US" sz="1500" b="1" dirty="0">
                <a:solidFill>
                  <a:srgbClr val="FFFFFF"/>
                </a:solidFill>
                <a:latin typeface="Arial" pitchFamily="34" charset="0"/>
                <a:ea typeface="Arial" pitchFamily="34" charset="-122"/>
                <a:cs typeface="Arial" pitchFamily="34" charset="-120"/>
              </a:rPr>
              <a:t>L3 · LSTM Autoencoder</a:t>
            </a:r>
            <a:endParaRPr lang="en-US" sz="1500" dirty="0"/>
          </a:p>
        </p:txBody>
      </p:sp>
      <p:sp>
        <p:nvSpPr>
          <p:cNvPr id="35" name="Text 32"/>
          <p:cNvSpPr/>
          <p:nvPr/>
        </p:nvSpPr>
        <p:spPr>
          <a:xfrm>
            <a:off x="10911682" y="8115697"/>
            <a:ext cx="7240826"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 20 ms · unsupervised · mean + 4σ</a:t>
            </a:r>
            <a:endParaRPr lang="en-US" sz="1275" dirty="0"/>
          </a:p>
        </p:txBody>
      </p:sp>
      <p:sp>
        <p:nvSpPr>
          <p:cNvPr id="36" name="Shape 33"/>
          <p:cNvSpPr/>
          <p:nvPr/>
        </p:nvSpPr>
        <p:spPr>
          <a:xfrm>
            <a:off x="10702132" y="9061450"/>
            <a:ext cx="6976269" cy="508000"/>
          </a:xfrm>
          <a:prstGeom prst="roundRect">
            <a:avLst>
              <a:gd name="adj" fmla="val 18750"/>
            </a:avLst>
          </a:prstGeom>
          <a:gradFill rotWithShape="1">
            <a:gsLst>
              <a:gs pos="0">
                <a:srgbClr val="9B7BE0">
                  <a:alpha val="16000"/>
                </a:srgbClr>
              </a:gs>
              <a:gs pos="100000">
                <a:srgbClr val="FFFFFF">
                  <a:alpha val="3000"/>
                </a:srgbClr>
              </a:gs>
            </a:gsLst>
            <a:lin ang="0" scaled="0"/>
          </a:gradFill>
          <a:ln w="12700">
            <a:solidFill>
              <a:srgbClr val="FFFFFF">
                <a:alpha val="10000"/>
              </a:srgbClr>
            </a:solidFill>
            <a:prstDash val="solid"/>
          </a:ln>
        </p:spPr>
        <p:txBody>
          <a:bodyPr/>
          <a:lstStyle/>
          <a:p>
            <a:endParaRPr lang="en-US"/>
          </a:p>
        </p:txBody>
      </p:sp>
      <p:sp>
        <p:nvSpPr>
          <p:cNvPr id="37" name="Text 34"/>
          <p:cNvSpPr/>
          <p:nvPr/>
        </p:nvSpPr>
        <p:spPr>
          <a:xfrm>
            <a:off x="10886282" y="9207500"/>
            <a:ext cx="6817257" cy="254000"/>
          </a:xfrm>
          <a:prstGeom prst="rect">
            <a:avLst/>
          </a:prstGeom>
          <a:noFill/>
          <a:ln/>
        </p:spPr>
        <p:txBody>
          <a:bodyPr wrap="square" lIns="25400" tIns="25400" rIns="25400" bIns="25400" rtlCol="0" anchor="t">
            <a:normAutofit/>
          </a:bodyPr>
          <a:lstStyle/>
          <a:p>
            <a:pPr marL="0" indent="0" algn="l">
              <a:buNone/>
            </a:pPr>
            <a:r>
              <a:rPr lang="en-US" sz="1425" dirty="0">
                <a:solidFill>
                  <a:srgbClr val="D2DEEB"/>
                </a:solidFill>
                <a:latin typeface="Arial" pitchFamily="34" charset="0"/>
                <a:ea typeface="Arial" pitchFamily="34" charset="-122"/>
                <a:cs typeface="Arial" pitchFamily="34" charset="-120"/>
              </a:rPr>
              <a:t>Ensemble → </a:t>
            </a:r>
            <a:r>
              <a:rPr lang="en-US" sz="1425" dirty="0">
                <a:solidFill>
                  <a:srgbClr val="FFFFFF"/>
                </a:solidFill>
                <a:latin typeface="Courier New" pitchFamily="34" charset="0"/>
                <a:ea typeface="Courier New" pitchFamily="34" charset="-122"/>
                <a:cs typeface="Courier New" pitchFamily="34" charset="-120"/>
              </a:rPr>
              <a:t>alerts.detections </a:t>
            </a:r>
            <a:r>
              <a:rPr lang="en-US" sz="1425" dirty="0">
                <a:solidFill>
                  <a:srgbClr val="D2DEEB"/>
                </a:solidFill>
                <a:latin typeface="Arial" pitchFamily="34" charset="0"/>
                <a:ea typeface="Arial" pitchFamily="34" charset="-122"/>
                <a:cs typeface="Arial" pitchFamily="34" charset="-120"/>
              </a:rPr>
              <a:t>→ Prometheus → Grafana</a:t>
            </a:r>
            <a:endParaRPr lang="en-US" sz="1425" dirty="0"/>
          </a:p>
        </p:txBody>
      </p:sp>
      <p:sp>
        <p:nvSpPr>
          <p:cNvPr id="38" name="Shape 35"/>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39" name="Text 36"/>
          <p:cNvSpPr/>
          <p:nvPr/>
        </p:nvSpPr>
        <p:spPr>
          <a:xfrm>
            <a:off x="6096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40" name="Text 37"/>
          <p:cNvSpPr/>
          <p:nvPr/>
        </p:nvSpPr>
        <p:spPr>
          <a:xfrm>
            <a:off x="171831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07 / 18</a:t>
            </a:r>
            <a:endParaRPr lang="en-US" sz="12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533400" y="411163"/>
            <a:ext cx="104775" cy="104775"/>
          </a:xfrm>
          <a:prstGeom prst="roundRect">
            <a:avLst>
              <a:gd name="adj" fmla="val 18182"/>
            </a:avLst>
          </a:prstGeom>
          <a:solidFill>
            <a:srgbClr val="34C27E"/>
          </a:solidFill>
          <a:ln/>
          <a:effectLst>
            <a:outerShdw blurRad="133350" dist="50800" dir="16200000" algn="bl" rotWithShape="0">
              <a:srgbClr val="34C27E">
                <a:alpha val="100000"/>
              </a:srgbClr>
            </a:outerShdw>
          </a:effectLst>
        </p:spPr>
        <p:txBody>
          <a:bodyPr/>
          <a:lstStyle/>
          <a:p>
            <a:endParaRPr lang="en-US"/>
          </a:p>
        </p:txBody>
      </p:sp>
      <p:sp>
        <p:nvSpPr>
          <p:cNvPr id="4" name="Text 2"/>
          <p:cNvSpPr/>
          <p:nvPr/>
        </p:nvSpPr>
        <p:spPr>
          <a:xfrm>
            <a:off x="752475" y="323850"/>
            <a:ext cx="1457464"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5BD39A"/>
                </a:solidFill>
                <a:latin typeface="Arial" pitchFamily="34" charset="0"/>
                <a:ea typeface="Arial" pitchFamily="34" charset="-122"/>
                <a:cs typeface="Arial" pitchFamily="34" charset="-120"/>
              </a:rPr>
              <a:t>TRAINING</a:t>
            </a:r>
            <a:endParaRPr lang="en-US" sz="1500" dirty="0"/>
          </a:p>
        </p:txBody>
      </p:sp>
      <p:sp>
        <p:nvSpPr>
          <p:cNvPr id="5" name="Text 3"/>
          <p:cNvSpPr/>
          <p:nvPr/>
        </p:nvSpPr>
        <p:spPr>
          <a:xfrm>
            <a:off x="533400" y="708025"/>
            <a:ext cx="8275042"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Dataset, Features &amp; Target</a:t>
            </a:r>
            <a:endParaRPr lang="en-US" sz="4050" dirty="0"/>
          </a:p>
        </p:txBody>
      </p:sp>
      <p:sp>
        <p:nvSpPr>
          <p:cNvPr id="6" name="Text 4"/>
          <p:cNvSpPr/>
          <p:nvPr/>
        </p:nvSpPr>
        <p:spPr>
          <a:xfrm>
            <a:off x="159629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08</a:t>
            </a:r>
            <a:endParaRPr lang="en-US" sz="11250" dirty="0"/>
          </a:p>
        </p:txBody>
      </p:sp>
      <p:sp>
        <p:nvSpPr>
          <p:cNvPr id="7" name="Shape 5"/>
          <p:cNvSpPr/>
          <p:nvPr/>
        </p:nvSpPr>
        <p:spPr>
          <a:xfrm>
            <a:off x="533400" y="1504950"/>
            <a:ext cx="17221200" cy="19050"/>
          </a:xfrm>
          <a:prstGeom prst="rect">
            <a:avLst/>
          </a:prstGeom>
          <a:gradFill rotWithShape="1">
            <a:gsLst>
              <a:gs pos="0">
                <a:srgbClr val="34C27E">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Shape 6"/>
          <p:cNvSpPr/>
          <p:nvPr/>
        </p:nvSpPr>
        <p:spPr>
          <a:xfrm>
            <a:off x="533400" y="1752600"/>
            <a:ext cx="6959203" cy="2654300"/>
          </a:xfrm>
          <a:prstGeom prst="roundRect">
            <a:avLst>
              <a:gd name="adj" fmla="val 4306"/>
            </a:avLst>
          </a:prstGeom>
          <a:solidFill>
            <a:srgbClr val="FFFFFF">
              <a:alpha val="4000"/>
            </a:srgbClr>
          </a:solidFill>
          <a:ln w="12700">
            <a:solidFill>
              <a:srgbClr val="FFFFFF">
                <a:alpha val="10000"/>
              </a:srgbClr>
            </a:solidFill>
            <a:prstDash val="solid"/>
          </a:ln>
        </p:spPr>
        <p:txBody>
          <a:bodyPr/>
          <a:lstStyle/>
          <a:p>
            <a:endParaRPr lang="en-US"/>
          </a:p>
        </p:txBody>
      </p:sp>
      <p:sp>
        <p:nvSpPr>
          <p:cNvPr id="9" name="Text 7"/>
          <p:cNvSpPr/>
          <p:nvPr/>
        </p:nvSpPr>
        <p:spPr>
          <a:xfrm>
            <a:off x="793750" y="1974850"/>
            <a:ext cx="7082354" cy="393700"/>
          </a:xfrm>
          <a:prstGeom prst="rect">
            <a:avLst/>
          </a:prstGeom>
          <a:noFill/>
          <a:ln/>
        </p:spPr>
        <p:txBody>
          <a:bodyPr wrap="square" lIns="25400" tIns="25400" rIns="25400" bIns="25400" rtlCol="0" anchor="t">
            <a:normAutofit/>
          </a:bodyPr>
          <a:lstStyle/>
          <a:p>
            <a:pPr marL="0" indent="0" algn="l">
              <a:buNone/>
            </a:pPr>
            <a:r>
              <a:rPr lang="en-US" sz="2025" b="1" dirty="0">
                <a:solidFill>
                  <a:srgbClr val="5BD39A"/>
                </a:solidFill>
                <a:latin typeface="Arial" pitchFamily="34" charset="0"/>
                <a:ea typeface="Arial" pitchFamily="34" charset="-122"/>
                <a:cs typeface="Arial" pitchFamily="34" charset="-120"/>
              </a:rPr>
              <a:t>CS2CD Dataset</a:t>
            </a:r>
            <a:endParaRPr lang="en-US" sz="2025" dirty="0"/>
          </a:p>
        </p:txBody>
      </p:sp>
      <p:sp>
        <p:nvSpPr>
          <p:cNvPr id="10" name="Shape 8"/>
          <p:cNvSpPr/>
          <p:nvPr/>
        </p:nvSpPr>
        <p:spPr>
          <a:xfrm>
            <a:off x="793750" y="2482850"/>
            <a:ext cx="2057202" cy="958850"/>
          </a:xfrm>
          <a:prstGeom prst="roundRect">
            <a:avLst>
              <a:gd name="adj" fmla="val 9934"/>
            </a:avLst>
          </a:prstGeom>
          <a:solidFill>
            <a:srgbClr val="3B8EE6">
              <a:alpha val="12000"/>
            </a:srgbClr>
          </a:solidFill>
          <a:ln w="12700">
            <a:solidFill>
              <a:srgbClr val="3B8EE6">
                <a:alpha val="35000"/>
              </a:srgbClr>
            </a:solidFill>
            <a:prstDash val="solid"/>
          </a:ln>
        </p:spPr>
        <p:txBody>
          <a:bodyPr/>
          <a:lstStyle/>
          <a:p>
            <a:endParaRPr lang="en-US"/>
          </a:p>
        </p:txBody>
      </p:sp>
      <p:sp>
        <p:nvSpPr>
          <p:cNvPr id="11" name="Text 9"/>
          <p:cNvSpPr/>
          <p:nvPr/>
        </p:nvSpPr>
        <p:spPr>
          <a:xfrm>
            <a:off x="851545" y="2628900"/>
            <a:ext cx="1941612" cy="457200"/>
          </a:xfrm>
          <a:prstGeom prst="rect">
            <a:avLst/>
          </a:prstGeom>
          <a:noFill/>
          <a:ln/>
        </p:spPr>
        <p:txBody>
          <a:bodyPr wrap="square" lIns="25400" tIns="25400" rIns="25400" bIns="25400" rtlCol="0" anchor="t">
            <a:normAutofit/>
          </a:bodyPr>
          <a:lstStyle/>
          <a:p>
            <a:pPr marL="0" indent="0" algn="ctr">
              <a:lnSpc>
                <a:spcPct val="100000"/>
              </a:lnSpc>
              <a:buNone/>
            </a:pPr>
            <a:r>
              <a:rPr lang="en-US" sz="3300" b="1" dirty="0">
                <a:solidFill>
                  <a:srgbClr val="6FB3F2"/>
                </a:solidFill>
                <a:latin typeface="Arial" pitchFamily="34" charset="0"/>
                <a:ea typeface="Arial" pitchFamily="34" charset="-122"/>
                <a:cs typeface="Arial" pitchFamily="34" charset="-120"/>
              </a:rPr>
              <a:t>795</a:t>
            </a:r>
            <a:endParaRPr lang="en-US" sz="3300" dirty="0"/>
          </a:p>
        </p:txBody>
      </p:sp>
      <p:sp>
        <p:nvSpPr>
          <p:cNvPr id="12" name="Text 10"/>
          <p:cNvSpPr/>
          <p:nvPr/>
        </p:nvSpPr>
        <p:spPr>
          <a:xfrm>
            <a:off x="851545" y="3105150"/>
            <a:ext cx="1941612" cy="228600"/>
          </a:xfrm>
          <a:prstGeom prst="rect">
            <a:avLst/>
          </a:prstGeom>
          <a:noFill/>
          <a:ln/>
        </p:spPr>
        <p:txBody>
          <a:bodyPr wrap="square" lIns="25400" tIns="25400" rIns="25400" bIns="25400" rtlCol="0" anchor="t">
            <a:normAutofit/>
          </a:bodyPr>
          <a:lstStyle/>
          <a:p>
            <a:pPr marL="0" indent="0" algn="ctr">
              <a:buNone/>
            </a:pPr>
            <a:r>
              <a:rPr lang="en-US" sz="1275" dirty="0">
                <a:solidFill>
                  <a:srgbClr val="9DB2C9"/>
                </a:solidFill>
                <a:latin typeface="Arial" pitchFamily="34" charset="0"/>
                <a:ea typeface="Arial" pitchFamily="34" charset="-122"/>
                <a:cs typeface="Arial" pitchFamily="34" charset="-120"/>
              </a:rPr>
              <a:t>CS2 matches</a:t>
            </a:r>
            <a:endParaRPr lang="en-US" sz="1275" dirty="0"/>
          </a:p>
        </p:txBody>
      </p:sp>
      <p:sp>
        <p:nvSpPr>
          <p:cNvPr id="13" name="Shape 11"/>
          <p:cNvSpPr/>
          <p:nvPr/>
        </p:nvSpPr>
        <p:spPr>
          <a:xfrm>
            <a:off x="2984302" y="2482850"/>
            <a:ext cx="2057400" cy="958850"/>
          </a:xfrm>
          <a:prstGeom prst="roundRect">
            <a:avLst>
              <a:gd name="adj" fmla="val 9934"/>
            </a:avLst>
          </a:prstGeom>
          <a:solidFill>
            <a:srgbClr val="F0584E">
              <a:alpha val="12000"/>
            </a:srgbClr>
          </a:solidFill>
          <a:ln w="12700">
            <a:solidFill>
              <a:srgbClr val="F0584E">
                <a:alpha val="35000"/>
              </a:srgbClr>
            </a:solidFill>
            <a:prstDash val="solid"/>
          </a:ln>
        </p:spPr>
        <p:txBody>
          <a:bodyPr/>
          <a:lstStyle/>
          <a:p>
            <a:endParaRPr lang="en-US"/>
          </a:p>
        </p:txBody>
      </p:sp>
      <p:sp>
        <p:nvSpPr>
          <p:cNvPr id="14" name="Text 12"/>
          <p:cNvSpPr/>
          <p:nvPr/>
        </p:nvSpPr>
        <p:spPr>
          <a:xfrm>
            <a:off x="3042087" y="2628900"/>
            <a:ext cx="1941830" cy="457200"/>
          </a:xfrm>
          <a:prstGeom prst="rect">
            <a:avLst/>
          </a:prstGeom>
          <a:noFill/>
          <a:ln/>
        </p:spPr>
        <p:txBody>
          <a:bodyPr wrap="square" lIns="25400" tIns="25400" rIns="25400" bIns="25400" rtlCol="0" anchor="t">
            <a:normAutofit/>
          </a:bodyPr>
          <a:lstStyle/>
          <a:p>
            <a:pPr marL="0" indent="0" algn="ctr">
              <a:lnSpc>
                <a:spcPct val="100000"/>
              </a:lnSpc>
              <a:buNone/>
            </a:pPr>
            <a:r>
              <a:rPr lang="en-US" sz="3300" b="1" dirty="0">
                <a:solidFill>
                  <a:srgbClr val="F47E76"/>
                </a:solidFill>
                <a:latin typeface="Arial" pitchFamily="34" charset="0"/>
                <a:ea typeface="Arial" pitchFamily="34" charset="-122"/>
                <a:cs typeface="Arial" pitchFamily="34" charset="-120"/>
              </a:rPr>
              <a:t>451</a:t>
            </a:r>
            <a:endParaRPr lang="en-US" sz="3300" dirty="0"/>
          </a:p>
        </p:txBody>
      </p:sp>
      <p:sp>
        <p:nvSpPr>
          <p:cNvPr id="15" name="Text 13"/>
          <p:cNvSpPr/>
          <p:nvPr/>
        </p:nvSpPr>
        <p:spPr>
          <a:xfrm>
            <a:off x="3042087" y="3105150"/>
            <a:ext cx="1941830" cy="228600"/>
          </a:xfrm>
          <a:prstGeom prst="rect">
            <a:avLst/>
          </a:prstGeom>
          <a:noFill/>
          <a:ln/>
        </p:spPr>
        <p:txBody>
          <a:bodyPr wrap="square" lIns="25400" tIns="25400" rIns="25400" bIns="25400" rtlCol="0" anchor="t">
            <a:normAutofit/>
          </a:bodyPr>
          <a:lstStyle/>
          <a:p>
            <a:pPr marL="0" indent="0" algn="ctr">
              <a:buNone/>
            </a:pPr>
            <a:r>
              <a:rPr lang="en-US" sz="1275" dirty="0">
                <a:solidFill>
                  <a:srgbClr val="9DB2C9"/>
                </a:solidFill>
                <a:latin typeface="Arial" pitchFamily="34" charset="0"/>
                <a:ea typeface="Arial" pitchFamily="34" charset="-122"/>
                <a:cs typeface="Arial" pitchFamily="34" charset="-120"/>
              </a:rPr>
              <a:t>VAC-banned</a:t>
            </a:r>
            <a:endParaRPr lang="en-US" sz="1275" dirty="0"/>
          </a:p>
        </p:txBody>
      </p:sp>
      <p:sp>
        <p:nvSpPr>
          <p:cNvPr id="16" name="Shape 14"/>
          <p:cNvSpPr/>
          <p:nvPr/>
        </p:nvSpPr>
        <p:spPr>
          <a:xfrm>
            <a:off x="5175052" y="2482850"/>
            <a:ext cx="2057202" cy="958850"/>
          </a:xfrm>
          <a:prstGeom prst="roundRect">
            <a:avLst>
              <a:gd name="adj" fmla="val 9934"/>
            </a:avLst>
          </a:prstGeom>
          <a:solidFill>
            <a:srgbClr val="34C27E">
              <a:alpha val="12000"/>
            </a:srgbClr>
          </a:solidFill>
          <a:ln w="12700">
            <a:solidFill>
              <a:srgbClr val="34C27E">
                <a:alpha val="35000"/>
              </a:srgbClr>
            </a:solidFill>
            <a:prstDash val="solid"/>
          </a:ln>
        </p:spPr>
        <p:txBody>
          <a:bodyPr/>
          <a:lstStyle/>
          <a:p>
            <a:endParaRPr lang="en-US"/>
          </a:p>
        </p:txBody>
      </p:sp>
      <p:sp>
        <p:nvSpPr>
          <p:cNvPr id="17" name="Text 15"/>
          <p:cNvSpPr/>
          <p:nvPr/>
        </p:nvSpPr>
        <p:spPr>
          <a:xfrm>
            <a:off x="5232847" y="2628900"/>
            <a:ext cx="1941612" cy="457200"/>
          </a:xfrm>
          <a:prstGeom prst="rect">
            <a:avLst/>
          </a:prstGeom>
          <a:noFill/>
          <a:ln/>
        </p:spPr>
        <p:txBody>
          <a:bodyPr wrap="square" lIns="25400" tIns="25400" rIns="25400" bIns="25400" rtlCol="0" anchor="t">
            <a:normAutofit/>
          </a:bodyPr>
          <a:lstStyle/>
          <a:p>
            <a:pPr marL="0" indent="0" algn="ctr">
              <a:lnSpc>
                <a:spcPct val="100000"/>
              </a:lnSpc>
              <a:buNone/>
            </a:pPr>
            <a:r>
              <a:rPr lang="en-US" sz="3300" b="1" dirty="0">
                <a:solidFill>
                  <a:srgbClr val="5BD39A"/>
                </a:solidFill>
                <a:latin typeface="Arial" pitchFamily="34" charset="0"/>
                <a:ea typeface="Arial" pitchFamily="34" charset="-122"/>
                <a:cs typeface="Arial" pitchFamily="34" charset="-120"/>
              </a:rPr>
              <a:t>344</a:t>
            </a:r>
            <a:endParaRPr lang="en-US" sz="3300" dirty="0"/>
          </a:p>
        </p:txBody>
      </p:sp>
      <p:sp>
        <p:nvSpPr>
          <p:cNvPr id="18" name="Text 16"/>
          <p:cNvSpPr/>
          <p:nvPr/>
        </p:nvSpPr>
        <p:spPr>
          <a:xfrm>
            <a:off x="5232847" y="3105150"/>
            <a:ext cx="1941612" cy="228600"/>
          </a:xfrm>
          <a:prstGeom prst="rect">
            <a:avLst/>
          </a:prstGeom>
          <a:noFill/>
          <a:ln/>
        </p:spPr>
        <p:txBody>
          <a:bodyPr wrap="square" lIns="25400" tIns="25400" rIns="25400" bIns="25400" rtlCol="0" anchor="t">
            <a:normAutofit/>
          </a:bodyPr>
          <a:lstStyle/>
          <a:p>
            <a:pPr marL="0" indent="0" algn="ctr">
              <a:buNone/>
            </a:pPr>
            <a:r>
              <a:rPr lang="en-US" sz="1275" dirty="0">
                <a:solidFill>
                  <a:srgbClr val="9DB2C9"/>
                </a:solidFill>
                <a:latin typeface="Arial" pitchFamily="34" charset="0"/>
                <a:ea typeface="Arial" pitchFamily="34" charset="-122"/>
                <a:cs typeface="Arial" pitchFamily="34" charset="-120"/>
              </a:rPr>
              <a:t>clean</a:t>
            </a:r>
            <a:endParaRPr lang="en-US" sz="1275" dirty="0"/>
          </a:p>
        </p:txBody>
      </p:sp>
      <p:sp>
        <p:nvSpPr>
          <p:cNvPr id="19" name="Shape 17"/>
          <p:cNvSpPr/>
          <p:nvPr/>
        </p:nvSpPr>
        <p:spPr>
          <a:xfrm>
            <a:off x="793750" y="3670300"/>
            <a:ext cx="76200" cy="76200"/>
          </a:xfrm>
          <a:prstGeom prst="roundRect">
            <a:avLst>
              <a:gd name="adj" fmla="val 25000"/>
            </a:avLst>
          </a:prstGeom>
          <a:solidFill>
            <a:srgbClr val="34C27E"/>
          </a:solidFill>
          <a:ln/>
        </p:spPr>
        <p:txBody>
          <a:bodyPr/>
          <a:lstStyle/>
          <a:p>
            <a:endParaRPr lang="en-US"/>
          </a:p>
        </p:txBody>
      </p:sp>
      <p:sp>
        <p:nvSpPr>
          <p:cNvPr id="20" name="Text 18"/>
          <p:cNvSpPr/>
          <p:nvPr/>
        </p:nvSpPr>
        <p:spPr>
          <a:xfrm>
            <a:off x="974725" y="3594100"/>
            <a:ext cx="3889990"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Parquet format · 225 raw columns per tick</a:t>
            </a:r>
            <a:endParaRPr lang="en-US" sz="1500" dirty="0"/>
          </a:p>
        </p:txBody>
      </p:sp>
      <p:sp>
        <p:nvSpPr>
          <p:cNvPr id="21" name="Shape 19"/>
          <p:cNvSpPr/>
          <p:nvPr/>
        </p:nvSpPr>
        <p:spPr>
          <a:xfrm>
            <a:off x="793750" y="4013200"/>
            <a:ext cx="76200" cy="76200"/>
          </a:xfrm>
          <a:prstGeom prst="roundRect">
            <a:avLst>
              <a:gd name="adj" fmla="val 25000"/>
            </a:avLst>
          </a:prstGeom>
          <a:solidFill>
            <a:srgbClr val="34C27E"/>
          </a:solidFill>
          <a:ln/>
        </p:spPr>
        <p:txBody>
          <a:bodyPr/>
          <a:lstStyle/>
          <a:p>
            <a:endParaRPr lang="en-US"/>
          </a:p>
        </p:txBody>
      </p:sp>
      <p:sp>
        <p:nvSpPr>
          <p:cNvPr id="22" name="Text 20"/>
          <p:cNvSpPr/>
          <p:nvPr/>
        </p:nvSpPr>
        <p:spPr>
          <a:xfrm>
            <a:off x="974725" y="3937000"/>
            <a:ext cx="4217194"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Augmented with bot-generated synthetic data</a:t>
            </a:r>
            <a:endParaRPr lang="en-US" sz="1500" dirty="0"/>
          </a:p>
        </p:txBody>
      </p:sp>
      <p:sp>
        <p:nvSpPr>
          <p:cNvPr id="23" name="Shape 21"/>
          <p:cNvSpPr/>
          <p:nvPr/>
        </p:nvSpPr>
        <p:spPr>
          <a:xfrm>
            <a:off x="533400" y="4578350"/>
            <a:ext cx="6959203" cy="5010150"/>
          </a:xfrm>
          <a:prstGeom prst="roundRect">
            <a:avLst>
              <a:gd name="adj" fmla="val 2281"/>
            </a:avLst>
          </a:prstGeom>
          <a:solidFill>
            <a:srgbClr val="FFFFFF">
              <a:alpha val="4000"/>
            </a:srgbClr>
          </a:solidFill>
          <a:ln w="12700">
            <a:solidFill>
              <a:srgbClr val="FFFFFF">
                <a:alpha val="10000"/>
              </a:srgbClr>
            </a:solidFill>
            <a:prstDash val="solid"/>
          </a:ln>
        </p:spPr>
        <p:txBody>
          <a:bodyPr/>
          <a:lstStyle/>
          <a:p>
            <a:endParaRPr lang="en-US"/>
          </a:p>
        </p:txBody>
      </p:sp>
      <p:sp>
        <p:nvSpPr>
          <p:cNvPr id="24" name="Text 22"/>
          <p:cNvSpPr/>
          <p:nvPr/>
        </p:nvSpPr>
        <p:spPr>
          <a:xfrm>
            <a:off x="793750" y="4800600"/>
            <a:ext cx="7082354" cy="393700"/>
          </a:xfrm>
          <a:prstGeom prst="rect">
            <a:avLst/>
          </a:prstGeom>
          <a:noFill/>
          <a:ln/>
        </p:spPr>
        <p:txBody>
          <a:bodyPr wrap="square" lIns="25400" tIns="25400" rIns="25400" bIns="25400" rtlCol="0" anchor="t">
            <a:normAutofit/>
          </a:bodyPr>
          <a:lstStyle/>
          <a:p>
            <a:pPr marL="0" indent="0" algn="l">
              <a:buNone/>
            </a:pPr>
            <a:r>
              <a:rPr lang="en-US" sz="2025" b="1" dirty="0">
                <a:solidFill>
                  <a:srgbClr val="5BD39A"/>
                </a:solidFill>
                <a:latin typeface="Arial" pitchFamily="34" charset="0"/>
                <a:ea typeface="Arial" pitchFamily="34" charset="-122"/>
                <a:cs typeface="Arial" pitchFamily="34" charset="-120"/>
              </a:rPr>
              <a:t>Target Variable</a:t>
            </a:r>
            <a:endParaRPr lang="en-US" sz="2025" dirty="0"/>
          </a:p>
        </p:txBody>
      </p:sp>
      <p:sp>
        <p:nvSpPr>
          <p:cNvPr id="25" name="Shape 23"/>
          <p:cNvSpPr/>
          <p:nvPr/>
        </p:nvSpPr>
        <p:spPr>
          <a:xfrm>
            <a:off x="793750" y="5299075"/>
            <a:ext cx="6438504" cy="552450"/>
          </a:xfrm>
          <a:prstGeom prst="roundRect">
            <a:avLst>
              <a:gd name="adj" fmla="val 17241"/>
            </a:avLst>
          </a:prstGeom>
          <a:solidFill>
            <a:srgbClr val="0B1A30"/>
          </a:solidFill>
          <a:ln w="12700">
            <a:solidFill>
              <a:srgbClr val="FFFFFF">
                <a:alpha val="10000"/>
              </a:srgbClr>
            </a:solidFill>
            <a:prstDash val="solid"/>
          </a:ln>
        </p:spPr>
        <p:txBody>
          <a:bodyPr/>
          <a:lstStyle/>
          <a:p>
            <a:endParaRPr lang="en-US"/>
          </a:p>
        </p:txBody>
      </p:sp>
      <p:sp>
        <p:nvSpPr>
          <p:cNvPr id="26" name="Text 24"/>
          <p:cNvSpPr/>
          <p:nvPr/>
        </p:nvSpPr>
        <p:spPr>
          <a:xfrm>
            <a:off x="996950" y="5454650"/>
            <a:ext cx="6225259" cy="279400"/>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Courier New" pitchFamily="34" charset="0"/>
                <a:ea typeface="Courier New" pitchFamily="34" charset="-122"/>
                <a:cs typeface="Courier New" pitchFamily="34" charset="-120"/>
              </a:rPr>
              <a:t>cheat_label </a:t>
            </a:r>
            <a:r>
              <a:rPr lang="en-US" sz="1500" dirty="0">
                <a:solidFill>
                  <a:srgbClr val="9DB2C9"/>
                </a:solidFill>
                <a:latin typeface="Arial" pitchFamily="34" charset="0"/>
                <a:ea typeface="Arial" pitchFamily="34" charset="-122"/>
                <a:cs typeface="Arial" pitchFamily="34" charset="-120"/>
              </a:rPr>
              <a:t>- binary: "none" or "cheater"</a:t>
            </a:r>
            <a:endParaRPr lang="en-US" sz="1200" dirty="0"/>
          </a:p>
        </p:txBody>
      </p:sp>
      <p:sp>
        <p:nvSpPr>
          <p:cNvPr id="27" name="Shape 25"/>
          <p:cNvSpPr/>
          <p:nvPr/>
        </p:nvSpPr>
        <p:spPr>
          <a:xfrm>
            <a:off x="793750" y="6070600"/>
            <a:ext cx="76200" cy="76200"/>
          </a:xfrm>
          <a:prstGeom prst="roundRect">
            <a:avLst>
              <a:gd name="adj" fmla="val 25000"/>
            </a:avLst>
          </a:prstGeom>
          <a:solidFill>
            <a:srgbClr val="F2A33C"/>
          </a:solidFill>
          <a:ln/>
        </p:spPr>
        <p:txBody>
          <a:bodyPr/>
          <a:lstStyle/>
          <a:p>
            <a:endParaRPr lang="en-US"/>
          </a:p>
        </p:txBody>
      </p:sp>
      <p:sp>
        <p:nvSpPr>
          <p:cNvPr id="28" name="Text 26"/>
          <p:cNvSpPr/>
          <p:nvPr/>
        </p:nvSpPr>
        <p:spPr>
          <a:xfrm>
            <a:off x="974725" y="5994400"/>
            <a:ext cx="4200823"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Source: VAC ban status in each match JSON</a:t>
            </a:r>
            <a:endParaRPr lang="en-US" sz="1500" dirty="0"/>
          </a:p>
        </p:txBody>
      </p:sp>
      <p:sp>
        <p:nvSpPr>
          <p:cNvPr id="29" name="Shape 27"/>
          <p:cNvSpPr/>
          <p:nvPr/>
        </p:nvSpPr>
        <p:spPr>
          <a:xfrm>
            <a:off x="793750" y="6423025"/>
            <a:ext cx="76200" cy="76200"/>
          </a:xfrm>
          <a:prstGeom prst="roundRect">
            <a:avLst>
              <a:gd name="adj" fmla="val 25000"/>
            </a:avLst>
          </a:prstGeom>
          <a:solidFill>
            <a:srgbClr val="F2A33C"/>
          </a:solidFill>
          <a:ln/>
        </p:spPr>
        <p:txBody>
          <a:bodyPr/>
          <a:lstStyle/>
          <a:p>
            <a:endParaRPr lang="en-US"/>
          </a:p>
        </p:txBody>
      </p:sp>
      <p:sp>
        <p:nvSpPr>
          <p:cNvPr id="30" name="Text 28"/>
          <p:cNvSpPr/>
          <p:nvPr/>
        </p:nvSpPr>
        <p:spPr>
          <a:xfrm>
            <a:off x="974725" y="6346825"/>
            <a:ext cx="5212993" cy="3111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Per-player: every tick from a banned player → </a:t>
            </a:r>
            <a:r>
              <a:rPr lang="en-US" sz="1500" dirty="0">
                <a:solidFill>
                  <a:srgbClr val="F47E76"/>
                </a:solidFill>
                <a:latin typeface="Courier New" pitchFamily="34" charset="0"/>
                <a:ea typeface="Courier New" pitchFamily="34" charset="-122"/>
                <a:cs typeface="Courier New" pitchFamily="34" charset="-120"/>
              </a:rPr>
              <a:t>cheater</a:t>
            </a:r>
            <a:endParaRPr lang="en-US" sz="1500" dirty="0"/>
          </a:p>
        </p:txBody>
      </p:sp>
      <p:sp>
        <p:nvSpPr>
          <p:cNvPr id="31" name="Text 29"/>
          <p:cNvSpPr/>
          <p:nvPr/>
        </p:nvSpPr>
        <p:spPr>
          <a:xfrm>
            <a:off x="7740253" y="1752600"/>
            <a:ext cx="11015782" cy="393700"/>
          </a:xfrm>
          <a:prstGeom prst="rect">
            <a:avLst/>
          </a:prstGeom>
          <a:noFill/>
          <a:ln/>
        </p:spPr>
        <p:txBody>
          <a:bodyPr wrap="square" lIns="25400" tIns="25400" rIns="25400" bIns="25400" rtlCol="0" anchor="t">
            <a:normAutofit/>
          </a:bodyPr>
          <a:lstStyle/>
          <a:p>
            <a:pPr marL="0" indent="0" algn="l">
              <a:buNone/>
            </a:pPr>
            <a:r>
              <a:rPr lang="en-US" sz="2025" b="1" dirty="0">
                <a:solidFill>
                  <a:srgbClr val="FFFFFF"/>
                </a:solidFill>
                <a:latin typeface="Arial" pitchFamily="34" charset="0"/>
                <a:ea typeface="Arial" pitchFamily="34" charset="-122"/>
                <a:cs typeface="Arial" pitchFamily="34" charset="-120"/>
              </a:rPr>
              <a:t>18 Computed Features - Input to XGBoost</a:t>
            </a:r>
            <a:endParaRPr lang="en-US" sz="2025" dirty="0"/>
          </a:p>
        </p:txBody>
      </p:sp>
      <p:sp>
        <p:nvSpPr>
          <p:cNvPr id="32" name="Shape 30"/>
          <p:cNvSpPr/>
          <p:nvPr/>
        </p:nvSpPr>
        <p:spPr>
          <a:xfrm>
            <a:off x="7740253" y="2232025"/>
            <a:ext cx="10014347" cy="7356475"/>
          </a:xfrm>
          <a:prstGeom prst="roundRect">
            <a:avLst>
              <a:gd name="adj" fmla="val 1554"/>
            </a:avLst>
          </a:prstGeom>
          <a:solidFill>
            <a:srgbClr val="FFFFFF">
              <a:alpha val="10000"/>
            </a:srgbClr>
          </a:solidFill>
          <a:ln w="12700">
            <a:solidFill>
              <a:srgbClr val="FFFFFF">
                <a:alpha val="10000"/>
              </a:srgbClr>
            </a:solidFill>
            <a:prstDash val="solid"/>
          </a:ln>
        </p:spPr>
        <p:txBody>
          <a:bodyPr/>
          <a:lstStyle/>
          <a:p>
            <a:endParaRPr lang="en-US"/>
          </a:p>
        </p:txBody>
      </p:sp>
      <p:sp>
        <p:nvSpPr>
          <p:cNvPr id="33" name="Shape 31"/>
          <p:cNvSpPr/>
          <p:nvPr/>
        </p:nvSpPr>
        <p:spPr>
          <a:xfrm>
            <a:off x="7752954" y="2244725"/>
            <a:ext cx="3762177" cy="514747"/>
          </a:xfrm>
          <a:prstGeom prst="rect">
            <a:avLst/>
          </a:prstGeom>
          <a:solidFill>
            <a:srgbClr val="13294A"/>
          </a:solidFill>
          <a:ln/>
        </p:spPr>
        <p:txBody>
          <a:bodyPr/>
          <a:lstStyle/>
          <a:p>
            <a:endParaRPr lang="en-US"/>
          </a:p>
        </p:txBody>
      </p:sp>
      <p:sp>
        <p:nvSpPr>
          <p:cNvPr id="34" name="Text 32"/>
          <p:cNvSpPr/>
          <p:nvPr/>
        </p:nvSpPr>
        <p:spPr>
          <a:xfrm>
            <a:off x="7905354" y="2330450"/>
            <a:ext cx="3570242" cy="381397"/>
          </a:xfrm>
          <a:prstGeom prst="rect">
            <a:avLst/>
          </a:prstGeom>
          <a:noFill/>
          <a:ln/>
        </p:spPr>
        <p:txBody>
          <a:bodyPr wrap="square" lIns="25400" tIns="25400" rIns="25400" bIns="25400" rtlCol="0" anchor="ctr">
            <a:normAutofit/>
          </a:bodyPr>
          <a:lstStyle/>
          <a:p>
            <a:pPr marL="0" indent="0" algn="l">
              <a:buNone/>
            </a:pPr>
            <a:r>
              <a:rPr lang="en-US" sz="1350" b="1" dirty="0">
                <a:solidFill>
                  <a:srgbClr val="CFE0F2"/>
                </a:solidFill>
                <a:latin typeface="Arial" pitchFamily="34" charset="0"/>
                <a:ea typeface="Arial" pitchFamily="34" charset="-122"/>
                <a:cs typeface="Arial" pitchFamily="34" charset="-120"/>
              </a:rPr>
              <a:t>Feature</a:t>
            </a:r>
            <a:endParaRPr lang="en-US" sz="1350" dirty="0"/>
          </a:p>
        </p:txBody>
      </p:sp>
      <p:sp>
        <p:nvSpPr>
          <p:cNvPr id="35" name="Shape 33"/>
          <p:cNvSpPr/>
          <p:nvPr/>
        </p:nvSpPr>
        <p:spPr>
          <a:xfrm>
            <a:off x="11524655" y="2244725"/>
            <a:ext cx="1692870" cy="514747"/>
          </a:xfrm>
          <a:prstGeom prst="rect">
            <a:avLst/>
          </a:prstGeom>
          <a:solidFill>
            <a:srgbClr val="13294A"/>
          </a:solidFill>
          <a:ln/>
        </p:spPr>
        <p:txBody>
          <a:bodyPr/>
          <a:lstStyle/>
          <a:p>
            <a:endParaRPr lang="en-US"/>
          </a:p>
        </p:txBody>
      </p:sp>
      <p:sp>
        <p:nvSpPr>
          <p:cNvPr id="36" name="Text 34"/>
          <p:cNvSpPr/>
          <p:nvPr/>
        </p:nvSpPr>
        <p:spPr>
          <a:xfrm>
            <a:off x="11677055" y="2330450"/>
            <a:ext cx="1464270" cy="381397"/>
          </a:xfrm>
          <a:prstGeom prst="rect">
            <a:avLst/>
          </a:prstGeom>
          <a:noFill/>
          <a:ln/>
        </p:spPr>
        <p:txBody>
          <a:bodyPr wrap="square" lIns="25400" tIns="25400" rIns="25400" bIns="25400" rtlCol="0" anchor="ctr">
            <a:normAutofit/>
          </a:bodyPr>
          <a:lstStyle/>
          <a:p>
            <a:pPr marL="0" indent="0" algn="l">
              <a:buNone/>
            </a:pPr>
            <a:r>
              <a:rPr lang="en-US" sz="1350" b="1" dirty="0">
                <a:solidFill>
                  <a:srgbClr val="CFE0F2"/>
                </a:solidFill>
                <a:latin typeface="Arial" pitchFamily="34" charset="0"/>
                <a:ea typeface="Arial" pitchFamily="34" charset="-122"/>
                <a:cs typeface="Arial" pitchFamily="34" charset="-120"/>
              </a:rPr>
              <a:t>Window</a:t>
            </a:r>
            <a:endParaRPr lang="en-US" sz="1350" dirty="0"/>
          </a:p>
        </p:txBody>
      </p:sp>
      <p:sp>
        <p:nvSpPr>
          <p:cNvPr id="37" name="Shape 35"/>
          <p:cNvSpPr/>
          <p:nvPr/>
        </p:nvSpPr>
        <p:spPr>
          <a:xfrm>
            <a:off x="13227051" y="2244725"/>
            <a:ext cx="4514652" cy="514747"/>
          </a:xfrm>
          <a:prstGeom prst="rect">
            <a:avLst/>
          </a:prstGeom>
          <a:solidFill>
            <a:srgbClr val="13294A"/>
          </a:solidFill>
          <a:ln/>
        </p:spPr>
        <p:txBody>
          <a:bodyPr/>
          <a:lstStyle/>
          <a:p>
            <a:endParaRPr lang="en-US"/>
          </a:p>
        </p:txBody>
      </p:sp>
      <p:sp>
        <p:nvSpPr>
          <p:cNvPr id="38" name="Text 36"/>
          <p:cNvSpPr/>
          <p:nvPr/>
        </p:nvSpPr>
        <p:spPr>
          <a:xfrm>
            <a:off x="13379451" y="2330450"/>
            <a:ext cx="4345291" cy="381397"/>
          </a:xfrm>
          <a:prstGeom prst="rect">
            <a:avLst/>
          </a:prstGeom>
          <a:noFill/>
          <a:ln/>
        </p:spPr>
        <p:txBody>
          <a:bodyPr wrap="square" lIns="25400" tIns="25400" rIns="25400" bIns="25400" rtlCol="0" anchor="ctr">
            <a:normAutofit/>
          </a:bodyPr>
          <a:lstStyle/>
          <a:p>
            <a:pPr marL="0" indent="0" algn="l">
              <a:buNone/>
            </a:pPr>
            <a:r>
              <a:rPr lang="en-US" sz="1350" b="1" dirty="0">
                <a:solidFill>
                  <a:srgbClr val="CFE0F2"/>
                </a:solidFill>
                <a:latin typeface="Arial" pitchFamily="34" charset="0"/>
                <a:ea typeface="Arial" pitchFamily="34" charset="-122"/>
                <a:cs typeface="Arial" pitchFamily="34" charset="-120"/>
              </a:rPr>
              <a:t>Description</a:t>
            </a:r>
            <a:endParaRPr lang="en-US" sz="1350" dirty="0"/>
          </a:p>
        </p:txBody>
      </p:sp>
      <p:sp>
        <p:nvSpPr>
          <p:cNvPr id="39" name="Shape 37"/>
          <p:cNvSpPr/>
          <p:nvPr/>
        </p:nvSpPr>
        <p:spPr>
          <a:xfrm>
            <a:off x="7752954" y="2768997"/>
            <a:ext cx="3762177" cy="514747"/>
          </a:xfrm>
          <a:prstGeom prst="rect">
            <a:avLst/>
          </a:prstGeom>
          <a:solidFill>
            <a:srgbClr val="0B1A30"/>
          </a:solidFill>
          <a:ln/>
        </p:spPr>
        <p:txBody>
          <a:bodyPr/>
          <a:lstStyle/>
          <a:p>
            <a:endParaRPr lang="en-US"/>
          </a:p>
        </p:txBody>
      </p:sp>
      <p:sp>
        <p:nvSpPr>
          <p:cNvPr id="40" name="Text 38"/>
          <p:cNvSpPr/>
          <p:nvPr/>
        </p:nvSpPr>
        <p:spPr>
          <a:xfrm>
            <a:off x="7905354" y="2768997"/>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aim_delta_mean_1s / 5s</a:t>
            </a:r>
            <a:endParaRPr lang="en-US" sz="1350" dirty="0"/>
          </a:p>
        </p:txBody>
      </p:sp>
      <p:sp>
        <p:nvSpPr>
          <p:cNvPr id="41" name="Shape 39"/>
          <p:cNvSpPr/>
          <p:nvPr/>
        </p:nvSpPr>
        <p:spPr>
          <a:xfrm>
            <a:off x="11524655" y="2768997"/>
            <a:ext cx="1692870" cy="514747"/>
          </a:xfrm>
          <a:prstGeom prst="rect">
            <a:avLst/>
          </a:prstGeom>
          <a:solidFill>
            <a:srgbClr val="0B1A30"/>
          </a:solidFill>
          <a:ln/>
        </p:spPr>
        <p:txBody>
          <a:bodyPr/>
          <a:lstStyle/>
          <a:p>
            <a:endParaRPr lang="en-US"/>
          </a:p>
        </p:txBody>
      </p:sp>
      <p:sp>
        <p:nvSpPr>
          <p:cNvPr id="42" name="Text 40"/>
          <p:cNvSpPr/>
          <p:nvPr/>
        </p:nvSpPr>
        <p:spPr>
          <a:xfrm>
            <a:off x="11677055" y="2768997"/>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1s, 5s</a:t>
            </a:r>
            <a:endParaRPr lang="en-US" sz="1350" dirty="0"/>
          </a:p>
        </p:txBody>
      </p:sp>
      <p:sp>
        <p:nvSpPr>
          <p:cNvPr id="43" name="Shape 41"/>
          <p:cNvSpPr/>
          <p:nvPr/>
        </p:nvSpPr>
        <p:spPr>
          <a:xfrm>
            <a:off x="13227051" y="2768997"/>
            <a:ext cx="4514652" cy="514747"/>
          </a:xfrm>
          <a:prstGeom prst="rect">
            <a:avLst/>
          </a:prstGeom>
          <a:solidFill>
            <a:srgbClr val="0B1A30"/>
          </a:solidFill>
          <a:ln/>
        </p:spPr>
        <p:txBody>
          <a:bodyPr/>
          <a:lstStyle/>
          <a:p>
            <a:endParaRPr lang="en-US"/>
          </a:p>
        </p:txBody>
      </p:sp>
      <p:sp>
        <p:nvSpPr>
          <p:cNvPr id="44" name="Text 42"/>
          <p:cNvSpPr/>
          <p:nvPr/>
        </p:nvSpPr>
        <p:spPr>
          <a:xfrm>
            <a:off x="13379451" y="2768997"/>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Average aim angle change/tick (rad)</a:t>
            </a:r>
            <a:endParaRPr lang="en-US" sz="1350" dirty="0"/>
          </a:p>
        </p:txBody>
      </p:sp>
      <p:sp>
        <p:nvSpPr>
          <p:cNvPr id="45" name="Shape 43"/>
          <p:cNvSpPr/>
          <p:nvPr/>
        </p:nvSpPr>
        <p:spPr>
          <a:xfrm>
            <a:off x="7752954" y="3293269"/>
            <a:ext cx="3762177" cy="514747"/>
          </a:xfrm>
          <a:prstGeom prst="rect">
            <a:avLst/>
          </a:prstGeom>
          <a:solidFill>
            <a:srgbClr val="0E2139"/>
          </a:solidFill>
          <a:ln/>
        </p:spPr>
        <p:txBody>
          <a:bodyPr/>
          <a:lstStyle/>
          <a:p>
            <a:endParaRPr lang="en-US"/>
          </a:p>
        </p:txBody>
      </p:sp>
      <p:sp>
        <p:nvSpPr>
          <p:cNvPr id="46" name="Text 44"/>
          <p:cNvSpPr/>
          <p:nvPr/>
        </p:nvSpPr>
        <p:spPr>
          <a:xfrm>
            <a:off x="7905354" y="3293269"/>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aim_delta_max_1s</a:t>
            </a:r>
            <a:endParaRPr lang="en-US" sz="1350" dirty="0"/>
          </a:p>
        </p:txBody>
      </p:sp>
      <p:sp>
        <p:nvSpPr>
          <p:cNvPr id="47" name="Shape 45"/>
          <p:cNvSpPr/>
          <p:nvPr/>
        </p:nvSpPr>
        <p:spPr>
          <a:xfrm>
            <a:off x="11524655" y="3293269"/>
            <a:ext cx="1692870" cy="514747"/>
          </a:xfrm>
          <a:prstGeom prst="rect">
            <a:avLst/>
          </a:prstGeom>
          <a:solidFill>
            <a:srgbClr val="0E2139"/>
          </a:solidFill>
          <a:ln/>
        </p:spPr>
        <p:txBody>
          <a:bodyPr/>
          <a:lstStyle/>
          <a:p>
            <a:endParaRPr lang="en-US"/>
          </a:p>
        </p:txBody>
      </p:sp>
      <p:sp>
        <p:nvSpPr>
          <p:cNvPr id="48" name="Text 46"/>
          <p:cNvSpPr/>
          <p:nvPr/>
        </p:nvSpPr>
        <p:spPr>
          <a:xfrm>
            <a:off x="11677055" y="3293269"/>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1s</a:t>
            </a:r>
            <a:endParaRPr lang="en-US" sz="1350" dirty="0"/>
          </a:p>
        </p:txBody>
      </p:sp>
      <p:sp>
        <p:nvSpPr>
          <p:cNvPr id="49" name="Shape 47"/>
          <p:cNvSpPr/>
          <p:nvPr/>
        </p:nvSpPr>
        <p:spPr>
          <a:xfrm>
            <a:off x="13227051" y="3293269"/>
            <a:ext cx="4514652" cy="514747"/>
          </a:xfrm>
          <a:prstGeom prst="rect">
            <a:avLst/>
          </a:prstGeom>
          <a:solidFill>
            <a:srgbClr val="0E2139"/>
          </a:solidFill>
          <a:ln/>
        </p:spPr>
        <p:txBody>
          <a:bodyPr/>
          <a:lstStyle/>
          <a:p>
            <a:endParaRPr lang="en-US"/>
          </a:p>
        </p:txBody>
      </p:sp>
      <p:sp>
        <p:nvSpPr>
          <p:cNvPr id="50" name="Text 48"/>
          <p:cNvSpPr/>
          <p:nvPr/>
        </p:nvSpPr>
        <p:spPr>
          <a:xfrm>
            <a:off x="13379451" y="3293269"/>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Peak aim-snap magnitude last second</a:t>
            </a:r>
            <a:endParaRPr lang="en-US" sz="1350" dirty="0"/>
          </a:p>
        </p:txBody>
      </p:sp>
      <p:sp>
        <p:nvSpPr>
          <p:cNvPr id="51" name="Shape 49"/>
          <p:cNvSpPr/>
          <p:nvPr/>
        </p:nvSpPr>
        <p:spPr>
          <a:xfrm>
            <a:off x="7752954" y="3817541"/>
            <a:ext cx="3762177" cy="514945"/>
          </a:xfrm>
          <a:prstGeom prst="rect">
            <a:avLst/>
          </a:prstGeom>
          <a:solidFill>
            <a:srgbClr val="0B1A30"/>
          </a:solidFill>
          <a:ln/>
        </p:spPr>
        <p:txBody>
          <a:bodyPr/>
          <a:lstStyle/>
          <a:p>
            <a:endParaRPr lang="en-US"/>
          </a:p>
        </p:txBody>
      </p:sp>
      <p:sp>
        <p:nvSpPr>
          <p:cNvPr id="52" name="Text 50"/>
          <p:cNvSpPr/>
          <p:nvPr/>
        </p:nvSpPr>
        <p:spPr>
          <a:xfrm>
            <a:off x="7905354" y="3817541"/>
            <a:ext cx="3570242" cy="553045"/>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aim_snap_count_5s</a:t>
            </a:r>
            <a:endParaRPr lang="en-US" sz="1350" dirty="0"/>
          </a:p>
        </p:txBody>
      </p:sp>
      <p:sp>
        <p:nvSpPr>
          <p:cNvPr id="53" name="Shape 51"/>
          <p:cNvSpPr/>
          <p:nvPr/>
        </p:nvSpPr>
        <p:spPr>
          <a:xfrm>
            <a:off x="11524655" y="3817541"/>
            <a:ext cx="1692870" cy="514945"/>
          </a:xfrm>
          <a:prstGeom prst="rect">
            <a:avLst/>
          </a:prstGeom>
          <a:solidFill>
            <a:srgbClr val="0B1A30"/>
          </a:solidFill>
          <a:ln/>
        </p:spPr>
        <p:txBody>
          <a:bodyPr/>
          <a:lstStyle/>
          <a:p>
            <a:endParaRPr lang="en-US"/>
          </a:p>
        </p:txBody>
      </p:sp>
      <p:sp>
        <p:nvSpPr>
          <p:cNvPr id="54" name="Text 52"/>
          <p:cNvSpPr/>
          <p:nvPr/>
        </p:nvSpPr>
        <p:spPr>
          <a:xfrm>
            <a:off x="11677055" y="3817541"/>
            <a:ext cx="1464270" cy="553045"/>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5s</a:t>
            </a:r>
            <a:endParaRPr lang="en-US" sz="1350" dirty="0"/>
          </a:p>
        </p:txBody>
      </p:sp>
      <p:sp>
        <p:nvSpPr>
          <p:cNvPr id="55" name="Shape 53"/>
          <p:cNvSpPr/>
          <p:nvPr/>
        </p:nvSpPr>
        <p:spPr>
          <a:xfrm>
            <a:off x="13227051" y="3817541"/>
            <a:ext cx="4514652" cy="514945"/>
          </a:xfrm>
          <a:prstGeom prst="rect">
            <a:avLst/>
          </a:prstGeom>
          <a:solidFill>
            <a:srgbClr val="0B1A30"/>
          </a:solidFill>
          <a:ln/>
        </p:spPr>
        <p:txBody>
          <a:bodyPr/>
          <a:lstStyle/>
          <a:p>
            <a:endParaRPr lang="en-US"/>
          </a:p>
        </p:txBody>
      </p:sp>
      <p:sp>
        <p:nvSpPr>
          <p:cNvPr id="56" name="Text 54"/>
          <p:cNvSpPr/>
          <p:nvPr/>
        </p:nvSpPr>
        <p:spPr>
          <a:xfrm>
            <a:off x="13379451" y="3817541"/>
            <a:ext cx="4345291" cy="553045"/>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Large aim jumps (&gt; 0.5 rad)</a:t>
            </a:r>
            <a:endParaRPr lang="en-US" sz="1350" dirty="0"/>
          </a:p>
        </p:txBody>
      </p:sp>
      <p:sp>
        <p:nvSpPr>
          <p:cNvPr id="57" name="Shape 55"/>
          <p:cNvSpPr/>
          <p:nvPr/>
        </p:nvSpPr>
        <p:spPr>
          <a:xfrm>
            <a:off x="7752954" y="4342011"/>
            <a:ext cx="3762177" cy="514747"/>
          </a:xfrm>
          <a:prstGeom prst="rect">
            <a:avLst/>
          </a:prstGeom>
          <a:solidFill>
            <a:srgbClr val="0E2139"/>
          </a:solidFill>
          <a:ln/>
        </p:spPr>
        <p:txBody>
          <a:bodyPr/>
          <a:lstStyle/>
          <a:p>
            <a:endParaRPr lang="en-US"/>
          </a:p>
        </p:txBody>
      </p:sp>
      <p:sp>
        <p:nvSpPr>
          <p:cNvPr id="58" name="Text 56"/>
          <p:cNvSpPr/>
          <p:nvPr/>
        </p:nvSpPr>
        <p:spPr>
          <a:xfrm>
            <a:off x="7905354" y="4342011"/>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aim_to_enemy_offset_mean_5s</a:t>
            </a:r>
            <a:endParaRPr lang="en-US" sz="1350" dirty="0"/>
          </a:p>
        </p:txBody>
      </p:sp>
      <p:sp>
        <p:nvSpPr>
          <p:cNvPr id="59" name="Shape 57"/>
          <p:cNvSpPr/>
          <p:nvPr/>
        </p:nvSpPr>
        <p:spPr>
          <a:xfrm>
            <a:off x="11524655" y="4342011"/>
            <a:ext cx="1692870" cy="514747"/>
          </a:xfrm>
          <a:prstGeom prst="rect">
            <a:avLst/>
          </a:prstGeom>
          <a:solidFill>
            <a:srgbClr val="0E2139"/>
          </a:solidFill>
          <a:ln/>
        </p:spPr>
        <p:txBody>
          <a:bodyPr/>
          <a:lstStyle/>
          <a:p>
            <a:endParaRPr lang="en-US"/>
          </a:p>
        </p:txBody>
      </p:sp>
      <p:sp>
        <p:nvSpPr>
          <p:cNvPr id="60" name="Text 58"/>
          <p:cNvSpPr/>
          <p:nvPr/>
        </p:nvSpPr>
        <p:spPr>
          <a:xfrm>
            <a:off x="11677055" y="4342011"/>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5s</a:t>
            </a:r>
            <a:endParaRPr lang="en-US" sz="1350" dirty="0"/>
          </a:p>
        </p:txBody>
      </p:sp>
      <p:sp>
        <p:nvSpPr>
          <p:cNvPr id="61" name="Shape 59"/>
          <p:cNvSpPr/>
          <p:nvPr/>
        </p:nvSpPr>
        <p:spPr>
          <a:xfrm>
            <a:off x="13227051" y="4342011"/>
            <a:ext cx="4514652" cy="514747"/>
          </a:xfrm>
          <a:prstGeom prst="rect">
            <a:avLst/>
          </a:prstGeom>
          <a:solidFill>
            <a:srgbClr val="0E2139"/>
          </a:solidFill>
          <a:ln/>
        </p:spPr>
        <p:txBody>
          <a:bodyPr/>
          <a:lstStyle/>
          <a:p>
            <a:endParaRPr lang="en-US"/>
          </a:p>
        </p:txBody>
      </p:sp>
      <p:sp>
        <p:nvSpPr>
          <p:cNvPr id="62" name="Text 60"/>
          <p:cNvSpPr/>
          <p:nvPr/>
        </p:nvSpPr>
        <p:spPr>
          <a:xfrm>
            <a:off x="13379451" y="4342011"/>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Angle between crosshair &amp; enemy</a:t>
            </a:r>
            <a:endParaRPr lang="en-US" sz="1350" dirty="0"/>
          </a:p>
        </p:txBody>
      </p:sp>
      <p:sp>
        <p:nvSpPr>
          <p:cNvPr id="63" name="Shape 61"/>
          <p:cNvSpPr/>
          <p:nvPr/>
        </p:nvSpPr>
        <p:spPr>
          <a:xfrm>
            <a:off x="7752954" y="4866283"/>
            <a:ext cx="3762177" cy="514747"/>
          </a:xfrm>
          <a:prstGeom prst="rect">
            <a:avLst/>
          </a:prstGeom>
          <a:solidFill>
            <a:srgbClr val="0B1A30"/>
          </a:solidFill>
          <a:ln/>
        </p:spPr>
        <p:txBody>
          <a:bodyPr/>
          <a:lstStyle/>
          <a:p>
            <a:endParaRPr lang="en-US"/>
          </a:p>
        </p:txBody>
      </p:sp>
      <p:sp>
        <p:nvSpPr>
          <p:cNvPr id="64" name="Text 62"/>
          <p:cNvSpPr/>
          <p:nvPr/>
        </p:nvSpPr>
        <p:spPr>
          <a:xfrm>
            <a:off x="7905354" y="4866283"/>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hit_rate_5s / 30s</a:t>
            </a:r>
            <a:endParaRPr lang="en-US" sz="1350" dirty="0"/>
          </a:p>
        </p:txBody>
      </p:sp>
      <p:sp>
        <p:nvSpPr>
          <p:cNvPr id="65" name="Shape 63"/>
          <p:cNvSpPr/>
          <p:nvPr/>
        </p:nvSpPr>
        <p:spPr>
          <a:xfrm>
            <a:off x="11524655" y="4866283"/>
            <a:ext cx="1692870" cy="514747"/>
          </a:xfrm>
          <a:prstGeom prst="rect">
            <a:avLst/>
          </a:prstGeom>
          <a:solidFill>
            <a:srgbClr val="0B1A30"/>
          </a:solidFill>
          <a:ln/>
        </p:spPr>
        <p:txBody>
          <a:bodyPr/>
          <a:lstStyle/>
          <a:p>
            <a:endParaRPr lang="en-US"/>
          </a:p>
        </p:txBody>
      </p:sp>
      <p:sp>
        <p:nvSpPr>
          <p:cNvPr id="66" name="Text 64"/>
          <p:cNvSpPr/>
          <p:nvPr/>
        </p:nvSpPr>
        <p:spPr>
          <a:xfrm>
            <a:off x="11677055" y="4866283"/>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5s, 30s</a:t>
            </a:r>
            <a:endParaRPr lang="en-US" sz="1350" dirty="0"/>
          </a:p>
        </p:txBody>
      </p:sp>
      <p:sp>
        <p:nvSpPr>
          <p:cNvPr id="67" name="Shape 65"/>
          <p:cNvSpPr/>
          <p:nvPr/>
        </p:nvSpPr>
        <p:spPr>
          <a:xfrm>
            <a:off x="13227051" y="4866283"/>
            <a:ext cx="4514652" cy="514747"/>
          </a:xfrm>
          <a:prstGeom prst="rect">
            <a:avLst/>
          </a:prstGeom>
          <a:solidFill>
            <a:srgbClr val="0B1A30"/>
          </a:solidFill>
          <a:ln/>
        </p:spPr>
        <p:txBody>
          <a:bodyPr/>
          <a:lstStyle/>
          <a:p>
            <a:endParaRPr lang="en-US"/>
          </a:p>
        </p:txBody>
      </p:sp>
      <p:sp>
        <p:nvSpPr>
          <p:cNvPr id="68" name="Text 66"/>
          <p:cNvSpPr/>
          <p:nvPr/>
        </p:nvSpPr>
        <p:spPr>
          <a:xfrm>
            <a:off x="13379451" y="4866283"/>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Shots hit / shots fired</a:t>
            </a:r>
            <a:endParaRPr lang="en-US" sz="1350" dirty="0"/>
          </a:p>
        </p:txBody>
      </p:sp>
      <p:sp>
        <p:nvSpPr>
          <p:cNvPr id="69" name="Shape 67"/>
          <p:cNvSpPr/>
          <p:nvPr/>
        </p:nvSpPr>
        <p:spPr>
          <a:xfrm>
            <a:off x="7752954" y="5390555"/>
            <a:ext cx="3762177" cy="514747"/>
          </a:xfrm>
          <a:prstGeom prst="rect">
            <a:avLst/>
          </a:prstGeom>
          <a:solidFill>
            <a:srgbClr val="0E2139"/>
          </a:solidFill>
          <a:ln/>
        </p:spPr>
        <p:txBody>
          <a:bodyPr/>
          <a:lstStyle/>
          <a:p>
            <a:endParaRPr lang="en-US"/>
          </a:p>
        </p:txBody>
      </p:sp>
      <p:sp>
        <p:nvSpPr>
          <p:cNvPr id="70" name="Text 68"/>
          <p:cNvSpPr/>
          <p:nvPr/>
        </p:nvSpPr>
        <p:spPr>
          <a:xfrm>
            <a:off x="7905354" y="5390555"/>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shots_fired_5s</a:t>
            </a:r>
            <a:endParaRPr lang="en-US" sz="1350" dirty="0"/>
          </a:p>
        </p:txBody>
      </p:sp>
      <p:sp>
        <p:nvSpPr>
          <p:cNvPr id="71" name="Shape 69"/>
          <p:cNvSpPr/>
          <p:nvPr/>
        </p:nvSpPr>
        <p:spPr>
          <a:xfrm>
            <a:off x="11524655" y="5390555"/>
            <a:ext cx="1692870" cy="514747"/>
          </a:xfrm>
          <a:prstGeom prst="rect">
            <a:avLst/>
          </a:prstGeom>
          <a:solidFill>
            <a:srgbClr val="0E2139"/>
          </a:solidFill>
          <a:ln/>
        </p:spPr>
        <p:txBody>
          <a:bodyPr/>
          <a:lstStyle/>
          <a:p>
            <a:endParaRPr lang="en-US"/>
          </a:p>
        </p:txBody>
      </p:sp>
      <p:sp>
        <p:nvSpPr>
          <p:cNvPr id="72" name="Text 70"/>
          <p:cNvSpPr/>
          <p:nvPr/>
        </p:nvSpPr>
        <p:spPr>
          <a:xfrm>
            <a:off x="11677055" y="5390555"/>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5s</a:t>
            </a:r>
            <a:endParaRPr lang="en-US" sz="1350" dirty="0"/>
          </a:p>
        </p:txBody>
      </p:sp>
      <p:sp>
        <p:nvSpPr>
          <p:cNvPr id="73" name="Shape 71"/>
          <p:cNvSpPr/>
          <p:nvPr/>
        </p:nvSpPr>
        <p:spPr>
          <a:xfrm>
            <a:off x="13227051" y="5390555"/>
            <a:ext cx="4514652" cy="514747"/>
          </a:xfrm>
          <a:prstGeom prst="rect">
            <a:avLst/>
          </a:prstGeom>
          <a:solidFill>
            <a:srgbClr val="0E2139"/>
          </a:solidFill>
          <a:ln/>
        </p:spPr>
        <p:txBody>
          <a:bodyPr/>
          <a:lstStyle/>
          <a:p>
            <a:endParaRPr lang="en-US"/>
          </a:p>
        </p:txBody>
      </p:sp>
      <p:sp>
        <p:nvSpPr>
          <p:cNvPr id="74" name="Text 72"/>
          <p:cNvSpPr/>
          <p:nvPr/>
        </p:nvSpPr>
        <p:spPr>
          <a:xfrm>
            <a:off x="13379451" y="5390555"/>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Shooting frequency (shots / 5s)</a:t>
            </a:r>
            <a:endParaRPr lang="en-US" sz="1350" dirty="0"/>
          </a:p>
        </p:txBody>
      </p:sp>
      <p:sp>
        <p:nvSpPr>
          <p:cNvPr id="75" name="Shape 73"/>
          <p:cNvSpPr/>
          <p:nvPr/>
        </p:nvSpPr>
        <p:spPr>
          <a:xfrm>
            <a:off x="7752954" y="5914827"/>
            <a:ext cx="3762177" cy="514945"/>
          </a:xfrm>
          <a:prstGeom prst="rect">
            <a:avLst/>
          </a:prstGeom>
          <a:solidFill>
            <a:srgbClr val="0B1A30"/>
          </a:solidFill>
          <a:ln/>
        </p:spPr>
        <p:txBody>
          <a:bodyPr/>
          <a:lstStyle/>
          <a:p>
            <a:endParaRPr lang="en-US"/>
          </a:p>
        </p:txBody>
      </p:sp>
      <p:sp>
        <p:nvSpPr>
          <p:cNvPr id="76" name="Text 74"/>
          <p:cNvSpPr/>
          <p:nvPr/>
        </p:nvSpPr>
        <p:spPr>
          <a:xfrm>
            <a:off x="7905354" y="5914827"/>
            <a:ext cx="3570242" cy="553045"/>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kills_per_30s</a:t>
            </a:r>
            <a:endParaRPr lang="en-US" sz="1350" dirty="0"/>
          </a:p>
        </p:txBody>
      </p:sp>
      <p:sp>
        <p:nvSpPr>
          <p:cNvPr id="77" name="Shape 75"/>
          <p:cNvSpPr/>
          <p:nvPr/>
        </p:nvSpPr>
        <p:spPr>
          <a:xfrm>
            <a:off x="11524655" y="5914827"/>
            <a:ext cx="1692870" cy="514945"/>
          </a:xfrm>
          <a:prstGeom prst="rect">
            <a:avLst/>
          </a:prstGeom>
          <a:solidFill>
            <a:srgbClr val="0B1A30"/>
          </a:solidFill>
          <a:ln/>
        </p:spPr>
        <p:txBody>
          <a:bodyPr/>
          <a:lstStyle/>
          <a:p>
            <a:endParaRPr lang="en-US"/>
          </a:p>
        </p:txBody>
      </p:sp>
      <p:sp>
        <p:nvSpPr>
          <p:cNvPr id="78" name="Text 76"/>
          <p:cNvSpPr/>
          <p:nvPr/>
        </p:nvSpPr>
        <p:spPr>
          <a:xfrm>
            <a:off x="11677055" y="5914827"/>
            <a:ext cx="1464270" cy="553045"/>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30s</a:t>
            </a:r>
            <a:endParaRPr lang="en-US" sz="1350" dirty="0"/>
          </a:p>
        </p:txBody>
      </p:sp>
      <p:sp>
        <p:nvSpPr>
          <p:cNvPr id="79" name="Shape 77"/>
          <p:cNvSpPr/>
          <p:nvPr/>
        </p:nvSpPr>
        <p:spPr>
          <a:xfrm>
            <a:off x="13227051" y="5914827"/>
            <a:ext cx="4514652" cy="514945"/>
          </a:xfrm>
          <a:prstGeom prst="rect">
            <a:avLst/>
          </a:prstGeom>
          <a:solidFill>
            <a:srgbClr val="0B1A30"/>
          </a:solidFill>
          <a:ln/>
        </p:spPr>
        <p:txBody>
          <a:bodyPr/>
          <a:lstStyle/>
          <a:p>
            <a:endParaRPr lang="en-US"/>
          </a:p>
        </p:txBody>
      </p:sp>
      <p:sp>
        <p:nvSpPr>
          <p:cNvPr id="80" name="Text 78"/>
          <p:cNvSpPr/>
          <p:nvPr/>
        </p:nvSpPr>
        <p:spPr>
          <a:xfrm>
            <a:off x="13379451" y="5914827"/>
            <a:ext cx="4345291" cy="553045"/>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Kill rate over 30s window</a:t>
            </a:r>
            <a:endParaRPr lang="en-US" sz="1350" dirty="0"/>
          </a:p>
        </p:txBody>
      </p:sp>
      <p:sp>
        <p:nvSpPr>
          <p:cNvPr id="81" name="Shape 79"/>
          <p:cNvSpPr/>
          <p:nvPr/>
        </p:nvSpPr>
        <p:spPr>
          <a:xfrm>
            <a:off x="7752954" y="6439297"/>
            <a:ext cx="3762177" cy="514747"/>
          </a:xfrm>
          <a:prstGeom prst="rect">
            <a:avLst/>
          </a:prstGeom>
          <a:solidFill>
            <a:srgbClr val="0E2139"/>
          </a:solidFill>
          <a:ln/>
        </p:spPr>
        <p:txBody>
          <a:bodyPr/>
          <a:lstStyle/>
          <a:p>
            <a:endParaRPr lang="en-US"/>
          </a:p>
        </p:txBody>
      </p:sp>
      <p:sp>
        <p:nvSpPr>
          <p:cNvPr id="82" name="Text 80"/>
          <p:cNvSpPr/>
          <p:nvPr/>
        </p:nvSpPr>
        <p:spPr>
          <a:xfrm>
            <a:off x="7905354" y="6439297"/>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speed_mean_1s / 5s</a:t>
            </a:r>
            <a:endParaRPr lang="en-US" sz="1350" dirty="0"/>
          </a:p>
        </p:txBody>
      </p:sp>
      <p:sp>
        <p:nvSpPr>
          <p:cNvPr id="83" name="Shape 81"/>
          <p:cNvSpPr/>
          <p:nvPr/>
        </p:nvSpPr>
        <p:spPr>
          <a:xfrm>
            <a:off x="11524655" y="6439297"/>
            <a:ext cx="1692870" cy="514747"/>
          </a:xfrm>
          <a:prstGeom prst="rect">
            <a:avLst/>
          </a:prstGeom>
          <a:solidFill>
            <a:srgbClr val="0E2139"/>
          </a:solidFill>
          <a:ln/>
        </p:spPr>
        <p:txBody>
          <a:bodyPr/>
          <a:lstStyle/>
          <a:p>
            <a:endParaRPr lang="en-US"/>
          </a:p>
        </p:txBody>
      </p:sp>
      <p:sp>
        <p:nvSpPr>
          <p:cNvPr id="84" name="Text 82"/>
          <p:cNvSpPr/>
          <p:nvPr/>
        </p:nvSpPr>
        <p:spPr>
          <a:xfrm>
            <a:off x="11677055" y="6439297"/>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1s, 5s</a:t>
            </a:r>
            <a:endParaRPr lang="en-US" sz="1350" dirty="0"/>
          </a:p>
        </p:txBody>
      </p:sp>
      <p:sp>
        <p:nvSpPr>
          <p:cNvPr id="85" name="Shape 83"/>
          <p:cNvSpPr/>
          <p:nvPr/>
        </p:nvSpPr>
        <p:spPr>
          <a:xfrm>
            <a:off x="13227051" y="6439297"/>
            <a:ext cx="4514652" cy="514747"/>
          </a:xfrm>
          <a:prstGeom prst="rect">
            <a:avLst/>
          </a:prstGeom>
          <a:solidFill>
            <a:srgbClr val="0E2139"/>
          </a:solidFill>
          <a:ln/>
        </p:spPr>
        <p:txBody>
          <a:bodyPr/>
          <a:lstStyle/>
          <a:p>
            <a:endParaRPr lang="en-US"/>
          </a:p>
        </p:txBody>
      </p:sp>
      <p:sp>
        <p:nvSpPr>
          <p:cNvPr id="86" name="Text 84"/>
          <p:cNvSpPr/>
          <p:nvPr/>
        </p:nvSpPr>
        <p:spPr>
          <a:xfrm>
            <a:off x="13379451" y="6439297"/>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Average movement speed (units/tick)</a:t>
            </a:r>
            <a:endParaRPr lang="en-US" sz="1350" dirty="0"/>
          </a:p>
        </p:txBody>
      </p:sp>
      <p:sp>
        <p:nvSpPr>
          <p:cNvPr id="87" name="Shape 85"/>
          <p:cNvSpPr/>
          <p:nvPr/>
        </p:nvSpPr>
        <p:spPr>
          <a:xfrm>
            <a:off x="7752954" y="6963569"/>
            <a:ext cx="3762177" cy="514747"/>
          </a:xfrm>
          <a:prstGeom prst="rect">
            <a:avLst/>
          </a:prstGeom>
          <a:solidFill>
            <a:srgbClr val="0B1A30"/>
          </a:solidFill>
          <a:ln/>
        </p:spPr>
        <p:txBody>
          <a:bodyPr/>
          <a:lstStyle/>
          <a:p>
            <a:endParaRPr lang="en-US"/>
          </a:p>
        </p:txBody>
      </p:sp>
      <p:sp>
        <p:nvSpPr>
          <p:cNvPr id="88" name="Text 86"/>
          <p:cNvSpPr/>
          <p:nvPr/>
        </p:nvSpPr>
        <p:spPr>
          <a:xfrm>
            <a:off x="7905354" y="6963569"/>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speed_max_1s</a:t>
            </a:r>
            <a:endParaRPr lang="en-US" sz="1350" dirty="0"/>
          </a:p>
        </p:txBody>
      </p:sp>
      <p:sp>
        <p:nvSpPr>
          <p:cNvPr id="89" name="Shape 87"/>
          <p:cNvSpPr/>
          <p:nvPr/>
        </p:nvSpPr>
        <p:spPr>
          <a:xfrm>
            <a:off x="11524655" y="6963569"/>
            <a:ext cx="1692870" cy="514747"/>
          </a:xfrm>
          <a:prstGeom prst="rect">
            <a:avLst/>
          </a:prstGeom>
          <a:solidFill>
            <a:srgbClr val="0B1A30"/>
          </a:solidFill>
          <a:ln/>
        </p:spPr>
        <p:txBody>
          <a:bodyPr/>
          <a:lstStyle/>
          <a:p>
            <a:endParaRPr lang="en-US"/>
          </a:p>
        </p:txBody>
      </p:sp>
      <p:sp>
        <p:nvSpPr>
          <p:cNvPr id="90" name="Text 88"/>
          <p:cNvSpPr/>
          <p:nvPr/>
        </p:nvSpPr>
        <p:spPr>
          <a:xfrm>
            <a:off x="11677055" y="6963569"/>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1s</a:t>
            </a:r>
            <a:endParaRPr lang="en-US" sz="1350" dirty="0"/>
          </a:p>
        </p:txBody>
      </p:sp>
      <p:sp>
        <p:nvSpPr>
          <p:cNvPr id="91" name="Shape 89"/>
          <p:cNvSpPr/>
          <p:nvPr/>
        </p:nvSpPr>
        <p:spPr>
          <a:xfrm>
            <a:off x="13227051" y="6963569"/>
            <a:ext cx="4514652" cy="514747"/>
          </a:xfrm>
          <a:prstGeom prst="rect">
            <a:avLst/>
          </a:prstGeom>
          <a:solidFill>
            <a:srgbClr val="0B1A30"/>
          </a:solidFill>
          <a:ln/>
        </p:spPr>
        <p:txBody>
          <a:bodyPr/>
          <a:lstStyle/>
          <a:p>
            <a:endParaRPr lang="en-US"/>
          </a:p>
        </p:txBody>
      </p:sp>
      <p:sp>
        <p:nvSpPr>
          <p:cNvPr id="92" name="Text 90"/>
          <p:cNvSpPr/>
          <p:nvPr/>
        </p:nvSpPr>
        <p:spPr>
          <a:xfrm>
            <a:off x="13379451" y="6963569"/>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Peak speed in last second</a:t>
            </a:r>
            <a:endParaRPr lang="en-US" sz="1350" dirty="0"/>
          </a:p>
        </p:txBody>
      </p:sp>
      <p:sp>
        <p:nvSpPr>
          <p:cNvPr id="93" name="Shape 91"/>
          <p:cNvSpPr/>
          <p:nvPr/>
        </p:nvSpPr>
        <p:spPr>
          <a:xfrm>
            <a:off x="7752954" y="7487841"/>
            <a:ext cx="3762177" cy="514945"/>
          </a:xfrm>
          <a:prstGeom prst="rect">
            <a:avLst/>
          </a:prstGeom>
          <a:solidFill>
            <a:srgbClr val="0E2139"/>
          </a:solidFill>
          <a:ln/>
        </p:spPr>
        <p:txBody>
          <a:bodyPr/>
          <a:lstStyle/>
          <a:p>
            <a:endParaRPr lang="en-US"/>
          </a:p>
        </p:txBody>
      </p:sp>
      <p:sp>
        <p:nvSpPr>
          <p:cNvPr id="94" name="Text 92"/>
          <p:cNvSpPr/>
          <p:nvPr/>
        </p:nvSpPr>
        <p:spPr>
          <a:xfrm>
            <a:off x="7905354" y="7487841"/>
            <a:ext cx="3570242" cy="553045"/>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aim_lock_ratio_5s</a:t>
            </a:r>
            <a:endParaRPr lang="en-US" sz="1350" dirty="0"/>
          </a:p>
        </p:txBody>
      </p:sp>
      <p:sp>
        <p:nvSpPr>
          <p:cNvPr id="95" name="Shape 93"/>
          <p:cNvSpPr/>
          <p:nvPr/>
        </p:nvSpPr>
        <p:spPr>
          <a:xfrm>
            <a:off x="11524655" y="7487841"/>
            <a:ext cx="1692870" cy="514945"/>
          </a:xfrm>
          <a:prstGeom prst="rect">
            <a:avLst/>
          </a:prstGeom>
          <a:solidFill>
            <a:srgbClr val="0E2139"/>
          </a:solidFill>
          <a:ln/>
        </p:spPr>
        <p:txBody>
          <a:bodyPr/>
          <a:lstStyle/>
          <a:p>
            <a:endParaRPr lang="en-US"/>
          </a:p>
        </p:txBody>
      </p:sp>
      <p:sp>
        <p:nvSpPr>
          <p:cNvPr id="96" name="Text 94"/>
          <p:cNvSpPr/>
          <p:nvPr/>
        </p:nvSpPr>
        <p:spPr>
          <a:xfrm>
            <a:off x="11677055" y="7487841"/>
            <a:ext cx="1464270" cy="553045"/>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5s</a:t>
            </a:r>
            <a:endParaRPr lang="en-US" sz="1350" dirty="0"/>
          </a:p>
        </p:txBody>
      </p:sp>
      <p:sp>
        <p:nvSpPr>
          <p:cNvPr id="97" name="Shape 95"/>
          <p:cNvSpPr/>
          <p:nvPr/>
        </p:nvSpPr>
        <p:spPr>
          <a:xfrm>
            <a:off x="13227051" y="7487841"/>
            <a:ext cx="4514652" cy="514945"/>
          </a:xfrm>
          <a:prstGeom prst="rect">
            <a:avLst/>
          </a:prstGeom>
          <a:solidFill>
            <a:srgbClr val="0E2139"/>
          </a:solidFill>
          <a:ln/>
        </p:spPr>
        <p:txBody>
          <a:bodyPr/>
          <a:lstStyle/>
          <a:p>
            <a:endParaRPr lang="en-US"/>
          </a:p>
        </p:txBody>
      </p:sp>
      <p:sp>
        <p:nvSpPr>
          <p:cNvPr id="98" name="Text 96"/>
          <p:cNvSpPr/>
          <p:nvPr/>
        </p:nvSpPr>
        <p:spPr>
          <a:xfrm>
            <a:off x="13379451" y="7487841"/>
            <a:ext cx="4345291" cy="553045"/>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 ticks crosshair &lt; 0.1 rad of enemy</a:t>
            </a:r>
            <a:endParaRPr lang="en-US" sz="1350" dirty="0"/>
          </a:p>
        </p:txBody>
      </p:sp>
      <p:sp>
        <p:nvSpPr>
          <p:cNvPr id="99" name="Shape 97"/>
          <p:cNvSpPr/>
          <p:nvPr/>
        </p:nvSpPr>
        <p:spPr>
          <a:xfrm>
            <a:off x="7752954" y="8012311"/>
            <a:ext cx="3762177" cy="514747"/>
          </a:xfrm>
          <a:prstGeom prst="rect">
            <a:avLst/>
          </a:prstGeom>
          <a:solidFill>
            <a:srgbClr val="0B1A30"/>
          </a:solidFill>
          <a:ln/>
        </p:spPr>
        <p:txBody>
          <a:bodyPr/>
          <a:lstStyle/>
          <a:p>
            <a:endParaRPr lang="en-US"/>
          </a:p>
        </p:txBody>
      </p:sp>
      <p:sp>
        <p:nvSpPr>
          <p:cNvPr id="100" name="Text 98"/>
          <p:cNvSpPr/>
          <p:nvPr/>
        </p:nvSpPr>
        <p:spPr>
          <a:xfrm>
            <a:off x="7905354" y="8012311"/>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prefire_ratio_5s</a:t>
            </a:r>
            <a:endParaRPr lang="en-US" sz="1350" dirty="0"/>
          </a:p>
        </p:txBody>
      </p:sp>
      <p:sp>
        <p:nvSpPr>
          <p:cNvPr id="101" name="Shape 99"/>
          <p:cNvSpPr/>
          <p:nvPr/>
        </p:nvSpPr>
        <p:spPr>
          <a:xfrm>
            <a:off x="11524655" y="8012311"/>
            <a:ext cx="1692870" cy="514747"/>
          </a:xfrm>
          <a:prstGeom prst="rect">
            <a:avLst/>
          </a:prstGeom>
          <a:solidFill>
            <a:srgbClr val="0B1A30"/>
          </a:solidFill>
          <a:ln/>
        </p:spPr>
        <p:txBody>
          <a:bodyPr/>
          <a:lstStyle/>
          <a:p>
            <a:endParaRPr lang="en-US"/>
          </a:p>
        </p:txBody>
      </p:sp>
      <p:sp>
        <p:nvSpPr>
          <p:cNvPr id="102" name="Text 100"/>
          <p:cNvSpPr/>
          <p:nvPr/>
        </p:nvSpPr>
        <p:spPr>
          <a:xfrm>
            <a:off x="11677055" y="8012311"/>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5s</a:t>
            </a:r>
            <a:endParaRPr lang="en-US" sz="1350" dirty="0"/>
          </a:p>
        </p:txBody>
      </p:sp>
      <p:sp>
        <p:nvSpPr>
          <p:cNvPr id="103" name="Shape 101"/>
          <p:cNvSpPr/>
          <p:nvPr/>
        </p:nvSpPr>
        <p:spPr>
          <a:xfrm>
            <a:off x="13227051" y="8012311"/>
            <a:ext cx="4514652" cy="514747"/>
          </a:xfrm>
          <a:prstGeom prst="rect">
            <a:avLst/>
          </a:prstGeom>
          <a:solidFill>
            <a:srgbClr val="0B1A30"/>
          </a:solidFill>
          <a:ln/>
        </p:spPr>
        <p:txBody>
          <a:bodyPr/>
          <a:lstStyle/>
          <a:p>
            <a:endParaRPr lang="en-US"/>
          </a:p>
        </p:txBody>
      </p:sp>
      <p:sp>
        <p:nvSpPr>
          <p:cNvPr id="104" name="Text 102"/>
          <p:cNvSpPr/>
          <p:nvPr/>
        </p:nvSpPr>
        <p:spPr>
          <a:xfrm>
            <a:off x="13379451" y="8012311"/>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 shots while enemy not visible</a:t>
            </a:r>
            <a:endParaRPr lang="en-US" sz="1350" dirty="0"/>
          </a:p>
        </p:txBody>
      </p:sp>
      <p:sp>
        <p:nvSpPr>
          <p:cNvPr id="105" name="Shape 103"/>
          <p:cNvSpPr/>
          <p:nvPr/>
        </p:nvSpPr>
        <p:spPr>
          <a:xfrm>
            <a:off x="7752954" y="8536583"/>
            <a:ext cx="3762177" cy="514747"/>
          </a:xfrm>
          <a:prstGeom prst="rect">
            <a:avLst/>
          </a:prstGeom>
          <a:solidFill>
            <a:srgbClr val="0E2139"/>
          </a:solidFill>
          <a:ln/>
        </p:spPr>
        <p:txBody>
          <a:bodyPr/>
          <a:lstStyle/>
          <a:p>
            <a:endParaRPr lang="en-US"/>
          </a:p>
        </p:txBody>
      </p:sp>
      <p:sp>
        <p:nvSpPr>
          <p:cNvPr id="106" name="Text 104"/>
          <p:cNvSpPr/>
          <p:nvPr/>
        </p:nvSpPr>
        <p:spPr>
          <a:xfrm>
            <a:off x="7905354" y="8536583"/>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reaction_time_mean_5s</a:t>
            </a:r>
            <a:endParaRPr lang="en-US" sz="1350" dirty="0"/>
          </a:p>
        </p:txBody>
      </p:sp>
      <p:sp>
        <p:nvSpPr>
          <p:cNvPr id="107" name="Shape 105"/>
          <p:cNvSpPr/>
          <p:nvPr/>
        </p:nvSpPr>
        <p:spPr>
          <a:xfrm>
            <a:off x="11524655" y="8536583"/>
            <a:ext cx="1692870" cy="514747"/>
          </a:xfrm>
          <a:prstGeom prst="rect">
            <a:avLst/>
          </a:prstGeom>
          <a:solidFill>
            <a:srgbClr val="0E2139"/>
          </a:solidFill>
          <a:ln/>
        </p:spPr>
        <p:txBody>
          <a:bodyPr/>
          <a:lstStyle/>
          <a:p>
            <a:endParaRPr lang="en-US"/>
          </a:p>
        </p:txBody>
      </p:sp>
      <p:sp>
        <p:nvSpPr>
          <p:cNvPr id="108" name="Text 106"/>
          <p:cNvSpPr/>
          <p:nvPr/>
        </p:nvSpPr>
        <p:spPr>
          <a:xfrm>
            <a:off x="11677055" y="8536583"/>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5s</a:t>
            </a:r>
            <a:endParaRPr lang="en-US" sz="1350" dirty="0"/>
          </a:p>
        </p:txBody>
      </p:sp>
      <p:sp>
        <p:nvSpPr>
          <p:cNvPr id="109" name="Shape 107"/>
          <p:cNvSpPr/>
          <p:nvPr/>
        </p:nvSpPr>
        <p:spPr>
          <a:xfrm>
            <a:off x="13227051" y="8536583"/>
            <a:ext cx="4514652" cy="514747"/>
          </a:xfrm>
          <a:prstGeom prst="rect">
            <a:avLst/>
          </a:prstGeom>
          <a:solidFill>
            <a:srgbClr val="0E2139"/>
          </a:solidFill>
          <a:ln/>
        </p:spPr>
        <p:txBody>
          <a:bodyPr/>
          <a:lstStyle/>
          <a:p>
            <a:endParaRPr lang="en-US"/>
          </a:p>
        </p:txBody>
      </p:sp>
      <p:sp>
        <p:nvSpPr>
          <p:cNvPr id="110" name="Text 108"/>
          <p:cNvSpPr/>
          <p:nvPr/>
        </p:nvSpPr>
        <p:spPr>
          <a:xfrm>
            <a:off x="13379451" y="8536583"/>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Ticks: enemy visible → first shot</a:t>
            </a:r>
            <a:endParaRPr lang="en-US" sz="1350" dirty="0"/>
          </a:p>
        </p:txBody>
      </p:sp>
      <p:sp>
        <p:nvSpPr>
          <p:cNvPr id="111" name="Shape 109"/>
          <p:cNvSpPr/>
          <p:nvPr/>
        </p:nvSpPr>
        <p:spPr>
          <a:xfrm>
            <a:off x="7752954" y="9060855"/>
            <a:ext cx="3762177" cy="514747"/>
          </a:xfrm>
          <a:prstGeom prst="rect">
            <a:avLst/>
          </a:prstGeom>
          <a:solidFill>
            <a:srgbClr val="0B1A30"/>
          </a:solidFill>
          <a:ln/>
        </p:spPr>
        <p:txBody>
          <a:bodyPr/>
          <a:lstStyle/>
          <a:p>
            <a:endParaRPr lang="en-US"/>
          </a:p>
        </p:txBody>
      </p:sp>
      <p:sp>
        <p:nvSpPr>
          <p:cNvPr id="112" name="Text 110"/>
          <p:cNvSpPr/>
          <p:nvPr/>
        </p:nvSpPr>
        <p:spPr>
          <a:xfrm>
            <a:off x="7905354" y="9060855"/>
            <a:ext cx="3570242"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enemy_tracking_score_5s</a:t>
            </a:r>
            <a:endParaRPr lang="en-US" sz="1350" dirty="0"/>
          </a:p>
        </p:txBody>
      </p:sp>
      <p:sp>
        <p:nvSpPr>
          <p:cNvPr id="113" name="Shape 111"/>
          <p:cNvSpPr/>
          <p:nvPr/>
        </p:nvSpPr>
        <p:spPr>
          <a:xfrm>
            <a:off x="11524655" y="9060855"/>
            <a:ext cx="1692870" cy="514747"/>
          </a:xfrm>
          <a:prstGeom prst="rect">
            <a:avLst/>
          </a:prstGeom>
          <a:solidFill>
            <a:srgbClr val="0B1A30"/>
          </a:solidFill>
          <a:ln/>
        </p:spPr>
        <p:txBody>
          <a:bodyPr/>
          <a:lstStyle/>
          <a:p>
            <a:endParaRPr lang="en-US"/>
          </a:p>
        </p:txBody>
      </p:sp>
      <p:sp>
        <p:nvSpPr>
          <p:cNvPr id="114" name="Text 112"/>
          <p:cNvSpPr/>
          <p:nvPr/>
        </p:nvSpPr>
        <p:spPr>
          <a:xfrm>
            <a:off x="11677055" y="9060855"/>
            <a:ext cx="1464270"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Arial" pitchFamily="34" charset="0"/>
                <a:ea typeface="Arial" pitchFamily="34" charset="-122"/>
                <a:cs typeface="Arial" pitchFamily="34" charset="-120"/>
              </a:rPr>
              <a:t>5s</a:t>
            </a:r>
            <a:endParaRPr lang="en-US" sz="1350" dirty="0"/>
          </a:p>
        </p:txBody>
      </p:sp>
      <p:sp>
        <p:nvSpPr>
          <p:cNvPr id="115" name="Shape 113"/>
          <p:cNvSpPr/>
          <p:nvPr/>
        </p:nvSpPr>
        <p:spPr>
          <a:xfrm>
            <a:off x="13227051" y="9060855"/>
            <a:ext cx="4514652" cy="514747"/>
          </a:xfrm>
          <a:prstGeom prst="rect">
            <a:avLst/>
          </a:prstGeom>
          <a:solidFill>
            <a:srgbClr val="0B1A30"/>
          </a:solidFill>
          <a:ln/>
        </p:spPr>
        <p:txBody>
          <a:bodyPr/>
          <a:lstStyle/>
          <a:p>
            <a:endParaRPr lang="en-US"/>
          </a:p>
        </p:txBody>
      </p:sp>
      <p:sp>
        <p:nvSpPr>
          <p:cNvPr id="116" name="Text 114"/>
          <p:cNvSpPr/>
          <p:nvPr/>
        </p:nvSpPr>
        <p:spPr>
          <a:xfrm>
            <a:off x="13379451" y="9060855"/>
            <a:ext cx="4345291" cy="552847"/>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Correlation: aim vs enemy movement</a:t>
            </a:r>
            <a:endParaRPr lang="en-US" sz="1350" dirty="0"/>
          </a:p>
        </p:txBody>
      </p:sp>
      <p:sp>
        <p:nvSpPr>
          <p:cNvPr id="117" name="Shape 115"/>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118" name="Text 116"/>
          <p:cNvSpPr/>
          <p:nvPr/>
        </p:nvSpPr>
        <p:spPr>
          <a:xfrm>
            <a:off x="5334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119" name="Text 117"/>
          <p:cNvSpPr/>
          <p:nvPr/>
        </p:nvSpPr>
        <p:spPr>
          <a:xfrm>
            <a:off x="172593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08 / 18</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533400" y="411163"/>
            <a:ext cx="104775" cy="104775"/>
          </a:xfrm>
          <a:prstGeom prst="roundRect">
            <a:avLst>
              <a:gd name="adj" fmla="val 18182"/>
            </a:avLst>
          </a:prstGeom>
          <a:solidFill>
            <a:srgbClr val="34C27E"/>
          </a:solidFill>
          <a:ln/>
          <a:effectLst>
            <a:outerShdw blurRad="133350" dist="50800" dir="16200000" algn="bl" rotWithShape="0">
              <a:srgbClr val="34C27E">
                <a:alpha val="100000"/>
              </a:srgbClr>
            </a:outerShdw>
          </a:effectLst>
        </p:spPr>
        <p:txBody>
          <a:bodyPr/>
          <a:lstStyle/>
          <a:p>
            <a:endParaRPr lang="en-US"/>
          </a:p>
        </p:txBody>
      </p:sp>
      <p:sp>
        <p:nvSpPr>
          <p:cNvPr id="4" name="Text 2"/>
          <p:cNvSpPr/>
          <p:nvPr/>
        </p:nvSpPr>
        <p:spPr>
          <a:xfrm>
            <a:off x="752475" y="323850"/>
            <a:ext cx="1313398"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5BD39A"/>
                </a:solidFill>
                <a:latin typeface="Arial" pitchFamily="34" charset="0"/>
                <a:ea typeface="Arial" pitchFamily="34" charset="-122"/>
                <a:cs typeface="Arial" pitchFamily="34" charset="-120"/>
              </a:rPr>
              <a:t>DATASET</a:t>
            </a:r>
            <a:endParaRPr lang="en-US" sz="1500" dirty="0"/>
          </a:p>
        </p:txBody>
      </p:sp>
      <p:sp>
        <p:nvSpPr>
          <p:cNvPr id="5" name="Text 3"/>
          <p:cNvSpPr/>
          <p:nvPr/>
        </p:nvSpPr>
        <p:spPr>
          <a:xfrm>
            <a:off x="533400" y="708025"/>
            <a:ext cx="9483666"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Inside the CS2CD Dataset Files</a:t>
            </a:r>
            <a:endParaRPr lang="en-US" sz="4050" dirty="0"/>
          </a:p>
        </p:txBody>
      </p:sp>
      <p:sp>
        <p:nvSpPr>
          <p:cNvPr id="6" name="Text 4"/>
          <p:cNvSpPr/>
          <p:nvPr/>
        </p:nvSpPr>
        <p:spPr>
          <a:xfrm>
            <a:off x="533400" y="1327150"/>
            <a:ext cx="9483666" cy="304800"/>
          </a:xfrm>
          <a:prstGeom prst="rect">
            <a:avLst/>
          </a:prstGeom>
          <a:noFill/>
          <a:ln/>
        </p:spPr>
        <p:txBody>
          <a:bodyPr wrap="square" lIns="25400" tIns="25400" rIns="25400" bIns="25400" rtlCol="0" anchor="t">
            <a:normAutofit/>
          </a:bodyPr>
          <a:lstStyle/>
          <a:p>
            <a:pPr marL="0" indent="0" algn="l">
              <a:buNone/>
            </a:pPr>
            <a:r>
              <a:rPr lang="en-US" sz="1725" dirty="0">
                <a:solidFill>
                  <a:srgbClr val="9DB2C9"/>
                </a:solidFill>
                <a:latin typeface="Arial" pitchFamily="34" charset="0"/>
                <a:ea typeface="Arial" pitchFamily="34" charset="-122"/>
                <a:cs typeface="Arial" pitchFamily="34" charset="-120"/>
              </a:rPr>
              <a:t>Each match = 1 Parquet file (225 columns, ~60K ticks) + 1 JSON metadata file</a:t>
            </a:r>
            <a:endParaRPr lang="en-US" sz="1725" dirty="0"/>
          </a:p>
        </p:txBody>
      </p:sp>
      <p:sp>
        <p:nvSpPr>
          <p:cNvPr id="7" name="Text 5"/>
          <p:cNvSpPr/>
          <p:nvPr/>
        </p:nvSpPr>
        <p:spPr>
          <a:xfrm>
            <a:off x="159629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09</a:t>
            </a:r>
            <a:endParaRPr lang="en-US" sz="11250" dirty="0"/>
          </a:p>
        </p:txBody>
      </p:sp>
      <p:sp>
        <p:nvSpPr>
          <p:cNvPr id="8" name="Shape 6"/>
          <p:cNvSpPr/>
          <p:nvPr/>
        </p:nvSpPr>
        <p:spPr>
          <a:xfrm>
            <a:off x="533400" y="1727200"/>
            <a:ext cx="17221200" cy="19050"/>
          </a:xfrm>
          <a:prstGeom prst="rect">
            <a:avLst/>
          </a:prstGeom>
          <a:gradFill rotWithShape="1">
            <a:gsLst>
              <a:gs pos="0">
                <a:srgbClr val="34C27E">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9" name="Text 7"/>
          <p:cNvSpPr/>
          <p:nvPr/>
        </p:nvSpPr>
        <p:spPr>
          <a:xfrm>
            <a:off x="533400" y="1955800"/>
            <a:ext cx="9345930"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FFFFFF"/>
                </a:solidFill>
                <a:latin typeface="Arial" pitchFamily="34" charset="0"/>
                <a:ea typeface="Arial" pitchFamily="34" charset="-122"/>
                <a:cs typeface="Arial" pitchFamily="34" charset="-120"/>
              </a:rPr>
              <a:t>Parquet File · Selected Columns </a:t>
            </a:r>
            <a:r>
              <a:rPr lang="en-US" sz="1425" b="1" dirty="0">
                <a:solidFill>
                  <a:srgbClr val="9DB2C9"/>
                </a:solidFill>
                <a:latin typeface="Arial" pitchFamily="34" charset="0"/>
                <a:ea typeface="Arial" pitchFamily="34" charset="-122"/>
                <a:cs typeface="Arial" pitchFamily="34" charset="-120"/>
              </a:rPr>
              <a:t>(12 of 225)</a:t>
            </a:r>
            <a:endParaRPr lang="en-US" sz="1875" dirty="0"/>
          </a:p>
        </p:txBody>
      </p:sp>
      <p:sp>
        <p:nvSpPr>
          <p:cNvPr id="10" name="Shape 8"/>
          <p:cNvSpPr/>
          <p:nvPr/>
        </p:nvSpPr>
        <p:spPr>
          <a:xfrm>
            <a:off x="533400" y="2413000"/>
            <a:ext cx="8496300" cy="7175500"/>
          </a:xfrm>
          <a:prstGeom prst="roundRect">
            <a:avLst>
              <a:gd name="adj" fmla="val 1593"/>
            </a:avLst>
          </a:prstGeom>
          <a:solidFill>
            <a:srgbClr val="FFFFFF">
              <a:alpha val="10000"/>
            </a:srgbClr>
          </a:solidFill>
          <a:ln w="12700">
            <a:solidFill>
              <a:srgbClr val="FFFFFF">
                <a:alpha val="10000"/>
              </a:srgbClr>
            </a:solidFill>
            <a:prstDash val="solid"/>
          </a:ln>
        </p:spPr>
        <p:txBody>
          <a:bodyPr/>
          <a:lstStyle/>
          <a:p>
            <a:endParaRPr lang="en-US"/>
          </a:p>
        </p:txBody>
      </p:sp>
      <p:sp>
        <p:nvSpPr>
          <p:cNvPr id="11" name="Shape 9"/>
          <p:cNvSpPr/>
          <p:nvPr/>
        </p:nvSpPr>
        <p:spPr>
          <a:xfrm>
            <a:off x="546100" y="2425700"/>
            <a:ext cx="2679700" cy="706438"/>
          </a:xfrm>
          <a:prstGeom prst="rect">
            <a:avLst/>
          </a:prstGeom>
          <a:solidFill>
            <a:srgbClr val="13294A"/>
          </a:solidFill>
          <a:ln/>
        </p:spPr>
        <p:txBody>
          <a:bodyPr/>
          <a:lstStyle/>
          <a:p>
            <a:endParaRPr lang="en-US"/>
          </a:p>
        </p:txBody>
      </p:sp>
      <p:sp>
        <p:nvSpPr>
          <p:cNvPr id="12" name="Text 10"/>
          <p:cNvSpPr/>
          <p:nvPr/>
        </p:nvSpPr>
        <p:spPr>
          <a:xfrm>
            <a:off x="698500" y="2511425"/>
            <a:ext cx="2455291" cy="573088"/>
          </a:xfrm>
          <a:prstGeom prst="rect">
            <a:avLst/>
          </a:prstGeom>
          <a:noFill/>
          <a:ln/>
        </p:spPr>
        <p:txBody>
          <a:bodyPr wrap="square" lIns="25400" tIns="25400" rIns="25400" bIns="25400" rtlCol="0" anchor="ctr">
            <a:normAutofit/>
          </a:bodyPr>
          <a:lstStyle/>
          <a:p>
            <a:pPr marL="0" indent="0" algn="l">
              <a:buNone/>
            </a:pPr>
            <a:r>
              <a:rPr lang="en-US" sz="1350" b="1" dirty="0">
                <a:solidFill>
                  <a:srgbClr val="CFE0F2"/>
                </a:solidFill>
                <a:latin typeface="Arial" pitchFamily="34" charset="0"/>
                <a:ea typeface="Arial" pitchFamily="34" charset="-122"/>
                <a:cs typeface="Arial" pitchFamily="34" charset="-120"/>
              </a:rPr>
              <a:t>Column</a:t>
            </a:r>
            <a:endParaRPr lang="en-US" sz="1350" dirty="0"/>
          </a:p>
        </p:txBody>
      </p:sp>
      <p:sp>
        <p:nvSpPr>
          <p:cNvPr id="13" name="Shape 11"/>
          <p:cNvSpPr/>
          <p:nvPr/>
        </p:nvSpPr>
        <p:spPr>
          <a:xfrm>
            <a:off x="3235325" y="2425700"/>
            <a:ext cx="1649214" cy="706438"/>
          </a:xfrm>
          <a:prstGeom prst="rect">
            <a:avLst/>
          </a:prstGeom>
          <a:solidFill>
            <a:srgbClr val="13294A"/>
          </a:solidFill>
          <a:ln/>
        </p:spPr>
        <p:txBody>
          <a:bodyPr/>
          <a:lstStyle/>
          <a:p>
            <a:endParaRPr lang="en-US"/>
          </a:p>
        </p:txBody>
      </p:sp>
      <p:sp>
        <p:nvSpPr>
          <p:cNvPr id="14" name="Text 12"/>
          <p:cNvSpPr/>
          <p:nvPr/>
        </p:nvSpPr>
        <p:spPr>
          <a:xfrm>
            <a:off x="3387725" y="2511425"/>
            <a:ext cx="1420614" cy="573088"/>
          </a:xfrm>
          <a:prstGeom prst="rect">
            <a:avLst/>
          </a:prstGeom>
          <a:noFill/>
          <a:ln/>
        </p:spPr>
        <p:txBody>
          <a:bodyPr wrap="square" lIns="25400" tIns="25400" rIns="25400" bIns="25400" rtlCol="0" anchor="ctr">
            <a:normAutofit/>
          </a:bodyPr>
          <a:lstStyle/>
          <a:p>
            <a:pPr marL="0" indent="0" algn="l">
              <a:buNone/>
            </a:pPr>
            <a:r>
              <a:rPr lang="en-US" sz="1350" b="1" dirty="0">
                <a:solidFill>
                  <a:srgbClr val="CFE0F2"/>
                </a:solidFill>
                <a:latin typeface="Arial" pitchFamily="34" charset="0"/>
                <a:ea typeface="Arial" pitchFamily="34" charset="-122"/>
                <a:cs typeface="Arial" pitchFamily="34" charset="-120"/>
              </a:rPr>
              <a:t>Type</a:t>
            </a:r>
            <a:endParaRPr lang="en-US" sz="1350" dirty="0"/>
          </a:p>
        </p:txBody>
      </p:sp>
      <p:sp>
        <p:nvSpPr>
          <p:cNvPr id="15" name="Shape 13"/>
          <p:cNvSpPr/>
          <p:nvPr/>
        </p:nvSpPr>
        <p:spPr>
          <a:xfrm>
            <a:off x="4894064" y="2425700"/>
            <a:ext cx="4122936" cy="706438"/>
          </a:xfrm>
          <a:prstGeom prst="rect">
            <a:avLst/>
          </a:prstGeom>
          <a:solidFill>
            <a:srgbClr val="13294A"/>
          </a:solidFill>
          <a:ln/>
        </p:spPr>
        <p:txBody>
          <a:bodyPr/>
          <a:lstStyle/>
          <a:p>
            <a:endParaRPr lang="en-US"/>
          </a:p>
        </p:txBody>
      </p:sp>
      <p:sp>
        <p:nvSpPr>
          <p:cNvPr id="16" name="Text 14"/>
          <p:cNvSpPr/>
          <p:nvPr/>
        </p:nvSpPr>
        <p:spPr>
          <a:xfrm>
            <a:off x="5046464" y="2511425"/>
            <a:ext cx="3941824" cy="573088"/>
          </a:xfrm>
          <a:prstGeom prst="rect">
            <a:avLst/>
          </a:prstGeom>
          <a:noFill/>
          <a:ln/>
        </p:spPr>
        <p:txBody>
          <a:bodyPr wrap="square" lIns="25400" tIns="25400" rIns="25400" bIns="25400" rtlCol="0" anchor="ctr">
            <a:normAutofit/>
          </a:bodyPr>
          <a:lstStyle/>
          <a:p>
            <a:pPr marL="0" indent="0" algn="l">
              <a:buNone/>
            </a:pPr>
            <a:r>
              <a:rPr lang="en-US" sz="1350" b="1" dirty="0">
                <a:solidFill>
                  <a:srgbClr val="CFE0F2"/>
                </a:solidFill>
                <a:latin typeface="Arial" pitchFamily="34" charset="0"/>
                <a:ea typeface="Arial" pitchFamily="34" charset="-122"/>
                <a:cs typeface="Arial" pitchFamily="34" charset="-120"/>
              </a:rPr>
              <a:t>Captures</a:t>
            </a:r>
            <a:endParaRPr lang="en-US" sz="1350" dirty="0"/>
          </a:p>
        </p:txBody>
      </p:sp>
      <p:sp>
        <p:nvSpPr>
          <p:cNvPr id="17" name="Shape 15"/>
          <p:cNvSpPr/>
          <p:nvPr/>
        </p:nvSpPr>
        <p:spPr>
          <a:xfrm>
            <a:off x="546100" y="3141663"/>
            <a:ext cx="2679700" cy="706438"/>
          </a:xfrm>
          <a:prstGeom prst="rect">
            <a:avLst/>
          </a:prstGeom>
          <a:solidFill>
            <a:srgbClr val="0B1A30"/>
          </a:solidFill>
          <a:ln/>
        </p:spPr>
        <p:txBody>
          <a:bodyPr/>
          <a:lstStyle/>
          <a:p>
            <a:endParaRPr lang="en-US"/>
          </a:p>
        </p:txBody>
      </p:sp>
      <p:sp>
        <p:nvSpPr>
          <p:cNvPr id="18" name="Text 16"/>
          <p:cNvSpPr/>
          <p:nvPr/>
        </p:nvSpPr>
        <p:spPr>
          <a:xfrm>
            <a:off x="698500" y="3141663"/>
            <a:ext cx="2455291"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tick</a:t>
            </a:r>
            <a:endParaRPr lang="en-US" sz="1350" dirty="0"/>
          </a:p>
        </p:txBody>
      </p:sp>
      <p:sp>
        <p:nvSpPr>
          <p:cNvPr id="19" name="Shape 17"/>
          <p:cNvSpPr/>
          <p:nvPr/>
        </p:nvSpPr>
        <p:spPr>
          <a:xfrm>
            <a:off x="3235325" y="3141663"/>
            <a:ext cx="1649214" cy="706438"/>
          </a:xfrm>
          <a:prstGeom prst="rect">
            <a:avLst/>
          </a:prstGeom>
          <a:solidFill>
            <a:srgbClr val="0B1A30"/>
          </a:solidFill>
          <a:ln/>
        </p:spPr>
        <p:txBody>
          <a:bodyPr/>
          <a:lstStyle/>
          <a:p>
            <a:endParaRPr lang="en-US"/>
          </a:p>
        </p:txBody>
      </p:sp>
      <p:sp>
        <p:nvSpPr>
          <p:cNvPr id="20" name="Text 18"/>
          <p:cNvSpPr/>
          <p:nvPr/>
        </p:nvSpPr>
        <p:spPr>
          <a:xfrm>
            <a:off x="3387725" y="3141663"/>
            <a:ext cx="142061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Courier New" pitchFamily="34" charset="0"/>
                <a:ea typeface="Courier New" pitchFamily="34" charset="-122"/>
                <a:cs typeface="Courier New" pitchFamily="34" charset="-120"/>
              </a:rPr>
              <a:t>int</a:t>
            </a:r>
            <a:endParaRPr lang="en-US" sz="1350" dirty="0"/>
          </a:p>
        </p:txBody>
      </p:sp>
      <p:sp>
        <p:nvSpPr>
          <p:cNvPr id="21" name="Shape 19"/>
          <p:cNvSpPr/>
          <p:nvPr/>
        </p:nvSpPr>
        <p:spPr>
          <a:xfrm>
            <a:off x="4894064" y="3141663"/>
            <a:ext cx="4122936" cy="706438"/>
          </a:xfrm>
          <a:prstGeom prst="rect">
            <a:avLst/>
          </a:prstGeom>
          <a:solidFill>
            <a:srgbClr val="0B1A30"/>
          </a:solidFill>
          <a:ln/>
        </p:spPr>
        <p:txBody>
          <a:bodyPr/>
          <a:lstStyle/>
          <a:p>
            <a:endParaRPr lang="en-US"/>
          </a:p>
        </p:txBody>
      </p:sp>
      <p:sp>
        <p:nvSpPr>
          <p:cNvPr id="22" name="Text 20"/>
          <p:cNvSpPr/>
          <p:nvPr/>
        </p:nvSpPr>
        <p:spPr>
          <a:xfrm>
            <a:off x="5046464" y="3141663"/>
            <a:ext cx="394182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Game tick (time index)</a:t>
            </a:r>
            <a:endParaRPr lang="en-US" sz="1350" dirty="0"/>
          </a:p>
        </p:txBody>
      </p:sp>
      <p:sp>
        <p:nvSpPr>
          <p:cNvPr id="23" name="Shape 21"/>
          <p:cNvSpPr/>
          <p:nvPr/>
        </p:nvSpPr>
        <p:spPr>
          <a:xfrm>
            <a:off x="546100" y="3857625"/>
            <a:ext cx="2679700" cy="706438"/>
          </a:xfrm>
          <a:prstGeom prst="rect">
            <a:avLst/>
          </a:prstGeom>
          <a:solidFill>
            <a:srgbClr val="0E2139"/>
          </a:solidFill>
          <a:ln/>
        </p:spPr>
        <p:txBody>
          <a:bodyPr/>
          <a:lstStyle/>
          <a:p>
            <a:endParaRPr lang="en-US"/>
          </a:p>
        </p:txBody>
      </p:sp>
      <p:sp>
        <p:nvSpPr>
          <p:cNvPr id="24" name="Text 22"/>
          <p:cNvSpPr/>
          <p:nvPr/>
        </p:nvSpPr>
        <p:spPr>
          <a:xfrm>
            <a:off x="698500" y="3857625"/>
            <a:ext cx="2455291"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steamid</a:t>
            </a:r>
            <a:endParaRPr lang="en-US" sz="1350" dirty="0"/>
          </a:p>
        </p:txBody>
      </p:sp>
      <p:sp>
        <p:nvSpPr>
          <p:cNvPr id="25" name="Shape 23"/>
          <p:cNvSpPr/>
          <p:nvPr/>
        </p:nvSpPr>
        <p:spPr>
          <a:xfrm>
            <a:off x="3235325" y="3857625"/>
            <a:ext cx="1649214" cy="706438"/>
          </a:xfrm>
          <a:prstGeom prst="rect">
            <a:avLst/>
          </a:prstGeom>
          <a:solidFill>
            <a:srgbClr val="0E2139"/>
          </a:solidFill>
          <a:ln/>
        </p:spPr>
        <p:txBody>
          <a:bodyPr/>
          <a:lstStyle/>
          <a:p>
            <a:endParaRPr lang="en-US"/>
          </a:p>
        </p:txBody>
      </p:sp>
      <p:sp>
        <p:nvSpPr>
          <p:cNvPr id="26" name="Text 24"/>
          <p:cNvSpPr/>
          <p:nvPr/>
        </p:nvSpPr>
        <p:spPr>
          <a:xfrm>
            <a:off x="3387725" y="3857625"/>
            <a:ext cx="142061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Courier New" pitchFamily="34" charset="0"/>
                <a:ea typeface="Courier New" pitchFamily="34" charset="-122"/>
                <a:cs typeface="Courier New" pitchFamily="34" charset="-120"/>
              </a:rPr>
              <a:t>string</a:t>
            </a:r>
            <a:endParaRPr lang="en-US" sz="1350" dirty="0"/>
          </a:p>
        </p:txBody>
      </p:sp>
      <p:sp>
        <p:nvSpPr>
          <p:cNvPr id="27" name="Shape 25"/>
          <p:cNvSpPr/>
          <p:nvPr/>
        </p:nvSpPr>
        <p:spPr>
          <a:xfrm>
            <a:off x="4894064" y="3857625"/>
            <a:ext cx="4122936" cy="706438"/>
          </a:xfrm>
          <a:prstGeom prst="rect">
            <a:avLst/>
          </a:prstGeom>
          <a:solidFill>
            <a:srgbClr val="0E2139"/>
          </a:solidFill>
          <a:ln/>
        </p:spPr>
        <p:txBody>
          <a:bodyPr/>
          <a:lstStyle/>
          <a:p>
            <a:endParaRPr lang="en-US"/>
          </a:p>
        </p:txBody>
      </p:sp>
      <p:sp>
        <p:nvSpPr>
          <p:cNvPr id="28" name="Text 26"/>
          <p:cNvSpPr/>
          <p:nvPr/>
        </p:nvSpPr>
        <p:spPr>
          <a:xfrm>
            <a:off x="5046464" y="3857625"/>
            <a:ext cx="394182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Unique player identifier</a:t>
            </a:r>
            <a:endParaRPr lang="en-US" sz="1350" dirty="0"/>
          </a:p>
        </p:txBody>
      </p:sp>
      <p:sp>
        <p:nvSpPr>
          <p:cNvPr id="29" name="Shape 27"/>
          <p:cNvSpPr/>
          <p:nvPr/>
        </p:nvSpPr>
        <p:spPr>
          <a:xfrm>
            <a:off x="546100" y="4573588"/>
            <a:ext cx="2679700" cy="706438"/>
          </a:xfrm>
          <a:prstGeom prst="rect">
            <a:avLst/>
          </a:prstGeom>
          <a:solidFill>
            <a:srgbClr val="0B1A30"/>
          </a:solidFill>
          <a:ln/>
        </p:spPr>
        <p:txBody>
          <a:bodyPr/>
          <a:lstStyle/>
          <a:p>
            <a:endParaRPr lang="en-US"/>
          </a:p>
        </p:txBody>
      </p:sp>
      <p:sp>
        <p:nvSpPr>
          <p:cNvPr id="30" name="Text 28"/>
          <p:cNvSpPr/>
          <p:nvPr/>
        </p:nvSpPr>
        <p:spPr>
          <a:xfrm>
            <a:off x="698500" y="4573588"/>
            <a:ext cx="2455291"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X, Y</a:t>
            </a:r>
            <a:endParaRPr lang="en-US" sz="1350" dirty="0"/>
          </a:p>
        </p:txBody>
      </p:sp>
      <p:sp>
        <p:nvSpPr>
          <p:cNvPr id="31" name="Shape 29"/>
          <p:cNvSpPr/>
          <p:nvPr/>
        </p:nvSpPr>
        <p:spPr>
          <a:xfrm>
            <a:off x="3235325" y="4573588"/>
            <a:ext cx="1649214" cy="706438"/>
          </a:xfrm>
          <a:prstGeom prst="rect">
            <a:avLst/>
          </a:prstGeom>
          <a:solidFill>
            <a:srgbClr val="0B1A30"/>
          </a:solidFill>
          <a:ln/>
        </p:spPr>
        <p:txBody>
          <a:bodyPr/>
          <a:lstStyle/>
          <a:p>
            <a:endParaRPr lang="en-US"/>
          </a:p>
        </p:txBody>
      </p:sp>
      <p:sp>
        <p:nvSpPr>
          <p:cNvPr id="32" name="Text 30"/>
          <p:cNvSpPr/>
          <p:nvPr/>
        </p:nvSpPr>
        <p:spPr>
          <a:xfrm>
            <a:off x="3387725" y="4573588"/>
            <a:ext cx="142061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Courier New" pitchFamily="34" charset="0"/>
                <a:ea typeface="Courier New" pitchFamily="34" charset="-122"/>
                <a:cs typeface="Courier New" pitchFamily="34" charset="-120"/>
              </a:rPr>
              <a:t>float</a:t>
            </a:r>
            <a:endParaRPr lang="en-US" sz="1350" dirty="0"/>
          </a:p>
        </p:txBody>
      </p:sp>
      <p:sp>
        <p:nvSpPr>
          <p:cNvPr id="33" name="Shape 31"/>
          <p:cNvSpPr/>
          <p:nvPr/>
        </p:nvSpPr>
        <p:spPr>
          <a:xfrm>
            <a:off x="4894064" y="4573588"/>
            <a:ext cx="4122936" cy="706438"/>
          </a:xfrm>
          <a:prstGeom prst="rect">
            <a:avLst/>
          </a:prstGeom>
          <a:solidFill>
            <a:srgbClr val="0B1A30"/>
          </a:solidFill>
          <a:ln/>
        </p:spPr>
        <p:txBody>
          <a:bodyPr/>
          <a:lstStyle/>
          <a:p>
            <a:endParaRPr lang="en-US"/>
          </a:p>
        </p:txBody>
      </p:sp>
      <p:sp>
        <p:nvSpPr>
          <p:cNvPr id="34" name="Text 32"/>
          <p:cNvSpPr/>
          <p:nvPr/>
        </p:nvSpPr>
        <p:spPr>
          <a:xfrm>
            <a:off x="5046464" y="4573588"/>
            <a:ext cx="394182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Position (drop Z for 2D)</a:t>
            </a:r>
            <a:endParaRPr lang="en-US" sz="1350" dirty="0"/>
          </a:p>
        </p:txBody>
      </p:sp>
      <p:sp>
        <p:nvSpPr>
          <p:cNvPr id="35" name="Shape 33"/>
          <p:cNvSpPr/>
          <p:nvPr/>
        </p:nvSpPr>
        <p:spPr>
          <a:xfrm>
            <a:off x="546100" y="5289550"/>
            <a:ext cx="2679700" cy="706438"/>
          </a:xfrm>
          <a:prstGeom prst="rect">
            <a:avLst/>
          </a:prstGeom>
          <a:solidFill>
            <a:srgbClr val="0E2139"/>
          </a:solidFill>
          <a:ln/>
        </p:spPr>
        <p:txBody>
          <a:bodyPr/>
          <a:lstStyle/>
          <a:p>
            <a:endParaRPr lang="en-US"/>
          </a:p>
        </p:txBody>
      </p:sp>
      <p:sp>
        <p:nvSpPr>
          <p:cNvPr id="36" name="Text 34"/>
          <p:cNvSpPr/>
          <p:nvPr/>
        </p:nvSpPr>
        <p:spPr>
          <a:xfrm>
            <a:off x="698500" y="5289550"/>
            <a:ext cx="2455291"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yaw</a:t>
            </a:r>
            <a:endParaRPr lang="en-US" sz="1350" dirty="0"/>
          </a:p>
        </p:txBody>
      </p:sp>
      <p:sp>
        <p:nvSpPr>
          <p:cNvPr id="37" name="Shape 35"/>
          <p:cNvSpPr/>
          <p:nvPr/>
        </p:nvSpPr>
        <p:spPr>
          <a:xfrm>
            <a:off x="3235325" y="5289550"/>
            <a:ext cx="1649214" cy="706438"/>
          </a:xfrm>
          <a:prstGeom prst="rect">
            <a:avLst/>
          </a:prstGeom>
          <a:solidFill>
            <a:srgbClr val="0E2139"/>
          </a:solidFill>
          <a:ln/>
        </p:spPr>
        <p:txBody>
          <a:bodyPr/>
          <a:lstStyle/>
          <a:p>
            <a:endParaRPr lang="en-US"/>
          </a:p>
        </p:txBody>
      </p:sp>
      <p:sp>
        <p:nvSpPr>
          <p:cNvPr id="38" name="Text 36"/>
          <p:cNvSpPr/>
          <p:nvPr/>
        </p:nvSpPr>
        <p:spPr>
          <a:xfrm>
            <a:off x="3387725" y="5289550"/>
            <a:ext cx="142061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Courier New" pitchFamily="34" charset="0"/>
                <a:ea typeface="Courier New" pitchFamily="34" charset="-122"/>
                <a:cs typeface="Courier New" pitchFamily="34" charset="-120"/>
              </a:rPr>
              <a:t>float</a:t>
            </a:r>
            <a:endParaRPr lang="en-US" sz="1350" dirty="0"/>
          </a:p>
        </p:txBody>
      </p:sp>
      <p:sp>
        <p:nvSpPr>
          <p:cNvPr id="39" name="Shape 37"/>
          <p:cNvSpPr/>
          <p:nvPr/>
        </p:nvSpPr>
        <p:spPr>
          <a:xfrm>
            <a:off x="4894064" y="5289550"/>
            <a:ext cx="4122936" cy="706438"/>
          </a:xfrm>
          <a:prstGeom prst="rect">
            <a:avLst/>
          </a:prstGeom>
          <a:solidFill>
            <a:srgbClr val="0E2139"/>
          </a:solidFill>
          <a:ln/>
        </p:spPr>
        <p:txBody>
          <a:bodyPr/>
          <a:lstStyle/>
          <a:p>
            <a:endParaRPr lang="en-US"/>
          </a:p>
        </p:txBody>
      </p:sp>
      <p:sp>
        <p:nvSpPr>
          <p:cNvPr id="40" name="Text 38"/>
          <p:cNvSpPr/>
          <p:nvPr/>
        </p:nvSpPr>
        <p:spPr>
          <a:xfrm>
            <a:off x="5046464" y="5289550"/>
            <a:ext cx="394182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Aim direction in degrees</a:t>
            </a:r>
            <a:endParaRPr lang="en-US" sz="1350" dirty="0"/>
          </a:p>
        </p:txBody>
      </p:sp>
      <p:sp>
        <p:nvSpPr>
          <p:cNvPr id="41" name="Shape 39"/>
          <p:cNvSpPr/>
          <p:nvPr/>
        </p:nvSpPr>
        <p:spPr>
          <a:xfrm>
            <a:off x="546100" y="6005513"/>
            <a:ext cx="2679700" cy="706438"/>
          </a:xfrm>
          <a:prstGeom prst="rect">
            <a:avLst/>
          </a:prstGeom>
          <a:solidFill>
            <a:srgbClr val="0B1A30"/>
          </a:solidFill>
          <a:ln/>
        </p:spPr>
        <p:txBody>
          <a:bodyPr/>
          <a:lstStyle/>
          <a:p>
            <a:endParaRPr lang="en-US"/>
          </a:p>
        </p:txBody>
      </p:sp>
      <p:sp>
        <p:nvSpPr>
          <p:cNvPr id="42" name="Text 40"/>
          <p:cNvSpPr/>
          <p:nvPr/>
        </p:nvSpPr>
        <p:spPr>
          <a:xfrm>
            <a:off x="698500" y="6005513"/>
            <a:ext cx="2455291"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velocity_X/Y</a:t>
            </a:r>
            <a:endParaRPr lang="en-US" sz="1350" dirty="0"/>
          </a:p>
        </p:txBody>
      </p:sp>
      <p:sp>
        <p:nvSpPr>
          <p:cNvPr id="43" name="Shape 41"/>
          <p:cNvSpPr/>
          <p:nvPr/>
        </p:nvSpPr>
        <p:spPr>
          <a:xfrm>
            <a:off x="3235325" y="6005513"/>
            <a:ext cx="1649214" cy="706438"/>
          </a:xfrm>
          <a:prstGeom prst="rect">
            <a:avLst/>
          </a:prstGeom>
          <a:solidFill>
            <a:srgbClr val="0B1A30"/>
          </a:solidFill>
          <a:ln/>
        </p:spPr>
        <p:txBody>
          <a:bodyPr/>
          <a:lstStyle/>
          <a:p>
            <a:endParaRPr lang="en-US"/>
          </a:p>
        </p:txBody>
      </p:sp>
      <p:sp>
        <p:nvSpPr>
          <p:cNvPr id="44" name="Text 42"/>
          <p:cNvSpPr/>
          <p:nvPr/>
        </p:nvSpPr>
        <p:spPr>
          <a:xfrm>
            <a:off x="3387725" y="6005513"/>
            <a:ext cx="142061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Courier New" pitchFamily="34" charset="0"/>
                <a:ea typeface="Courier New" pitchFamily="34" charset="-122"/>
                <a:cs typeface="Courier New" pitchFamily="34" charset="-120"/>
              </a:rPr>
              <a:t>float</a:t>
            </a:r>
            <a:endParaRPr lang="en-US" sz="1350" dirty="0"/>
          </a:p>
        </p:txBody>
      </p:sp>
      <p:sp>
        <p:nvSpPr>
          <p:cNvPr id="45" name="Shape 43"/>
          <p:cNvSpPr/>
          <p:nvPr/>
        </p:nvSpPr>
        <p:spPr>
          <a:xfrm>
            <a:off x="4894064" y="6005513"/>
            <a:ext cx="4122936" cy="706438"/>
          </a:xfrm>
          <a:prstGeom prst="rect">
            <a:avLst/>
          </a:prstGeom>
          <a:solidFill>
            <a:srgbClr val="0B1A30"/>
          </a:solidFill>
          <a:ln/>
        </p:spPr>
        <p:txBody>
          <a:bodyPr/>
          <a:lstStyle/>
          <a:p>
            <a:endParaRPr lang="en-US"/>
          </a:p>
        </p:txBody>
      </p:sp>
      <p:sp>
        <p:nvSpPr>
          <p:cNvPr id="46" name="Text 44"/>
          <p:cNvSpPr/>
          <p:nvPr/>
        </p:nvSpPr>
        <p:spPr>
          <a:xfrm>
            <a:off x="5046464" y="6005513"/>
            <a:ext cx="394182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Movement speed per axis</a:t>
            </a:r>
            <a:endParaRPr lang="en-US" sz="1350" dirty="0"/>
          </a:p>
        </p:txBody>
      </p:sp>
      <p:sp>
        <p:nvSpPr>
          <p:cNvPr id="47" name="Shape 45"/>
          <p:cNvSpPr/>
          <p:nvPr/>
        </p:nvSpPr>
        <p:spPr>
          <a:xfrm>
            <a:off x="546100" y="6721475"/>
            <a:ext cx="2679700" cy="706438"/>
          </a:xfrm>
          <a:prstGeom prst="rect">
            <a:avLst/>
          </a:prstGeom>
          <a:solidFill>
            <a:srgbClr val="0E2139"/>
          </a:solidFill>
          <a:ln/>
        </p:spPr>
        <p:txBody>
          <a:bodyPr/>
          <a:lstStyle/>
          <a:p>
            <a:endParaRPr lang="en-US"/>
          </a:p>
        </p:txBody>
      </p:sp>
      <p:sp>
        <p:nvSpPr>
          <p:cNvPr id="48" name="Text 46"/>
          <p:cNvSpPr/>
          <p:nvPr/>
        </p:nvSpPr>
        <p:spPr>
          <a:xfrm>
            <a:off x="698500" y="6721475"/>
            <a:ext cx="2455291"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health</a:t>
            </a:r>
            <a:endParaRPr lang="en-US" sz="1350" dirty="0"/>
          </a:p>
        </p:txBody>
      </p:sp>
      <p:sp>
        <p:nvSpPr>
          <p:cNvPr id="49" name="Shape 47"/>
          <p:cNvSpPr/>
          <p:nvPr/>
        </p:nvSpPr>
        <p:spPr>
          <a:xfrm>
            <a:off x="3235325" y="6721475"/>
            <a:ext cx="1649214" cy="706438"/>
          </a:xfrm>
          <a:prstGeom prst="rect">
            <a:avLst/>
          </a:prstGeom>
          <a:solidFill>
            <a:srgbClr val="0E2139"/>
          </a:solidFill>
          <a:ln/>
        </p:spPr>
        <p:txBody>
          <a:bodyPr/>
          <a:lstStyle/>
          <a:p>
            <a:endParaRPr lang="en-US"/>
          </a:p>
        </p:txBody>
      </p:sp>
      <p:sp>
        <p:nvSpPr>
          <p:cNvPr id="50" name="Text 48"/>
          <p:cNvSpPr/>
          <p:nvPr/>
        </p:nvSpPr>
        <p:spPr>
          <a:xfrm>
            <a:off x="3387725" y="6721475"/>
            <a:ext cx="142061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Courier New" pitchFamily="34" charset="0"/>
                <a:ea typeface="Courier New" pitchFamily="34" charset="-122"/>
                <a:cs typeface="Courier New" pitchFamily="34" charset="-120"/>
              </a:rPr>
              <a:t>float</a:t>
            </a:r>
            <a:endParaRPr lang="en-US" sz="1350" dirty="0"/>
          </a:p>
        </p:txBody>
      </p:sp>
      <p:sp>
        <p:nvSpPr>
          <p:cNvPr id="51" name="Shape 49"/>
          <p:cNvSpPr/>
          <p:nvPr/>
        </p:nvSpPr>
        <p:spPr>
          <a:xfrm>
            <a:off x="4894064" y="6721475"/>
            <a:ext cx="4122936" cy="706438"/>
          </a:xfrm>
          <a:prstGeom prst="rect">
            <a:avLst/>
          </a:prstGeom>
          <a:solidFill>
            <a:srgbClr val="0E2139"/>
          </a:solidFill>
          <a:ln/>
        </p:spPr>
        <p:txBody>
          <a:bodyPr/>
          <a:lstStyle/>
          <a:p>
            <a:endParaRPr lang="en-US"/>
          </a:p>
        </p:txBody>
      </p:sp>
      <p:sp>
        <p:nvSpPr>
          <p:cNvPr id="52" name="Text 50"/>
          <p:cNvSpPr/>
          <p:nvPr/>
        </p:nvSpPr>
        <p:spPr>
          <a:xfrm>
            <a:off x="5046464" y="6721475"/>
            <a:ext cx="394182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Player HP (0–100)</a:t>
            </a:r>
            <a:endParaRPr lang="en-US" sz="1350" dirty="0"/>
          </a:p>
        </p:txBody>
      </p:sp>
      <p:sp>
        <p:nvSpPr>
          <p:cNvPr id="53" name="Shape 51"/>
          <p:cNvSpPr/>
          <p:nvPr/>
        </p:nvSpPr>
        <p:spPr>
          <a:xfrm>
            <a:off x="546100" y="7437438"/>
            <a:ext cx="2679700" cy="706438"/>
          </a:xfrm>
          <a:prstGeom prst="rect">
            <a:avLst/>
          </a:prstGeom>
          <a:solidFill>
            <a:srgbClr val="0B1A30"/>
          </a:solidFill>
          <a:ln/>
        </p:spPr>
        <p:txBody>
          <a:bodyPr/>
          <a:lstStyle/>
          <a:p>
            <a:endParaRPr lang="en-US"/>
          </a:p>
        </p:txBody>
      </p:sp>
      <p:sp>
        <p:nvSpPr>
          <p:cNvPr id="54" name="Text 52"/>
          <p:cNvSpPr/>
          <p:nvPr/>
        </p:nvSpPr>
        <p:spPr>
          <a:xfrm>
            <a:off x="698500" y="7437438"/>
            <a:ext cx="2455291"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is_alive</a:t>
            </a:r>
            <a:endParaRPr lang="en-US" sz="1350" dirty="0"/>
          </a:p>
        </p:txBody>
      </p:sp>
      <p:sp>
        <p:nvSpPr>
          <p:cNvPr id="55" name="Shape 53"/>
          <p:cNvSpPr/>
          <p:nvPr/>
        </p:nvSpPr>
        <p:spPr>
          <a:xfrm>
            <a:off x="3235325" y="7437438"/>
            <a:ext cx="1649214" cy="706438"/>
          </a:xfrm>
          <a:prstGeom prst="rect">
            <a:avLst/>
          </a:prstGeom>
          <a:solidFill>
            <a:srgbClr val="0B1A30"/>
          </a:solidFill>
          <a:ln/>
        </p:spPr>
        <p:txBody>
          <a:bodyPr/>
          <a:lstStyle/>
          <a:p>
            <a:endParaRPr lang="en-US"/>
          </a:p>
        </p:txBody>
      </p:sp>
      <p:sp>
        <p:nvSpPr>
          <p:cNvPr id="56" name="Text 54"/>
          <p:cNvSpPr/>
          <p:nvPr/>
        </p:nvSpPr>
        <p:spPr>
          <a:xfrm>
            <a:off x="3387725" y="7437438"/>
            <a:ext cx="142061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Courier New" pitchFamily="34" charset="0"/>
                <a:ea typeface="Courier New" pitchFamily="34" charset="-122"/>
                <a:cs typeface="Courier New" pitchFamily="34" charset="-120"/>
              </a:rPr>
              <a:t>bool</a:t>
            </a:r>
            <a:endParaRPr lang="en-US" sz="1350" dirty="0"/>
          </a:p>
        </p:txBody>
      </p:sp>
      <p:sp>
        <p:nvSpPr>
          <p:cNvPr id="57" name="Shape 55"/>
          <p:cNvSpPr/>
          <p:nvPr/>
        </p:nvSpPr>
        <p:spPr>
          <a:xfrm>
            <a:off x="4894064" y="7437438"/>
            <a:ext cx="4122936" cy="706438"/>
          </a:xfrm>
          <a:prstGeom prst="rect">
            <a:avLst/>
          </a:prstGeom>
          <a:solidFill>
            <a:srgbClr val="0B1A30"/>
          </a:solidFill>
          <a:ln/>
        </p:spPr>
        <p:txBody>
          <a:bodyPr/>
          <a:lstStyle/>
          <a:p>
            <a:endParaRPr lang="en-US"/>
          </a:p>
        </p:txBody>
      </p:sp>
      <p:sp>
        <p:nvSpPr>
          <p:cNvPr id="58" name="Text 56"/>
          <p:cNvSpPr/>
          <p:nvPr/>
        </p:nvSpPr>
        <p:spPr>
          <a:xfrm>
            <a:off x="5046464" y="7437438"/>
            <a:ext cx="394182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Dead or alive this tick</a:t>
            </a:r>
            <a:endParaRPr lang="en-US" sz="1350" dirty="0"/>
          </a:p>
        </p:txBody>
      </p:sp>
      <p:sp>
        <p:nvSpPr>
          <p:cNvPr id="59" name="Shape 57"/>
          <p:cNvSpPr/>
          <p:nvPr/>
        </p:nvSpPr>
        <p:spPr>
          <a:xfrm>
            <a:off x="546100" y="8153400"/>
            <a:ext cx="2679700" cy="706438"/>
          </a:xfrm>
          <a:prstGeom prst="rect">
            <a:avLst/>
          </a:prstGeom>
          <a:solidFill>
            <a:srgbClr val="0E2139"/>
          </a:solidFill>
          <a:ln/>
        </p:spPr>
        <p:txBody>
          <a:bodyPr/>
          <a:lstStyle/>
          <a:p>
            <a:endParaRPr lang="en-US"/>
          </a:p>
        </p:txBody>
      </p:sp>
      <p:sp>
        <p:nvSpPr>
          <p:cNvPr id="60" name="Text 58"/>
          <p:cNvSpPr/>
          <p:nvPr/>
        </p:nvSpPr>
        <p:spPr>
          <a:xfrm>
            <a:off x="698500" y="8153400"/>
            <a:ext cx="2455291"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FIRE</a:t>
            </a:r>
            <a:endParaRPr lang="en-US" sz="1350" dirty="0"/>
          </a:p>
        </p:txBody>
      </p:sp>
      <p:sp>
        <p:nvSpPr>
          <p:cNvPr id="61" name="Shape 59"/>
          <p:cNvSpPr/>
          <p:nvPr/>
        </p:nvSpPr>
        <p:spPr>
          <a:xfrm>
            <a:off x="3235325" y="8153400"/>
            <a:ext cx="1649214" cy="706438"/>
          </a:xfrm>
          <a:prstGeom prst="rect">
            <a:avLst/>
          </a:prstGeom>
          <a:solidFill>
            <a:srgbClr val="0E2139"/>
          </a:solidFill>
          <a:ln/>
        </p:spPr>
        <p:txBody>
          <a:bodyPr/>
          <a:lstStyle/>
          <a:p>
            <a:endParaRPr lang="en-US"/>
          </a:p>
        </p:txBody>
      </p:sp>
      <p:sp>
        <p:nvSpPr>
          <p:cNvPr id="62" name="Text 60"/>
          <p:cNvSpPr/>
          <p:nvPr/>
        </p:nvSpPr>
        <p:spPr>
          <a:xfrm>
            <a:off x="3387725" y="8153400"/>
            <a:ext cx="142061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Courier New" pitchFamily="34" charset="0"/>
                <a:ea typeface="Courier New" pitchFamily="34" charset="-122"/>
                <a:cs typeface="Courier New" pitchFamily="34" charset="-120"/>
              </a:rPr>
              <a:t>bool</a:t>
            </a:r>
            <a:endParaRPr lang="en-US" sz="1350" dirty="0"/>
          </a:p>
        </p:txBody>
      </p:sp>
      <p:sp>
        <p:nvSpPr>
          <p:cNvPr id="63" name="Shape 61"/>
          <p:cNvSpPr/>
          <p:nvPr/>
        </p:nvSpPr>
        <p:spPr>
          <a:xfrm>
            <a:off x="4894064" y="8153400"/>
            <a:ext cx="4122936" cy="706438"/>
          </a:xfrm>
          <a:prstGeom prst="rect">
            <a:avLst/>
          </a:prstGeom>
          <a:solidFill>
            <a:srgbClr val="0E2139"/>
          </a:solidFill>
          <a:ln/>
        </p:spPr>
        <p:txBody>
          <a:bodyPr/>
          <a:lstStyle/>
          <a:p>
            <a:endParaRPr lang="en-US"/>
          </a:p>
        </p:txBody>
      </p:sp>
      <p:sp>
        <p:nvSpPr>
          <p:cNvPr id="64" name="Text 62"/>
          <p:cNvSpPr/>
          <p:nvPr/>
        </p:nvSpPr>
        <p:spPr>
          <a:xfrm>
            <a:off x="5046464" y="8153400"/>
            <a:ext cx="394182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Is the player shooting</a:t>
            </a:r>
            <a:endParaRPr lang="en-US" sz="1350" dirty="0"/>
          </a:p>
        </p:txBody>
      </p:sp>
      <p:sp>
        <p:nvSpPr>
          <p:cNvPr id="65" name="Shape 63"/>
          <p:cNvSpPr/>
          <p:nvPr/>
        </p:nvSpPr>
        <p:spPr>
          <a:xfrm>
            <a:off x="546100" y="8869363"/>
            <a:ext cx="2679700" cy="706438"/>
          </a:xfrm>
          <a:prstGeom prst="rect">
            <a:avLst/>
          </a:prstGeom>
          <a:solidFill>
            <a:srgbClr val="0B1A30"/>
          </a:solidFill>
          <a:ln/>
        </p:spPr>
        <p:txBody>
          <a:bodyPr/>
          <a:lstStyle/>
          <a:p>
            <a:endParaRPr lang="en-US"/>
          </a:p>
        </p:txBody>
      </p:sp>
      <p:sp>
        <p:nvSpPr>
          <p:cNvPr id="66" name="Text 64"/>
          <p:cNvSpPr/>
          <p:nvPr/>
        </p:nvSpPr>
        <p:spPr>
          <a:xfrm>
            <a:off x="698500" y="8869363"/>
            <a:ext cx="2455291"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EAF1FA"/>
                </a:solidFill>
                <a:latin typeface="Courier New" pitchFamily="34" charset="0"/>
                <a:ea typeface="Courier New" pitchFamily="34" charset="-122"/>
                <a:cs typeface="Courier New" pitchFamily="34" charset="-120"/>
              </a:rPr>
              <a:t>spotted</a:t>
            </a:r>
            <a:endParaRPr lang="en-US" sz="1350" dirty="0"/>
          </a:p>
        </p:txBody>
      </p:sp>
      <p:sp>
        <p:nvSpPr>
          <p:cNvPr id="67" name="Shape 65"/>
          <p:cNvSpPr/>
          <p:nvPr/>
        </p:nvSpPr>
        <p:spPr>
          <a:xfrm>
            <a:off x="3235325" y="8869363"/>
            <a:ext cx="1649214" cy="706438"/>
          </a:xfrm>
          <a:prstGeom prst="rect">
            <a:avLst/>
          </a:prstGeom>
          <a:solidFill>
            <a:srgbClr val="0B1A30"/>
          </a:solidFill>
          <a:ln/>
        </p:spPr>
        <p:txBody>
          <a:bodyPr/>
          <a:lstStyle/>
          <a:p>
            <a:endParaRPr lang="en-US"/>
          </a:p>
        </p:txBody>
      </p:sp>
      <p:sp>
        <p:nvSpPr>
          <p:cNvPr id="68" name="Text 66"/>
          <p:cNvSpPr/>
          <p:nvPr/>
        </p:nvSpPr>
        <p:spPr>
          <a:xfrm>
            <a:off x="3387725" y="8869363"/>
            <a:ext cx="142061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9DB2C9"/>
                </a:solidFill>
                <a:latin typeface="Courier New" pitchFamily="34" charset="0"/>
                <a:ea typeface="Courier New" pitchFamily="34" charset="-122"/>
                <a:cs typeface="Courier New" pitchFamily="34" charset="-120"/>
              </a:rPr>
              <a:t>bool</a:t>
            </a:r>
            <a:endParaRPr lang="en-US" sz="1350" dirty="0"/>
          </a:p>
        </p:txBody>
      </p:sp>
      <p:sp>
        <p:nvSpPr>
          <p:cNvPr id="69" name="Shape 67"/>
          <p:cNvSpPr/>
          <p:nvPr/>
        </p:nvSpPr>
        <p:spPr>
          <a:xfrm>
            <a:off x="4894064" y="8869363"/>
            <a:ext cx="4122936" cy="706438"/>
          </a:xfrm>
          <a:prstGeom prst="rect">
            <a:avLst/>
          </a:prstGeom>
          <a:solidFill>
            <a:srgbClr val="0B1A30"/>
          </a:solidFill>
          <a:ln/>
        </p:spPr>
        <p:txBody>
          <a:bodyPr/>
          <a:lstStyle/>
          <a:p>
            <a:endParaRPr lang="en-US"/>
          </a:p>
        </p:txBody>
      </p:sp>
      <p:sp>
        <p:nvSpPr>
          <p:cNvPr id="70" name="Text 68"/>
          <p:cNvSpPr/>
          <p:nvPr/>
        </p:nvSpPr>
        <p:spPr>
          <a:xfrm>
            <a:off x="5046464" y="8869363"/>
            <a:ext cx="3941824" cy="744538"/>
          </a:xfrm>
          <a:prstGeom prst="rect">
            <a:avLst/>
          </a:prstGeom>
          <a:noFill/>
          <a:ln/>
        </p:spPr>
        <p:txBody>
          <a:bodyPr wrap="square" lIns="25400" tIns="25400" rIns="25400" bIns="25400" rtlCol="0" anchor="ctr">
            <a:normAutofit/>
          </a:bodyPr>
          <a:lstStyle/>
          <a:p>
            <a:pPr marL="0" indent="0" algn="l">
              <a:buNone/>
            </a:pPr>
            <a:r>
              <a:rPr lang="en-US" sz="1350" dirty="0">
                <a:solidFill>
                  <a:srgbClr val="C2D2E2"/>
                </a:solidFill>
                <a:latin typeface="Arial" pitchFamily="34" charset="0"/>
                <a:ea typeface="Arial" pitchFamily="34" charset="-122"/>
                <a:cs typeface="Arial" pitchFamily="34" charset="-120"/>
              </a:rPr>
              <a:t>Visible to enemies</a:t>
            </a:r>
            <a:endParaRPr lang="en-US" sz="1350" dirty="0"/>
          </a:p>
        </p:txBody>
      </p:sp>
      <p:sp>
        <p:nvSpPr>
          <p:cNvPr id="71" name="Text 69"/>
          <p:cNvSpPr/>
          <p:nvPr/>
        </p:nvSpPr>
        <p:spPr>
          <a:xfrm>
            <a:off x="9258300" y="1955800"/>
            <a:ext cx="9345930"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FFFFFF"/>
                </a:solidFill>
                <a:latin typeface="Arial" pitchFamily="34" charset="0"/>
                <a:ea typeface="Arial" pitchFamily="34" charset="-122"/>
                <a:cs typeface="Arial" pitchFamily="34" charset="-120"/>
              </a:rPr>
              <a:t>JSON Metadata · Ground Truth</a:t>
            </a:r>
            <a:endParaRPr lang="en-US" sz="1875" dirty="0"/>
          </a:p>
        </p:txBody>
      </p:sp>
      <p:sp>
        <p:nvSpPr>
          <p:cNvPr id="72" name="Shape 70"/>
          <p:cNvSpPr/>
          <p:nvPr/>
        </p:nvSpPr>
        <p:spPr>
          <a:xfrm>
            <a:off x="9258300" y="2413000"/>
            <a:ext cx="8496300" cy="1511300"/>
          </a:xfrm>
          <a:prstGeom prst="roundRect">
            <a:avLst>
              <a:gd name="adj" fmla="val 7563"/>
            </a:avLst>
          </a:prstGeom>
          <a:solidFill>
            <a:srgbClr val="05101F"/>
          </a:solidFill>
          <a:ln w="12700">
            <a:solidFill>
              <a:srgbClr val="FFFFFF">
                <a:alpha val="12000"/>
              </a:srgbClr>
            </a:solidFill>
            <a:prstDash val="solid"/>
          </a:ln>
        </p:spPr>
        <p:txBody>
          <a:bodyPr/>
          <a:lstStyle/>
          <a:p>
            <a:endParaRPr lang="en-US"/>
          </a:p>
        </p:txBody>
      </p:sp>
      <p:sp>
        <p:nvSpPr>
          <p:cNvPr id="73" name="Text 71"/>
          <p:cNvSpPr/>
          <p:nvPr/>
        </p:nvSpPr>
        <p:spPr>
          <a:xfrm>
            <a:off x="9499600" y="2597150"/>
            <a:ext cx="8815070" cy="323850"/>
          </a:xfrm>
          <a:prstGeom prst="rect">
            <a:avLst/>
          </a:prstGeom>
          <a:noFill/>
          <a:ln/>
        </p:spPr>
        <p:txBody>
          <a:bodyPr wrap="square" lIns="25400" tIns="25400" rIns="25400" bIns="25400" rtlCol="0" anchor="t">
            <a:normAutofit/>
          </a:bodyPr>
          <a:lstStyle/>
          <a:p>
            <a:pPr marL="0" indent="0" algn="l">
              <a:lnSpc>
                <a:spcPct val="150000"/>
              </a:lnSpc>
              <a:buNone/>
            </a:pPr>
            <a:r>
              <a:rPr lang="en-US" sz="1500" dirty="0">
                <a:solidFill>
                  <a:srgbClr val="F4B463"/>
                </a:solidFill>
                <a:latin typeface="Courier New" pitchFamily="34" charset="0"/>
                <a:ea typeface="Courier New" pitchFamily="34" charset="-122"/>
                <a:cs typeface="Courier New" pitchFamily="34" charset="-120"/>
              </a:rPr>
              <a:t>{</a:t>
            </a:r>
            <a:r>
              <a:rPr lang="en-US" sz="1500" dirty="0">
                <a:solidFill>
                  <a:srgbClr val="6FB3F2"/>
                </a:solidFill>
                <a:latin typeface="Courier New" pitchFamily="34" charset="0"/>
                <a:ea typeface="Courier New" pitchFamily="34" charset="-122"/>
                <a:cs typeface="Courier New" pitchFamily="34" charset="-120"/>
              </a:rPr>
              <a:t>"cheaters"</a:t>
            </a:r>
            <a:r>
              <a:rPr lang="en-US" sz="1500" dirty="0">
                <a:solidFill>
                  <a:srgbClr val="F4B463"/>
                </a:solidFill>
                <a:latin typeface="Courier New" pitchFamily="34" charset="0"/>
                <a:ea typeface="Courier New" pitchFamily="34" charset="-122"/>
                <a:cs typeface="Courier New" pitchFamily="34" charset="-120"/>
              </a:rPr>
              <a:t>: [</a:t>
            </a:r>
            <a:endParaRPr lang="en-US" sz="1500" dirty="0"/>
          </a:p>
        </p:txBody>
      </p:sp>
      <p:sp>
        <p:nvSpPr>
          <p:cNvPr id="74" name="Text 72"/>
          <p:cNvSpPr/>
          <p:nvPr/>
        </p:nvSpPr>
        <p:spPr>
          <a:xfrm>
            <a:off x="9747250" y="2882900"/>
            <a:ext cx="8567420" cy="323850"/>
          </a:xfrm>
          <a:prstGeom prst="rect">
            <a:avLst/>
          </a:prstGeom>
          <a:noFill/>
          <a:ln/>
        </p:spPr>
        <p:txBody>
          <a:bodyPr wrap="square" lIns="25400" tIns="25400" rIns="25400" bIns="25400" rtlCol="0" anchor="t">
            <a:normAutofit/>
          </a:bodyPr>
          <a:lstStyle/>
          <a:p>
            <a:pPr marL="0" indent="0" algn="l">
              <a:lnSpc>
                <a:spcPct val="150000"/>
              </a:lnSpc>
              <a:buNone/>
            </a:pPr>
            <a:r>
              <a:rPr lang="en-US" sz="1500" dirty="0">
                <a:solidFill>
                  <a:srgbClr val="D2DEEB"/>
                </a:solidFill>
                <a:latin typeface="Courier New" pitchFamily="34" charset="0"/>
                <a:ea typeface="Courier New" pitchFamily="34" charset="-122"/>
                <a:cs typeface="Courier New" pitchFamily="34" charset="-120"/>
              </a:rPr>
              <a:t>{</a:t>
            </a:r>
            <a:r>
              <a:rPr lang="en-US" sz="1500" dirty="0">
                <a:solidFill>
                  <a:srgbClr val="6FB3F2"/>
                </a:solidFill>
                <a:latin typeface="Courier New" pitchFamily="34" charset="0"/>
                <a:ea typeface="Courier New" pitchFamily="34" charset="-122"/>
                <a:cs typeface="Courier New" pitchFamily="34" charset="-120"/>
              </a:rPr>
              <a:t>"steamid"</a:t>
            </a:r>
            <a:r>
              <a:rPr lang="en-US" sz="1500" dirty="0">
                <a:solidFill>
                  <a:srgbClr val="D2DEEB"/>
                </a:solidFill>
                <a:latin typeface="Courier New" pitchFamily="34" charset="0"/>
                <a:ea typeface="Courier New" pitchFamily="34" charset="-122"/>
                <a:cs typeface="Courier New" pitchFamily="34" charset="-120"/>
              </a:rPr>
              <a:t>: </a:t>
            </a:r>
            <a:r>
              <a:rPr lang="en-US" sz="1500" dirty="0">
                <a:solidFill>
                  <a:srgbClr val="5BD39A"/>
                </a:solidFill>
                <a:latin typeface="Courier New" pitchFamily="34" charset="0"/>
                <a:ea typeface="Courier New" pitchFamily="34" charset="-122"/>
                <a:cs typeface="Courier New" pitchFamily="34" charset="-120"/>
              </a:rPr>
              <a:t>"Player_3"</a:t>
            </a:r>
            <a:r>
              <a:rPr lang="en-US" sz="1500" dirty="0">
                <a:solidFill>
                  <a:srgbClr val="D2DEEB"/>
                </a:solidFill>
                <a:latin typeface="Courier New" pitchFamily="34" charset="0"/>
                <a:ea typeface="Courier New" pitchFamily="34" charset="-122"/>
                <a:cs typeface="Courier New" pitchFamily="34" charset="-120"/>
              </a:rPr>
              <a:t>},</a:t>
            </a:r>
            <a:endParaRPr lang="en-US" sz="1500" dirty="0"/>
          </a:p>
        </p:txBody>
      </p:sp>
      <p:sp>
        <p:nvSpPr>
          <p:cNvPr id="75" name="Text 73"/>
          <p:cNvSpPr/>
          <p:nvPr/>
        </p:nvSpPr>
        <p:spPr>
          <a:xfrm>
            <a:off x="9747250" y="3168650"/>
            <a:ext cx="8567420" cy="323850"/>
          </a:xfrm>
          <a:prstGeom prst="rect">
            <a:avLst/>
          </a:prstGeom>
          <a:noFill/>
          <a:ln/>
        </p:spPr>
        <p:txBody>
          <a:bodyPr wrap="square" lIns="25400" tIns="25400" rIns="25400" bIns="25400" rtlCol="0" anchor="t">
            <a:normAutofit/>
          </a:bodyPr>
          <a:lstStyle/>
          <a:p>
            <a:pPr marL="0" indent="0" algn="l">
              <a:lnSpc>
                <a:spcPct val="150000"/>
              </a:lnSpc>
              <a:buNone/>
            </a:pPr>
            <a:r>
              <a:rPr lang="en-US" sz="1500" dirty="0">
                <a:solidFill>
                  <a:srgbClr val="D2DEEB"/>
                </a:solidFill>
                <a:latin typeface="Courier New" pitchFamily="34" charset="0"/>
                <a:ea typeface="Courier New" pitchFamily="34" charset="-122"/>
                <a:cs typeface="Courier New" pitchFamily="34" charset="-120"/>
              </a:rPr>
              <a:t>{</a:t>
            </a:r>
            <a:r>
              <a:rPr lang="en-US" sz="1500" dirty="0">
                <a:solidFill>
                  <a:srgbClr val="6FB3F2"/>
                </a:solidFill>
                <a:latin typeface="Courier New" pitchFamily="34" charset="0"/>
                <a:ea typeface="Courier New" pitchFamily="34" charset="-122"/>
                <a:cs typeface="Courier New" pitchFamily="34" charset="-120"/>
              </a:rPr>
              <a:t>"steamid"</a:t>
            </a:r>
            <a:r>
              <a:rPr lang="en-US" sz="1500" dirty="0">
                <a:solidFill>
                  <a:srgbClr val="D2DEEB"/>
                </a:solidFill>
                <a:latin typeface="Courier New" pitchFamily="34" charset="0"/>
                <a:ea typeface="Courier New" pitchFamily="34" charset="-122"/>
                <a:cs typeface="Courier New" pitchFamily="34" charset="-120"/>
              </a:rPr>
              <a:t>: </a:t>
            </a:r>
            <a:r>
              <a:rPr lang="en-US" sz="1500" dirty="0">
                <a:solidFill>
                  <a:srgbClr val="5BD39A"/>
                </a:solidFill>
                <a:latin typeface="Courier New" pitchFamily="34" charset="0"/>
                <a:ea typeface="Courier New" pitchFamily="34" charset="-122"/>
                <a:cs typeface="Courier New" pitchFamily="34" charset="-120"/>
              </a:rPr>
              <a:t>"Player_4"</a:t>
            </a:r>
            <a:r>
              <a:rPr lang="en-US" sz="1500" dirty="0">
                <a:solidFill>
                  <a:srgbClr val="D2DEEB"/>
                </a:solidFill>
                <a:latin typeface="Courier New" pitchFamily="34" charset="0"/>
                <a:ea typeface="Courier New" pitchFamily="34" charset="-122"/>
                <a:cs typeface="Courier New" pitchFamily="34" charset="-120"/>
              </a:rPr>
              <a:t>}</a:t>
            </a:r>
            <a:endParaRPr lang="en-US" sz="1500" dirty="0"/>
          </a:p>
        </p:txBody>
      </p:sp>
      <p:sp>
        <p:nvSpPr>
          <p:cNvPr id="76" name="Text 74"/>
          <p:cNvSpPr/>
          <p:nvPr/>
        </p:nvSpPr>
        <p:spPr>
          <a:xfrm>
            <a:off x="9499600" y="3454400"/>
            <a:ext cx="8815070" cy="323850"/>
          </a:xfrm>
          <a:prstGeom prst="rect">
            <a:avLst/>
          </a:prstGeom>
          <a:noFill/>
          <a:ln/>
        </p:spPr>
        <p:txBody>
          <a:bodyPr wrap="square" lIns="25400" tIns="25400" rIns="25400" bIns="25400" rtlCol="0" anchor="t">
            <a:normAutofit/>
          </a:bodyPr>
          <a:lstStyle/>
          <a:p>
            <a:pPr marL="0" indent="0" algn="l">
              <a:lnSpc>
                <a:spcPct val="150000"/>
              </a:lnSpc>
              <a:buNone/>
            </a:pPr>
            <a:r>
              <a:rPr lang="en-US" sz="1500" dirty="0">
                <a:solidFill>
                  <a:srgbClr val="F4B463"/>
                </a:solidFill>
                <a:latin typeface="Courier New" pitchFamily="34" charset="0"/>
                <a:ea typeface="Courier New" pitchFamily="34" charset="-122"/>
                <a:cs typeface="Courier New" pitchFamily="34" charset="-120"/>
              </a:rPr>
              <a:t>]}</a:t>
            </a:r>
            <a:endParaRPr lang="en-US" sz="1500" dirty="0"/>
          </a:p>
        </p:txBody>
      </p:sp>
      <p:sp>
        <p:nvSpPr>
          <p:cNvPr id="77" name="Text 75"/>
          <p:cNvSpPr/>
          <p:nvPr/>
        </p:nvSpPr>
        <p:spPr>
          <a:xfrm>
            <a:off x="9258300" y="4038600"/>
            <a:ext cx="9345930" cy="295077"/>
          </a:xfrm>
          <a:prstGeom prst="rect">
            <a:avLst/>
          </a:prstGeom>
          <a:noFill/>
          <a:ln/>
        </p:spPr>
        <p:txBody>
          <a:bodyPr wrap="square" lIns="25400" tIns="25400" rIns="25400" bIns="25400" rtlCol="0" anchor="t">
            <a:normAutofit/>
          </a:bodyPr>
          <a:lstStyle/>
          <a:p>
            <a:pPr marL="0" indent="0" algn="l">
              <a:lnSpc>
                <a:spcPct val="135000"/>
              </a:lnSpc>
              <a:buNone/>
            </a:pPr>
            <a:r>
              <a:rPr lang="en-US" sz="1425" dirty="0">
                <a:solidFill>
                  <a:srgbClr val="9DB2C9"/>
                </a:solidFill>
                <a:latin typeface="Arial" pitchFamily="34" charset="0"/>
                <a:ea typeface="Arial" pitchFamily="34" charset="-122"/>
                <a:cs typeface="Arial" pitchFamily="34" charset="-120"/>
              </a:rPr>
              <a:t>VAC-banned steamids → every tick from that player gets the </a:t>
            </a:r>
            <a:r>
              <a:rPr lang="en-US" sz="1425" dirty="0">
                <a:solidFill>
                  <a:srgbClr val="F47E76"/>
                </a:solidFill>
                <a:latin typeface="Courier New" pitchFamily="34" charset="0"/>
                <a:ea typeface="Courier New" pitchFamily="34" charset="-122"/>
                <a:cs typeface="Courier New" pitchFamily="34" charset="-120"/>
              </a:rPr>
              <a:t>cheater </a:t>
            </a:r>
            <a:r>
              <a:rPr lang="en-US" sz="1425" dirty="0">
                <a:solidFill>
                  <a:srgbClr val="9DB2C9"/>
                </a:solidFill>
                <a:latin typeface="Arial" pitchFamily="34" charset="0"/>
                <a:ea typeface="Arial" pitchFamily="34" charset="-122"/>
                <a:cs typeface="Arial" pitchFamily="34" charset="-120"/>
              </a:rPr>
              <a:t>label.</a:t>
            </a:r>
            <a:endParaRPr lang="en-US" sz="1425" dirty="0"/>
          </a:p>
        </p:txBody>
      </p:sp>
      <p:sp>
        <p:nvSpPr>
          <p:cNvPr id="78" name="Text 76"/>
          <p:cNvSpPr/>
          <p:nvPr/>
        </p:nvSpPr>
        <p:spPr>
          <a:xfrm>
            <a:off x="9258300" y="4467027"/>
            <a:ext cx="9345930"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FFFFFF"/>
                </a:solidFill>
                <a:latin typeface="Arial" pitchFamily="34" charset="0"/>
                <a:ea typeface="Arial" pitchFamily="34" charset="-122"/>
                <a:cs typeface="Arial" pitchFamily="34" charset="-120"/>
              </a:rPr>
              <a:t>Raw → Features Pipeline</a:t>
            </a:r>
            <a:endParaRPr lang="en-US" sz="1875" dirty="0"/>
          </a:p>
        </p:txBody>
      </p:sp>
      <p:sp>
        <p:nvSpPr>
          <p:cNvPr id="79" name="Shape 77"/>
          <p:cNvSpPr/>
          <p:nvPr/>
        </p:nvSpPr>
        <p:spPr>
          <a:xfrm>
            <a:off x="9258300" y="4924227"/>
            <a:ext cx="323850" cy="323850"/>
          </a:xfrm>
          <a:prstGeom prst="roundRect">
            <a:avLst>
              <a:gd name="adj" fmla="val 26471"/>
            </a:avLst>
          </a:prstGeom>
          <a:solidFill>
            <a:srgbClr val="3B8EE6">
              <a:alpha val="20000"/>
            </a:srgbClr>
          </a:solidFill>
          <a:ln w="12700">
            <a:solidFill>
              <a:srgbClr val="3B8EE6">
                <a:alpha val="50000"/>
              </a:srgbClr>
            </a:solidFill>
            <a:prstDash val="solid"/>
          </a:ln>
        </p:spPr>
        <p:txBody>
          <a:bodyPr/>
          <a:lstStyle/>
          <a:p>
            <a:endParaRPr lang="en-US"/>
          </a:p>
        </p:txBody>
      </p:sp>
      <p:sp>
        <p:nvSpPr>
          <p:cNvPr id="80" name="Text 78"/>
          <p:cNvSpPr/>
          <p:nvPr/>
        </p:nvSpPr>
        <p:spPr>
          <a:xfrm>
            <a:off x="9232900" y="4936927"/>
            <a:ext cx="374650" cy="336550"/>
          </a:xfrm>
          <a:prstGeom prst="rect">
            <a:avLst/>
          </a:prstGeom>
          <a:noFill/>
          <a:ln/>
        </p:spPr>
        <p:txBody>
          <a:bodyPr wrap="square" lIns="25400" tIns="25400" rIns="25400" bIns="25400" rtlCol="0" anchor="ctr">
            <a:normAutofit/>
          </a:bodyPr>
          <a:lstStyle/>
          <a:p>
            <a:pPr marL="0" indent="0" algn="ctr">
              <a:buNone/>
            </a:pPr>
            <a:r>
              <a:rPr lang="en-US" sz="1350" b="1" dirty="0">
                <a:solidFill>
                  <a:srgbClr val="6FB3F2"/>
                </a:solidFill>
                <a:latin typeface="Arial" pitchFamily="34" charset="0"/>
                <a:ea typeface="Arial" pitchFamily="34" charset="-122"/>
                <a:cs typeface="Arial" pitchFamily="34" charset="-120"/>
              </a:rPr>
              <a:t>1</a:t>
            </a:r>
            <a:endParaRPr lang="en-US" sz="1350" dirty="0"/>
          </a:p>
        </p:txBody>
      </p:sp>
      <p:sp>
        <p:nvSpPr>
          <p:cNvPr id="81" name="Text 79"/>
          <p:cNvSpPr/>
          <p:nvPr/>
        </p:nvSpPr>
        <p:spPr>
          <a:xfrm>
            <a:off x="9725025" y="4962327"/>
            <a:ext cx="4379377"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Parse X, Y, yaw, velocity, FIRE, spotted per tick</a:t>
            </a:r>
            <a:endParaRPr lang="en-US" sz="1500" dirty="0"/>
          </a:p>
        </p:txBody>
      </p:sp>
      <p:sp>
        <p:nvSpPr>
          <p:cNvPr id="82" name="Shape 80"/>
          <p:cNvSpPr/>
          <p:nvPr/>
        </p:nvSpPr>
        <p:spPr>
          <a:xfrm>
            <a:off x="9258300" y="5352852"/>
            <a:ext cx="323850" cy="323850"/>
          </a:xfrm>
          <a:prstGeom prst="roundRect">
            <a:avLst>
              <a:gd name="adj" fmla="val 26471"/>
            </a:avLst>
          </a:prstGeom>
          <a:solidFill>
            <a:srgbClr val="3B8EE6">
              <a:alpha val="20000"/>
            </a:srgbClr>
          </a:solidFill>
          <a:ln w="12700">
            <a:solidFill>
              <a:srgbClr val="3B8EE6">
                <a:alpha val="50000"/>
              </a:srgbClr>
            </a:solidFill>
            <a:prstDash val="solid"/>
          </a:ln>
        </p:spPr>
        <p:txBody>
          <a:bodyPr/>
          <a:lstStyle/>
          <a:p>
            <a:endParaRPr lang="en-US"/>
          </a:p>
        </p:txBody>
      </p:sp>
      <p:sp>
        <p:nvSpPr>
          <p:cNvPr id="83" name="Text 81"/>
          <p:cNvSpPr/>
          <p:nvPr/>
        </p:nvSpPr>
        <p:spPr>
          <a:xfrm>
            <a:off x="9232900" y="5365552"/>
            <a:ext cx="374650" cy="336550"/>
          </a:xfrm>
          <a:prstGeom prst="rect">
            <a:avLst/>
          </a:prstGeom>
          <a:noFill/>
          <a:ln/>
        </p:spPr>
        <p:txBody>
          <a:bodyPr wrap="square" lIns="25400" tIns="25400" rIns="25400" bIns="25400" rtlCol="0" anchor="ctr">
            <a:normAutofit/>
          </a:bodyPr>
          <a:lstStyle/>
          <a:p>
            <a:pPr marL="0" indent="0" algn="ctr">
              <a:buNone/>
            </a:pPr>
            <a:r>
              <a:rPr lang="en-US" sz="1350" b="1" dirty="0">
                <a:solidFill>
                  <a:srgbClr val="6FB3F2"/>
                </a:solidFill>
                <a:latin typeface="Arial" pitchFamily="34" charset="0"/>
                <a:ea typeface="Arial" pitchFamily="34" charset="-122"/>
                <a:cs typeface="Arial" pitchFamily="34" charset="-120"/>
              </a:rPr>
              <a:t>2</a:t>
            </a:r>
            <a:endParaRPr lang="en-US" sz="1350" dirty="0"/>
          </a:p>
        </p:txBody>
      </p:sp>
      <p:sp>
        <p:nvSpPr>
          <p:cNvPr id="84" name="Text 82"/>
          <p:cNvSpPr/>
          <p:nvPr/>
        </p:nvSpPr>
        <p:spPr>
          <a:xfrm>
            <a:off x="9725025" y="5378252"/>
            <a:ext cx="5435858" cy="3111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Compute </a:t>
            </a:r>
            <a:r>
              <a:rPr lang="en-US" sz="1500" dirty="0">
                <a:solidFill>
                  <a:srgbClr val="FFFFFF"/>
                </a:solidFill>
                <a:latin typeface="Courier New" pitchFamily="34" charset="0"/>
                <a:ea typeface="Courier New" pitchFamily="34" charset="-122"/>
                <a:cs typeface="Courier New" pitchFamily="34" charset="-120"/>
              </a:rPr>
              <a:t>aim_delta = |current_yaw − prev_yaw|</a:t>
            </a:r>
            <a:endParaRPr lang="en-US" sz="1500" dirty="0"/>
          </a:p>
        </p:txBody>
      </p:sp>
      <p:sp>
        <p:nvSpPr>
          <p:cNvPr id="85" name="Shape 83"/>
          <p:cNvSpPr/>
          <p:nvPr/>
        </p:nvSpPr>
        <p:spPr>
          <a:xfrm>
            <a:off x="9258300" y="5781477"/>
            <a:ext cx="323850" cy="323850"/>
          </a:xfrm>
          <a:prstGeom prst="roundRect">
            <a:avLst>
              <a:gd name="adj" fmla="val 26471"/>
            </a:avLst>
          </a:prstGeom>
          <a:solidFill>
            <a:srgbClr val="3B8EE6">
              <a:alpha val="20000"/>
            </a:srgbClr>
          </a:solidFill>
          <a:ln w="12700">
            <a:solidFill>
              <a:srgbClr val="3B8EE6">
                <a:alpha val="50000"/>
              </a:srgbClr>
            </a:solidFill>
            <a:prstDash val="solid"/>
          </a:ln>
        </p:spPr>
        <p:txBody>
          <a:bodyPr/>
          <a:lstStyle/>
          <a:p>
            <a:endParaRPr lang="en-US"/>
          </a:p>
        </p:txBody>
      </p:sp>
      <p:sp>
        <p:nvSpPr>
          <p:cNvPr id="86" name="Text 84"/>
          <p:cNvSpPr/>
          <p:nvPr/>
        </p:nvSpPr>
        <p:spPr>
          <a:xfrm>
            <a:off x="9232900" y="5794177"/>
            <a:ext cx="374650" cy="336550"/>
          </a:xfrm>
          <a:prstGeom prst="rect">
            <a:avLst/>
          </a:prstGeom>
          <a:noFill/>
          <a:ln/>
        </p:spPr>
        <p:txBody>
          <a:bodyPr wrap="square" lIns="25400" tIns="25400" rIns="25400" bIns="25400" rtlCol="0" anchor="ctr">
            <a:normAutofit/>
          </a:bodyPr>
          <a:lstStyle/>
          <a:p>
            <a:pPr marL="0" indent="0" algn="ctr">
              <a:buNone/>
            </a:pPr>
            <a:r>
              <a:rPr lang="en-US" sz="1350" b="1" dirty="0">
                <a:solidFill>
                  <a:srgbClr val="6FB3F2"/>
                </a:solidFill>
                <a:latin typeface="Arial" pitchFamily="34" charset="0"/>
                <a:ea typeface="Arial" pitchFamily="34" charset="-122"/>
                <a:cs typeface="Arial" pitchFamily="34" charset="-120"/>
              </a:rPr>
              <a:t>3</a:t>
            </a:r>
            <a:endParaRPr lang="en-US" sz="1350" dirty="0"/>
          </a:p>
        </p:txBody>
      </p:sp>
      <p:sp>
        <p:nvSpPr>
          <p:cNvPr id="87" name="Text 85"/>
          <p:cNvSpPr/>
          <p:nvPr/>
        </p:nvSpPr>
        <p:spPr>
          <a:xfrm>
            <a:off x="9725025" y="5819577"/>
            <a:ext cx="4263033"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Compute nearest-enemy distance (Euclidean)</a:t>
            </a:r>
            <a:endParaRPr lang="en-US" sz="1500" dirty="0"/>
          </a:p>
        </p:txBody>
      </p:sp>
      <p:sp>
        <p:nvSpPr>
          <p:cNvPr id="88" name="Shape 86"/>
          <p:cNvSpPr/>
          <p:nvPr/>
        </p:nvSpPr>
        <p:spPr>
          <a:xfrm>
            <a:off x="9258300" y="6210102"/>
            <a:ext cx="323850" cy="323850"/>
          </a:xfrm>
          <a:prstGeom prst="roundRect">
            <a:avLst>
              <a:gd name="adj" fmla="val 26471"/>
            </a:avLst>
          </a:prstGeom>
          <a:solidFill>
            <a:srgbClr val="3B8EE6">
              <a:alpha val="20000"/>
            </a:srgbClr>
          </a:solidFill>
          <a:ln w="12700">
            <a:solidFill>
              <a:srgbClr val="3B8EE6">
                <a:alpha val="50000"/>
              </a:srgbClr>
            </a:solidFill>
            <a:prstDash val="solid"/>
          </a:ln>
        </p:spPr>
        <p:txBody>
          <a:bodyPr/>
          <a:lstStyle/>
          <a:p>
            <a:endParaRPr lang="en-US"/>
          </a:p>
        </p:txBody>
      </p:sp>
      <p:sp>
        <p:nvSpPr>
          <p:cNvPr id="89" name="Text 87"/>
          <p:cNvSpPr/>
          <p:nvPr/>
        </p:nvSpPr>
        <p:spPr>
          <a:xfrm>
            <a:off x="9232900" y="6222802"/>
            <a:ext cx="374650" cy="336550"/>
          </a:xfrm>
          <a:prstGeom prst="rect">
            <a:avLst/>
          </a:prstGeom>
          <a:noFill/>
          <a:ln/>
        </p:spPr>
        <p:txBody>
          <a:bodyPr wrap="square" lIns="25400" tIns="25400" rIns="25400" bIns="25400" rtlCol="0" anchor="ctr">
            <a:normAutofit/>
          </a:bodyPr>
          <a:lstStyle/>
          <a:p>
            <a:pPr marL="0" indent="0" algn="ctr">
              <a:buNone/>
            </a:pPr>
            <a:r>
              <a:rPr lang="en-US" sz="1350" b="1" dirty="0">
                <a:solidFill>
                  <a:srgbClr val="6FB3F2"/>
                </a:solidFill>
                <a:latin typeface="Arial" pitchFamily="34" charset="0"/>
                <a:ea typeface="Arial" pitchFamily="34" charset="-122"/>
                <a:cs typeface="Arial" pitchFamily="34" charset="-120"/>
              </a:rPr>
              <a:t>4</a:t>
            </a:r>
            <a:endParaRPr lang="en-US" sz="1350" dirty="0"/>
          </a:p>
        </p:txBody>
      </p:sp>
      <p:sp>
        <p:nvSpPr>
          <p:cNvPr id="90" name="Text 88"/>
          <p:cNvSpPr/>
          <p:nvPr/>
        </p:nvSpPr>
        <p:spPr>
          <a:xfrm>
            <a:off x="9725025" y="6248202"/>
            <a:ext cx="4495721"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Feed into sliding-window extractor (1s / 5s / 30s)</a:t>
            </a:r>
            <a:endParaRPr lang="en-US" sz="1500" dirty="0"/>
          </a:p>
        </p:txBody>
      </p:sp>
      <p:sp>
        <p:nvSpPr>
          <p:cNvPr id="91" name="Shape 89"/>
          <p:cNvSpPr/>
          <p:nvPr/>
        </p:nvSpPr>
        <p:spPr>
          <a:xfrm>
            <a:off x="9258300" y="6638727"/>
            <a:ext cx="323850" cy="323850"/>
          </a:xfrm>
          <a:prstGeom prst="roundRect">
            <a:avLst>
              <a:gd name="adj" fmla="val 26471"/>
            </a:avLst>
          </a:prstGeom>
          <a:solidFill>
            <a:srgbClr val="34C27E">
              <a:alpha val="22000"/>
            </a:srgbClr>
          </a:solidFill>
          <a:ln w="12700">
            <a:solidFill>
              <a:srgbClr val="34C27E">
                <a:alpha val="55000"/>
              </a:srgbClr>
            </a:solidFill>
            <a:prstDash val="solid"/>
          </a:ln>
        </p:spPr>
        <p:txBody>
          <a:bodyPr/>
          <a:lstStyle/>
          <a:p>
            <a:endParaRPr lang="en-US"/>
          </a:p>
        </p:txBody>
      </p:sp>
      <p:sp>
        <p:nvSpPr>
          <p:cNvPr id="92" name="Text 90"/>
          <p:cNvSpPr/>
          <p:nvPr/>
        </p:nvSpPr>
        <p:spPr>
          <a:xfrm>
            <a:off x="9232900" y="6651427"/>
            <a:ext cx="374650" cy="336550"/>
          </a:xfrm>
          <a:prstGeom prst="rect">
            <a:avLst/>
          </a:prstGeom>
          <a:noFill/>
          <a:ln/>
        </p:spPr>
        <p:txBody>
          <a:bodyPr wrap="square" lIns="25400" tIns="25400" rIns="25400" bIns="25400" rtlCol="0" anchor="ctr">
            <a:normAutofit/>
          </a:bodyPr>
          <a:lstStyle/>
          <a:p>
            <a:pPr marL="0" indent="0" algn="ctr">
              <a:buNone/>
            </a:pPr>
            <a:r>
              <a:rPr lang="en-US" sz="1350" b="1" dirty="0">
                <a:solidFill>
                  <a:srgbClr val="5BD39A"/>
                </a:solidFill>
                <a:latin typeface="Arial" pitchFamily="34" charset="0"/>
                <a:ea typeface="Arial" pitchFamily="34" charset="-122"/>
                <a:cs typeface="Arial" pitchFamily="34" charset="-120"/>
              </a:rPr>
              <a:t>5</a:t>
            </a:r>
            <a:endParaRPr lang="en-US" sz="1350" dirty="0"/>
          </a:p>
        </p:txBody>
      </p:sp>
      <p:sp>
        <p:nvSpPr>
          <p:cNvPr id="93" name="Text 91"/>
          <p:cNvSpPr/>
          <p:nvPr/>
        </p:nvSpPr>
        <p:spPr>
          <a:xfrm>
            <a:off x="9725025" y="6676827"/>
            <a:ext cx="4962406"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Output: </a:t>
            </a:r>
            <a:r>
              <a:rPr lang="en-US" sz="1500" b="1" dirty="0">
                <a:solidFill>
                  <a:srgbClr val="FFFFFF"/>
                </a:solidFill>
                <a:latin typeface="Arial" pitchFamily="34" charset="0"/>
                <a:ea typeface="Arial" pitchFamily="34" charset="-122"/>
                <a:cs typeface="Arial" pitchFamily="34" charset="-120"/>
              </a:rPr>
              <a:t>18 features + cheat_label </a:t>
            </a:r>
            <a:r>
              <a:rPr lang="en-US" sz="1500" dirty="0">
                <a:solidFill>
                  <a:srgbClr val="D2DEEB"/>
                </a:solidFill>
                <a:latin typeface="Arial" pitchFamily="34" charset="0"/>
                <a:ea typeface="Arial" pitchFamily="34" charset="-122"/>
                <a:cs typeface="Arial" pitchFamily="34" charset="-120"/>
              </a:rPr>
              <a:t>= one training row</a:t>
            </a:r>
            <a:endParaRPr lang="en-US" sz="1500" dirty="0"/>
          </a:p>
        </p:txBody>
      </p:sp>
      <p:sp>
        <p:nvSpPr>
          <p:cNvPr id="94" name="Shape 92"/>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95" name="Text 93"/>
          <p:cNvSpPr/>
          <p:nvPr/>
        </p:nvSpPr>
        <p:spPr>
          <a:xfrm>
            <a:off x="5334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96" name="Text 94"/>
          <p:cNvSpPr/>
          <p:nvPr/>
        </p:nvSpPr>
        <p:spPr>
          <a:xfrm>
            <a:off x="172593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09 / 18</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0584E">
                  <a:alpha val="12000"/>
                </a:srgbClr>
              </a:gs>
              <a:gs pos="42000">
                <a:srgbClr val="F0584E">
                  <a:alpha val="0"/>
                </a:srgbClr>
              </a:gs>
            </a:gsLst>
            <a:path path="circle">
              <a:fillToRect l="12000" t="8000" r="88000" b="92000"/>
            </a:path>
          </a:gradFill>
          <a:ln/>
        </p:spPr>
        <p:txBody>
          <a:bodyPr/>
          <a:lstStyle/>
          <a:p>
            <a:endParaRPr lang="en-US"/>
          </a:p>
        </p:txBody>
      </p:sp>
      <p:sp>
        <p:nvSpPr>
          <p:cNvPr id="3" name="Shape 1"/>
          <p:cNvSpPr/>
          <p:nvPr/>
        </p:nvSpPr>
        <p:spPr>
          <a:xfrm>
            <a:off x="533400" y="373063"/>
            <a:ext cx="104775" cy="104775"/>
          </a:xfrm>
          <a:prstGeom prst="roundRect">
            <a:avLst>
              <a:gd name="adj" fmla="val 18182"/>
            </a:avLst>
          </a:prstGeom>
          <a:solidFill>
            <a:srgbClr val="F0584E"/>
          </a:solidFill>
          <a:ln/>
          <a:effectLst>
            <a:outerShdw blurRad="133350" dist="50800" dir="16200000" algn="bl" rotWithShape="0">
              <a:srgbClr val="F0584E">
                <a:alpha val="100000"/>
              </a:srgbClr>
            </a:outerShdw>
          </a:effectLst>
        </p:spPr>
        <p:txBody>
          <a:bodyPr/>
          <a:lstStyle/>
          <a:p>
            <a:endParaRPr lang="en-US"/>
          </a:p>
        </p:txBody>
      </p:sp>
      <p:sp>
        <p:nvSpPr>
          <p:cNvPr id="4" name="Text 2"/>
          <p:cNvSpPr/>
          <p:nvPr/>
        </p:nvSpPr>
        <p:spPr>
          <a:xfrm>
            <a:off x="752475" y="285750"/>
            <a:ext cx="2370753"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F47E76"/>
                </a:solidFill>
                <a:latin typeface="Arial" pitchFamily="34" charset="0"/>
                <a:ea typeface="Arial" pitchFamily="34" charset="-122"/>
                <a:cs typeface="Arial" pitchFamily="34" charset="-120"/>
              </a:rPr>
              <a:t>OBSERVABILITY</a:t>
            </a:r>
            <a:endParaRPr lang="en-US" sz="1500" dirty="0"/>
          </a:p>
        </p:txBody>
      </p:sp>
      <p:sp>
        <p:nvSpPr>
          <p:cNvPr id="5" name="Text 3"/>
          <p:cNvSpPr/>
          <p:nvPr/>
        </p:nvSpPr>
        <p:spPr>
          <a:xfrm>
            <a:off x="533400" y="660400"/>
            <a:ext cx="10311388" cy="514350"/>
          </a:xfrm>
          <a:prstGeom prst="rect">
            <a:avLst/>
          </a:prstGeom>
          <a:noFill/>
          <a:ln/>
        </p:spPr>
        <p:txBody>
          <a:bodyPr wrap="square" lIns="25400" tIns="25400" rIns="25400" bIns="25400" rtlCol="0" anchor="t">
            <a:normAutofit/>
          </a:bodyPr>
          <a:lstStyle/>
          <a:p>
            <a:pPr marL="0" indent="0" algn="l">
              <a:lnSpc>
                <a:spcPct val="100000"/>
              </a:lnSpc>
              <a:buNone/>
            </a:pPr>
            <a:r>
              <a:rPr lang="en-US" sz="3750" b="1" kern="0" spc="-37" dirty="0">
                <a:solidFill>
                  <a:srgbClr val="FFFFFF"/>
                </a:solidFill>
                <a:latin typeface="Arial" pitchFamily="34" charset="0"/>
                <a:ea typeface="Arial" pitchFamily="34" charset="-122"/>
                <a:cs typeface="Arial" pitchFamily="34" charset="-120"/>
              </a:rPr>
              <a:t>Grafana Dashboards: Before vs After</a:t>
            </a:r>
            <a:endParaRPr lang="en-US" sz="3750" dirty="0"/>
          </a:p>
        </p:txBody>
      </p:sp>
      <p:sp>
        <p:nvSpPr>
          <p:cNvPr id="6" name="Text 4"/>
          <p:cNvSpPr/>
          <p:nvPr/>
        </p:nvSpPr>
        <p:spPr>
          <a:xfrm>
            <a:off x="16089909" y="285750"/>
            <a:ext cx="1831162" cy="998141"/>
          </a:xfrm>
          <a:prstGeom prst="rect">
            <a:avLst/>
          </a:prstGeom>
          <a:noFill/>
          <a:ln/>
        </p:spPr>
        <p:txBody>
          <a:bodyPr wrap="square" lIns="25400" tIns="25400" rIns="25400" bIns="25400" rtlCol="0" anchor="t">
            <a:normAutofit/>
          </a:bodyPr>
          <a:lstStyle/>
          <a:p>
            <a:pPr marL="0" indent="0" algn="l">
              <a:lnSpc>
                <a:spcPct val="72000"/>
              </a:lnSpc>
              <a:buNone/>
            </a:pPr>
            <a:r>
              <a:rPr lang="en-US" sz="10500" b="1" kern="0" spc="-450" dirty="0">
                <a:solidFill>
                  <a:srgbClr val="FFFFFF">
                    <a:alpha val="5000"/>
                  </a:srgbClr>
                </a:solidFill>
                <a:latin typeface="Arial" pitchFamily="34" charset="0"/>
                <a:ea typeface="Arial" pitchFamily="34" charset="-122"/>
                <a:cs typeface="Arial" pitchFamily="34" charset="-120"/>
              </a:rPr>
              <a:t>10</a:t>
            </a:r>
            <a:endParaRPr lang="en-US" sz="10500" dirty="0"/>
          </a:p>
        </p:txBody>
      </p:sp>
      <p:sp>
        <p:nvSpPr>
          <p:cNvPr id="7" name="Shape 5"/>
          <p:cNvSpPr/>
          <p:nvPr/>
        </p:nvSpPr>
        <p:spPr>
          <a:xfrm>
            <a:off x="533400" y="1379141"/>
            <a:ext cx="17221200" cy="19050"/>
          </a:xfrm>
          <a:prstGeom prst="rect">
            <a:avLst/>
          </a:prstGeom>
          <a:gradFill rotWithShape="1">
            <a:gsLst>
              <a:gs pos="0">
                <a:srgbClr val="F0584E">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Shape 6"/>
          <p:cNvSpPr/>
          <p:nvPr/>
        </p:nvSpPr>
        <p:spPr>
          <a:xfrm>
            <a:off x="533400" y="1588691"/>
            <a:ext cx="8496300" cy="558800"/>
          </a:xfrm>
          <a:prstGeom prst="roundRect">
            <a:avLst>
              <a:gd name="adj" fmla="val 17045"/>
            </a:avLst>
          </a:prstGeom>
          <a:gradFill rotWithShape="1">
            <a:gsLst>
              <a:gs pos="0">
                <a:srgbClr val="28A86E">
                  <a:alpha val="100000"/>
                </a:srgbClr>
              </a:gs>
              <a:gs pos="100000">
                <a:srgbClr val="34C27E">
                  <a:alpha val="100000"/>
                </a:srgbClr>
              </a:gs>
            </a:gsLst>
            <a:lin ang="600000" scaled="0"/>
          </a:gradFill>
          <a:ln/>
        </p:spPr>
        <p:txBody>
          <a:bodyPr/>
          <a:lstStyle/>
          <a:p>
            <a:endParaRPr lang="en-US"/>
          </a:p>
        </p:txBody>
      </p:sp>
      <p:sp>
        <p:nvSpPr>
          <p:cNvPr id="9" name="Text 7"/>
          <p:cNvSpPr/>
          <p:nvPr/>
        </p:nvSpPr>
        <p:spPr>
          <a:xfrm>
            <a:off x="742950" y="1702991"/>
            <a:ext cx="8332089" cy="368300"/>
          </a:xfrm>
          <a:prstGeom prst="rect">
            <a:avLst/>
          </a:prstGeom>
          <a:noFill/>
          <a:ln/>
        </p:spPr>
        <p:txBody>
          <a:bodyPr wrap="square" lIns="25400" tIns="25400" rIns="25400" bIns="25400" rtlCol="0" anchor="t">
            <a:normAutofit/>
          </a:bodyPr>
          <a:lstStyle/>
          <a:p>
            <a:pPr marL="0" indent="0" algn="l">
              <a:buNone/>
            </a:pPr>
            <a:r>
              <a:rPr lang="en-US" sz="1800" b="1" dirty="0">
                <a:solidFill>
                  <a:srgbClr val="06231A"/>
                </a:solidFill>
                <a:latin typeface="Arial" pitchFamily="34" charset="0"/>
                <a:ea typeface="Arial" pitchFamily="34" charset="-122"/>
                <a:cs typeface="Arial" pitchFamily="34" charset="-120"/>
              </a:rPr>
              <a:t>Before - Clean Gameplay</a:t>
            </a:r>
            <a:endParaRPr lang="en-US" sz="1800" dirty="0"/>
          </a:p>
        </p:txBody>
      </p:sp>
      <p:sp>
        <p:nvSpPr>
          <p:cNvPr id="10" name="Shape 8"/>
          <p:cNvSpPr/>
          <p:nvPr/>
        </p:nvSpPr>
        <p:spPr>
          <a:xfrm>
            <a:off x="533400" y="2252266"/>
            <a:ext cx="8496300" cy="2247900"/>
          </a:xfrm>
          <a:prstGeom prst="roundRect">
            <a:avLst>
              <a:gd name="adj" fmla="val 5085"/>
            </a:avLst>
          </a:prstGeom>
          <a:solidFill>
            <a:srgbClr val="05080F"/>
          </a:solidFill>
          <a:ln w="12700">
            <a:solidFill>
              <a:srgbClr val="34C27E">
                <a:alpha val="40000"/>
              </a:srgbClr>
            </a:solidFill>
            <a:prstDash val="solid"/>
          </a:ln>
        </p:spPr>
        <p:txBody>
          <a:bodyPr/>
          <a:lstStyle/>
          <a:p>
            <a:endParaRPr lang="en-US"/>
          </a:p>
        </p:txBody>
      </p:sp>
      <p:pic>
        <p:nvPicPr>
          <p:cNvPr id="11" name="Image 0" descr="preencoded.png"/>
          <p:cNvPicPr>
            <a:picLocks noChangeAspect="1"/>
          </p:cNvPicPr>
          <p:nvPr/>
        </p:nvPicPr>
        <p:blipFill>
          <a:blip r:embed="rId3"/>
          <a:srcRect l="-2" r="-2"/>
          <a:stretch/>
        </p:blipFill>
        <p:spPr>
          <a:xfrm>
            <a:off x="2669381" y="2264966"/>
            <a:ext cx="4224139" cy="2222302"/>
          </a:xfrm>
          <a:prstGeom prst="rect">
            <a:avLst/>
          </a:prstGeom>
        </p:spPr>
      </p:pic>
      <p:sp>
        <p:nvSpPr>
          <p:cNvPr id="12" name="Text 9"/>
          <p:cNvSpPr/>
          <p:nvPr/>
        </p:nvSpPr>
        <p:spPr>
          <a:xfrm>
            <a:off x="533400" y="4604941"/>
            <a:ext cx="9345930" cy="252413"/>
          </a:xfrm>
          <a:prstGeom prst="rect">
            <a:avLst/>
          </a:prstGeom>
          <a:noFill/>
          <a:ln/>
        </p:spPr>
        <p:txBody>
          <a:bodyPr wrap="square" lIns="25400" tIns="25400" rIns="25400" bIns="25400" rtlCol="0" anchor="t">
            <a:normAutofit/>
          </a:bodyPr>
          <a:lstStyle/>
          <a:p>
            <a:pPr marL="0" indent="0" algn="l">
              <a:lnSpc>
                <a:spcPct val="125000"/>
              </a:lnSpc>
              <a:buNone/>
            </a:pPr>
            <a:r>
              <a:rPr lang="en-US" sz="1350" b="1" dirty="0">
                <a:solidFill>
                  <a:srgbClr val="FFFFFF"/>
                </a:solidFill>
                <a:latin typeface="Arial" pitchFamily="34" charset="0"/>
                <a:ea typeface="Arial" pitchFamily="34" charset="-122"/>
                <a:cs typeface="Arial" pitchFamily="34" charset="-120"/>
              </a:rPr>
              <a:t>Prediction Pie </a:t>
            </a:r>
            <a:r>
              <a:rPr lang="en-US" sz="1350" dirty="0">
                <a:solidFill>
                  <a:srgbClr val="C2D2E2"/>
                </a:solidFill>
                <a:latin typeface="Arial" pitchFamily="34" charset="0"/>
                <a:ea typeface="Arial" pitchFamily="34" charset="-122"/>
                <a:cs typeface="Arial" pitchFamily="34" charset="-120"/>
              </a:rPr>
              <a:t>- 100% green; XGBoost classifies all ticks clean</a:t>
            </a:r>
            <a:endParaRPr lang="en-US" sz="1350" dirty="0"/>
          </a:p>
        </p:txBody>
      </p:sp>
      <p:sp>
        <p:nvSpPr>
          <p:cNvPr id="13" name="Text 10"/>
          <p:cNvSpPr/>
          <p:nvPr/>
        </p:nvSpPr>
        <p:spPr>
          <a:xfrm>
            <a:off x="533400" y="4885929"/>
            <a:ext cx="9345930" cy="252413"/>
          </a:xfrm>
          <a:prstGeom prst="rect">
            <a:avLst/>
          </a:prstGeom>
          <a:noFill/>
          <a:ln/>
        </p:spPr>
        <p:txBody>
          <a:bodyPr wrap="square" lIns="25400" tIns="25400" rIns="25400" bIns="25400" rtlCol="0" anchor="t">
            <a:normAutofit/>
          </a:bodyPr>
          <a:lstStyle/>
          <a:p>
            <a:pPr marL="0" indent="0" algn="l">
              <a:lnSpc>
                <a:spcPct val="125000"/>
              </a:lnSpc>
              <a:buNone/>
            </a:pPr>
            <a:r>
              <a:rPr lang="en-US" sz="1350" b="1" dirty="0">
                <a:solidFill>
                  <a:srgbClr val="FFFFFF"/>
                </a:solidFill>
                <a:latin typeface="Arial" pitchFamily="34" charset="0"/>
                <a:ea typeface="Arial" pitchFamily="34" charset="-122"/>
                <a:cs typeface="Arial" pitchFamily="34" charset="-120"/>
              </a:rPr>
              <a:t>Rule + ML Alerts </a:t>
            </a:r>
            <a:r>
              <a:rPr lang="en-US" sz="1350" dirty="0">
                <a:solidFill>
                  <a:srgbClr val="C2D2E2"/>
                </a:solidFill>
                <a:latin typeface="Arial" pitchFamily="34" charset="0"/>
                <a:ea typeface="Arial" pitchFamily="34" charset="-122"/>
                <a:cs typeface="Arial" pitchFamily="34" charset="-120"/>
              </a:rPr>
              <a:t>- flat at 0; nothing above 95% confidence</a:t>
            </a:r>
            <a:endParaRPr lang="en-US" sz="1350" dirty="0"/>
          </a:p>
        </p:txBody>
      </p:sp>
      <p:sp>
        <p:nvSpPr>
          <p:cNvPr id="14" name="Text 11"/>
          <p:cNvSpPr/>
          <p:nvPr/>
        </p:nvSpPr>
        <p:spPr>
          <a:xfrm>
            <a:off x="533400" y="5166916"/>
            <a:ext cx="9345930" cy="252413"/>
          </a:xfrm>
          <a:prstGeom prst="rect">
            <a:avLst/>
          </a:prstGeom>
          <a:noFill/>
          <a:ln/>
        </p:spPr>
        <p:txBody>
          <a:bodyPr wrap="square" lIns="25400" tIns="25400" rIns="25400" bIns="25400" rtlCol="0" anchor="t">
            <a:normAutofit/>
          </a:bodyPr>
          <a:lstStyle/>
          <a:p>
            <a:pPr marL="0" indent="0" algn="l">
              <a:lnSpc>
                <a:spcPct val="125000"/>
              </a:lnSpc>
              <a:buNone/>
            </a:pPr>
            <a:r>
              <a:rPr lang="en-US" sz="1350" b="1" dirty="0">
                <a:solidFill>
                  <a:srgbClr val="FFFFFF"/>
                </a:solidFill>
                <a:latin typeface="Arial" pitchFamily="34" charset="0"/>
                <a:ea typeface="Arial" pitchFamily="34" charset="-122"/>
                <a:cs typeface="Arial" pitchFamily="34" charset="-120"/>
              </a:rPr>
              <a:t>Total Alert Rate </a:t>
            </a:r>
            <a:r>
              <a:rPr lang="en-US" sz="1350" dirty="0">
                <a:solidFill>
                  <a:srgbClr val="C2D2E2"/>
                </a:solidFill>
                <a:latin typeface="Arial" pitchFamily="34" charset="0"/>
                <a:ea typeface="Arial" pitchFamily="34" charset="-122"/>
                <a:cs typeface="Arial" pitchFamily="34" charset="-120"/>
              </a:rPr>
              <a:t>- green zone (0/min); fair play confirmed</a:t>
            </a:r>
            <a:endParaRPr lang="en-US" sz="1350" dirty="0"/>
          </a:p>
        </p:txBody>
      </p:sp>
      <p:sp>
        <p:nvSpPr>
          <p:cNvPr id="15" name="Text 12"/>
          <p:cNvSpPr/>
          <p:nvPr/>
        </p:nvSpPr>
        <p:spPr>
          <a:xfrm>
            <a:off x="533400" y="5447904"/>
            <a:ext cx="9345930" cy="252413"/>
          </a:xfrm>
          <a:prstGeom prst="rect">
            <a:avLst/>
          </a:prstGeom>
          <a:noFill/>
          <a:ln/>
        </p:spPr>
        <p:txBody>
          <a:bodyPr wrap="square" lIns="25400" tIns="25400" rIns="25400" bIns="25400" rtlCol="0" anchor="t">
            <a:normAutofit/>
          </a:bodyPr>
          <a:lstStyle/>
          <a:p>
            <a:pPr marL="0" indent="0" algn="l">
              <a:lnSpc>
                <a:spcPct val="125000"/>
              </a:lnSpc>
              <a:buNone/>
            </a:pPr>
            <a:r>
              <a:rPr lang="en-US" sz="1350" b="1" dirty="0">
                <a:solidFill>
                  <a:srgbClr val="FFFFFF"/>
                </a:solidFill>
                <a:latin typeface="Arial" pitchFamily="34" charset="0"/>
                <a:ea typeface="Arial" pitchFamily="34" charset="-122"/>
                <a:cs typeface="Arial" pitchFamily="34" charset="-120"/>
              </a:rPr>
              <a:t>Anomaly Heatmap </a:t>
            </a:r>
            <a:r>
              <a:rPr lang="en-US" sz="1350" dirty="0">
                <a:solidFill>
                  <a:srgbClr val="C2D2E2"/>
                </a:solidFill>
                <a:latin typeface="Arial" pitchFamily="34" charset="0"/>
                <a:ea typeface="Arial" pitchFamily="34" charset="-122"/>
                <a:cs typeface="Arial" pitchFamily="34" charset="-120"/>
              </a:rPr>
              <a:t>- cluster at 0.3–0.6; LSTM reconstructs well</a:t>
            </a:r>
            <a:endParaRPr lang="en-US" sz="1350" dirty="0"/>
          </a:p>
        </p:txBody>
      </p:sp>
      <p:sp>
        <p:nvSpPr>
          <p:cNvPr id="16" name="Shape 13"/>
          <p:cNvSpPr/>
          <p:nvPr/>
        </p:nvSpPr>
        <p:spPr>
          <a:xfrm>
            <a:off x="9258300" y="1588691"/>
            <a:ext cx="8496300" cy="558800"/>
          </a:xfrm>
          <a:prstGeom prst="roundRect">
            <a:avLst>
              <a:gd name="adj" fmla="val 17045"/>
            </a:avLst>
          </a:prstGeom>
          <a:gradFill rotWithShape="1">
            <a:gsLst>
              <a:gs pos="0">
                <a:srgbClr val="D6453D">
                  <a:alpha val="100000"/>
                </a:srgbClr>
              </a:gs>
              <a:gs pos="100000">
                <a:srgbClr val="F0584E">
                  <a:alpha val="100000"/>
                </a:srgbClr>
              </a:gs>
            </a:gsLst>
            <a:lin ang="600000" scaled="0"/>
          </a:gradFill>
          <a:ln/>
        </p:spPr>
        <p:txBody>
          <a:bodyPr/>
          <a:lstStyle/>
          <a:p>
            <a:endParaRPr lang="en-US"/>
          </a:p>
        </p:txBody>
      </p:sp>
      <p:sp>
        <p:nvSpPr>
          <p:cNvPr id="17" name="Text 14"/>
          <p:cNvSpPr/>
          <p:nvPr/>
        </p:nvSpPr>
        <p:spPr>
          <a:xfrm>
            <a:off x="9467850" y="1702991"/>
            <a:ext cx="8332089" cy="36830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Arial" pitchFamily="34" charset="0"/>
                <a:ea typeface="Arial" pitchFamily="34" charset="-122"/>
                <a:cs typeface="Arial" pitchFamily="34" charset="-120"/>
              </a:rPr>
              <a:t>After - Cheats Enabled (F5–F8)</a:t>
            </a:r>
            <a:endParaRPr lang="en-US" sz="1800" dirty="0"/>
          </a:p>
        </p:txBody>
      </p:sp>
      <p:sp>
        <p:nvSpPr>
          <p:cNvPr id="18" name="Shape 15"/>
          <p:cNvSpPr/>
          <p:nvPr/>
        </p:nvSpPr>
        <p:spPr>
          <a:xfrm>
            <a:off x="9258300" y="2252266"/>
            <a:ext cx="8496300" cy="2247900"/>
          </a:xfrm>
          <a:prstGeom prst="roundRect">
            <a:avLst>
              <a:gd name="adj" fmla="val 5085"/>
            </a:avLst>
          </a:prstGeom>
          <a:solidFill>
            <a:srgbClr val="05080F"/>
          </a:solidFill>
          <a:ln w="12700">
            <a:solidFill>
              <a:srgbClr val="F0584E">
                <a:alpha val="40000"/>
              </a:srgbClr>
            </a:solidFill>
            <a:prstDash val="solid"/>
          </a:ln>
        </p:spPr>
        <p:txBody>
          <a:bodyPr/>
          <a:lstStyle/>
          <a:p>
            <a:endParaRPr lang="en-US"/>
          </a:p>
        </p:txBody>
      </p:sp>
      <p:pic>
        <p:nvPicPr>
          <p:cNvPr id="19" name="Image 1" descr="preencoded.png"/>
          <p:cNvPicPr>
            <a:picLocks noChangeAspect="1"/>
          </p:cNvPicPr>
          <p:nvPr/>
        </p:nvPicPr>
        <p:blipFill>
          <a:blip r:embed="rId4"/>
          <a:srcRect l="-3" r="-3"/>
          <a:stretch/>
        </p:blipFill>
        <p:spPr>
          <a:xfrm>
            <a:off x="11368088" y="2264966"/>
            <a:ext cx="4276725" cy="2222302"/>
          </a:xfrm>
          <a:prstGeom prst="rect">
            <a:avLst/>
          </a:prstGeom>
        </p:spPr>
      </p:pic>
      <p:sp>
        <p:nvSpPr>
          <p:cNvPr id="20" name="Text 16"/>
          <p:cNvSpPr/>
          <p:nvPr/>
        </p:nvSpPr>
        <p:spPr>
          <a:xfrm>
            <a:off x="9258300" y="4604941"/>
            <a:ext cx="9345930" cy="252413"/>
          </a:xfrm>
          <a:prstGeom prst="rect">
            <a:avLst/>
          </a:prstGeom>
          <a:noFill/>
          <a:ln/>
        </p:spPr>
        <p:txBody>
          <a:bodyPr wrap="square" lIns="25400" tIns="25400" rIns="25400" bIns="25400" rtlCol="0" anchor="t">
            <a:normAutofit/>
          </a:bodyPr>
          <a:lstStyle/>
          <a:p>
            <a:pPr marL="0" indent="0" algn="l">
              <a:lnSpc>
                <a:spcPct val="125000"/>
              </a:lnSpc>
              <a:buNone/>
            </a:pPr>
            <a:r>
              <a:rPr lang="en-US" sz="1350" b="1" dirty="0">
                <a:solidFill>
                  <a:srgbClr val="FFFFFF"/>
                </a:solidFill>
                <a:latin typeface="Arial" pitchFamily="34" charset="0"/>
                <a:ea typeface="Arial" pitchFamily="34" charset="-122"/>
                <a:cs typeface="Arial" pitchFamily="34" charset="-120"/>
              </a:rPr>
              <a:t>Prediction Pie </a:t>
            </a:r>
            <a:r>
              <a:rPr lang="en-US" sz="1350" dirty="0">
                <a:solidFill>
                  <a:srgbClr val="C2D2E2"/>
                </a:solidFill>
                <a:latin typeface="Arial" pitchFamily="34" charset="0"/>
                <a:ea typeface="Arial" pitchFamily="34" charset="-122"/>
                <a:cs typeface="Arial" pitchFamily="34" charset="-120"/>
              </a:rPr>
              <a:t>- red slice grows; XGBoost detects ≥ 95% confidence</a:t>
            </a:r>
            <a:endParaRPr lang="en-US" sz="1350" dirty="0"/>
          </a:p>
        </p:txBody>
      </p:sp>
      <p:sp>
        <p:nvSpPr>
          <p:cNvPr id="21" name="Text 17"/>
          <p:cNvSpPr/>
          <p:nvPr/>
        </p:nvSpPr>
        <p:spPr>
          <a:xfrm>
            <a:off x="9258300" y="4885929"/>
            <a:ext cx="9345930" cy="252413"/>
          </a:xfrm>
          <a:prstGeom prst="rect">
            <a:avLst/>
          </a:prstGeom>
          <a:noFill/>
          <a:ln/>
        </p:spPr>
        <p:txBody>
          <a:bodyPr wrap="square" lIns="25400" tIns="25400" rIns="25400" bIns="25400" rtlCol="0" anchor="t">
            <a:normAutofit/>
          </a:bodyPr>
          <a:lstStyle/>
          <a:p>
            <a:pPr marL="0" indent="0" algn="l">
              <a:lnSpc>
                <a:spcPct val="125000"/>
              </a:lnSpc>
              <a:buNone/>
            </a:pPr>
            <a:r>
              <a:rPr lang="en-US" sz="1350" b="1" dirty="0">
                <a:solidFill>
                  <a:srgbClr val="FFFFFF"/>
                </a:solidFill>
                <a:latin typeface="Arial" pitchFamily="34" charset="0"/>
                <a:ea typeface="Arial" pitchFamily="34" charset="-122"/>
                <a:cs typeface="Arial" pitchFamily="34" charset="-120"/>
              </a:rPr>
              <a:t>Rule + ML Alerts </a:t>
            </a:r>
            <a:r>
              <a:rPr lang="en-US" sz="1350" dirty="0">
                <a:solidFill>
                  <a:srgbClr val="C2D2E2"/>
                </a:solidFill>
                <a:latin typeface="Arial" pitchFamily="34" charset="0"/>
                <a:ea typeface="Arial" pitchFamily="34" charset="-122"/>
                <a:cs typeface="Arial" pitchFamily="34" charset="-120"/>
              </a:rPr>
              <a:t>- bars spike; speed_cap, aim_snap + ensemble fire</a:t>
            </a:r>
            <a:endParaRPr lang="en-US" sz="1350" dirty="0"/>
          </a:p>
        </p:txBody>
      </p:sp>
      <p:sp>
        <p:nvSpPr>
          <p:cNvPr id="22" name="Text 18"/>
          <p:cNvSpPr/>
          <p:nvPr/>
        </p:nvSpPr>
        <p:spPr>
          <a:xfrm>
            <a:off x="9258300" y="5166916"/>
            <a:ext cx="9345930" cy="252413"/>
          </a:xfrm>
          <a:prstGeom prst="rect">
            <a:avLst/>
          </a:prstGeom>
          <a:noFill/>
          <a:ln/>
        </p:spPr>
        <p:txBody>
          <a:bodyPr wrap="square" lIns="25400" tIns="25400" rIns="25400" bIns="25400" rtlCol="0" anchor="t">
            <a:normAutofit/>
          </a:bodyPr>
          <a:lstStyle/>
          <a:p>
            <a:pPr marL="0" indent="0" algn="l">
              <a:lnSpc>
                <a:spcPct val="125000"/>
              </a:lnSpc>
              <a:buNone/>
            </a:pPr>
            <a:r>
              <a:rPr lang="en-US" sz="1350" b="1" dirty="0">
                <a:solidFill>
                  <a:srgbClr val="FFFFFF"/>
                </a:solidFill>
                <a:latin typeface="Arial" pitchFamily="34" charset="0"/>
                <a:ea typeface="Arial" pitchFamily="34" charset="-122"/>
                <a:cs typeface="Arial" pitchFamily="34" charset="-120"/>
              </a:rPr>
              <a:t>Total Alert Rate </a:t>
            </a:r>
            <a:r>
              <a:rPr lang="en-US" sz="1350" dirty="0">
                <a:solidFill>
                  <a:srgbClr val="C2D2E2"/>
                </a:solidFill>
                <a:latin typeface="Arial" pitchFamily="34" charset="0"/>
                <a:ea typeface="Arial" pitchFamily="34" charset="-122"/>
                <a:cs typeface="Arial" pitchFamily="34" charset="-120"/>
              </a:rPr>
              <a:t>- red zone (50+/min); layers converging</a:t>
            </a:r>
            <a:endParaRPr lang="en-US" sz="1350" dirty="0"/>
          </a:p>
        </p:txBody>
      </p:sp>
      <p:sp>
        <p:nvSpPr>
          <p:cNvPr id="23" name="Text 19"/>
          <p:cNvSpPr/>
          <p:nvPr/>
        </p:nvSpPr>
        <p:spPr>
          <a:xfrm>
            <a:off x="9258300" y="5447904"/>
            <a:ext cx="9345930" cy="252413"/>
          </a:xfrm>
          <a:prstGeom prst="rect">
            <a:avLst/>
          </a:prstGeom>
          <a:noFill/>
          <a:ln/>
        </p:spPr>
        <p:txBody>
          <a:bodyPr wrap="square" lIns="25400" tIns="25400" rIns="25400" bIns="25400" rtlCol="0" anchor="t">
            <a:normAutofit/>
          </a:bodyPr>
          <a:lstStyle/>
          <a:p>
            <a:pPr marL="0" indent="0" algn="l">
              <a:lnSpc>
                <a:spcPct val="125000"/>
              </a:lnSpc>
              <a:buNone/>
            </a:pPr>
            <a:r>
              <a:rPr lang="en-US" sz="1350" b="1" dirty="0">
                <a:solidFill>
                  <a:srgbClr val="FFFFFF"/>
                </a:solidFill>
                <a:latin typeface="Arial" pitchFamily="34" charset="0"/>
                <a:ea typeface="Arial" pitchFamily="34" charset="-122"/>
                <a:cs typeface="Arial" pitchFamily="34" charset="-120"/>
              </a:rPr>
              <a:t>Anomaly Heatmap </a:t>
            </a:r>
            <a:r>
              <a:rPr lang="en-US" sz="1350" dirty="0">
                <a:solidFill>
                  <a:srgbClr val="C2D2E2"/>
                </a:solidFill>
                <a:latin typeface="Arial" pitchFamily="34" charset="0"/>
                <a:ea typeface="Arial" pitchFamily="34" charset="-122"/>
                <a:cs typeface="Arial" pitchFamily="34" charset="-120"/>
              </a:rPr>
              <a:t>- scores shift to 2.0–10.0+; LSTM can't reconstruct</a:t>
            </a:r>
            <a:endParaRPr lang="en-US" sz="1350" dirty="0"/>
          </a:p>
        </p:txBody>
      </p:sp>
      <p:sp>
        <p:nvSpPr>
          <p:cNvPr id="24" name="Shape 20"/>
          <p:cNvSpPr/>
          <p:nvPr/>
        </p:nvSpPr>
        <p:spPr>
          <a:xfrm>
            <a:off x="533400" y="9093200"/>
            <a:ext cx="17221200" cy="552450"/>
          </a:xfrm>
          <a:prstGeom prst="roundRect">
            <a:avLst>
              <a:gd name="adj" fmla="val 20690"/>
            </a:avLst>
          </a:prstGeom>
          <a:gradFill rotWithShape="1">
            <a:gsLst>
              <a:gs pos="0">
                <a:srgbClr val="F0584E">
                  <a:alpha val="16000"/>
                </a:srgbClr>
              </a:gs>
              <a:gs pos="100000">
                <a:srgbClr val="FFFFFF">
                  <a:alpha val="3000"/>
                </a:srgbClr>
              </a:gs>
            </a:gsLst>
            <a:lin ang="0" scaled="0"/>
          </a:gradFill>
          <a:ln w="12700">
            <a:solidFill>
              <a:srgbClr val="FFFFFF">
                <a:alpha val="10000"/>
              </a:srgbClr>
            </a:solidFill>
            <a:prstDash val="solid"/>
          </a:ln>
        </p:spPr>
        <p:txBody>
          <a:bodyPr/>
          <a:lstStyle/>
          <a:p>
            <a:endParaRPr lang="en-US"/>
          </a:p>
        </p:txBody>
      </p:sp>
      <p:sp>
        <p:nvSpPr>
          <p:cNvPr id="25" name="Text 21"/>
          <p:cNvSpPr/>
          <p:nvPr/>
        </p:nvSpPr>
        <p:spPr>
          <a:xfrm>
            <a:off x="774700" y="9248775"/>
            <a:ext cx="1427996" cy="279400"/>
          </a:xfrm>
          <a:prstGeom prst="rect">
            <a:avLst/>
          </a:prstGeom>
          <a:noFill/>
          <a:ln/>
        </p:spPr>
        <p:txBody>
          <a:bodyPr wrap="square" lIns="25400" tIns="25400" rIns="25400" bIns="25400" rtlCol="0" anchor="t">
            <a:normAutofit/>
          </a:bodyPr>
          <a:lstStyle/>
          <a:p>
            <a:pPr marL="0" indent="0" algn="l">
              <a:buNone/>
            </a:pPr>
            <a:r>
              <a:rPr lang="en-US" sz="1350" b="1" kern="0" spc="75" dirty="0">
                <a:solidFill>
                  <a:srgbClr val="F47E76"/>
                </a:solidFill>
                <a:latin typeface="Arial" pitchFamily="34" charset="0"/>
                <a:ea typeface="Arial" pitchFamily="34" charset="-122"/>
                <a:cs typeface="Arial" pitchFamily="34" charset="-120"/>
              </a:rPr>
              <a:t>KEY PromQL</a:t>
            </a:r>
            <a:endParaRPr lang="en-US" sz="1350" dirty="0"/>
          </a:p>
        </p:txBody>
      </p:sp>
      <p:sp>
        <p:nvSpPr>
          <p:cNvPr id="26" name="Text 22"/>
          <p:cNvSpPr/>
          <p:nvPr/>
        </p:nvSpPr>
        <p:spPr>
          <a:xfrm>
            <a:off x="2225278" y="9274175"/>
            <a:ext cx="3634383" cy="228600"/>
          </a:xfrm>
          <a:prstGeom prst="rect">
            <a:avLst/>
          </a:prstGeom>
          <a:noFill/>
          <a:ln/>
        </p:spPr>
        <p:txBody>
          <a:bodyPr wrap="square" lIns="25400" tIns="25400" rIns="25400" bIns="25400" rtlCol="0" anchor="t">
            <a:normAutofit/>
          </a:bodyPr>
          <a:lstStyle/>
          <a:p>
            <a:pPr marL="0" indent="0" algn="l">
              <a:buNone/>
            </a:pPr>
            <a:r>
              <a:rPr lang="en-US" sz="1275" dirty="0">
                <a:solidFill>
                  <a:srgbClr val="D2DEEB"/>
                </a:solidFill>
                <a:latin typeface="Courier New" pitchFamily="34" charset="0"/>
                <a:ea typeface="Courier New" pitchFamily="34" charset="-122"/>
                <a:cs typeface="Courier New" pitchFamily="34" charset="-120"/>
              </a:rPr>
              <a:t>increase(ml_predictions_total[5m])</a:t>
            </a:r>
            <a:endParaRPr lang="en-US" sz="1275" dirty="0"/>
          </a:p>
        </p:txBody>
      </p:sp>
      <p:sp>
        <p:nvSpPr>
          <p:cNvPr id="27" name="Text 23"/>
          <p:cNvSpPr/>
          <p:nvPr/>
        </p:nvSpPr>
        <p:spPr>
          <a:xfrm>
            <a:off x="5681663" y="9280525"/>
            <a:ext cx="127000" cy="215900"/>
          </a:xfrm>
          <a:prstGeom prst="rect">
            <a:avLst/>
          </a:prstGeom>
          <a:noFill/>
          <a:ln/>
        </p:spPr>
        <p:txBody>
          <a:bodyPr wrap="square" lIns="25400" tIns="25400" rIns="25400" bIns="25400" rtlCol="0" anchor="t">
            <a:normAutofit/>
          </a:bodyPr>
          <a:lstStyle/>
          <a:p>
            <a:pPr marL="0" indent="0" algn="l">
              <a:buNone/>
            </a:pPr>
            <a:r>
              <a:rPr lang="en-US" sz="1200" dirty="0">
                <a:solidFill>
                  <a:srgbClr val="56708A"/>
                </a:solidFill>
                <a:latin typeface="Arial" pitchFamily="34" charset="0"/>
                <a:ea typeface="Arial" pitchFamily="34" charset="-122"/>
                <a:cs typeface="Arial" pitchFamily="34" charset="-120"/>
              </a:rPr>
              <a:t>·</a:t>
            </a:r>
            <a:endParaRPr lang="en-US" sz="1200" dirty="0"/>
          </a:p>
        </p:txBody>
      </p:sp>
      <p:sp>
        <p:nvSpPr>
          <p:cNvPr id="28" name="Text 24"/>
          <p:cNvSpPr/>
          <p:nvPr/>
        </p:nvSpPr>
        <p:spPr>
          <a:xfrm>
            <a:off x="5884863" y="9274175"/>
            <a:ext cx="3955038" cy="228600"/>
          </a:xfrm>
          <a:prstGeom prst="rect">
            <a:avLst/>
          </a:prstGeom>
          <a:noFill/>
          <a:ln/>
        </p:spPr>
        <p:txBody>
          <a:bodyPr wrap="square" lIns="25400" tIns="25400" rIns="25400" bIns="25400" rtlCol="0" anchor="t">
            <a:normAutofit/>
          </a:bodyPr>
          <a:lstStyle/>
          <a:p>
            <a:pPr marL="0" indent="0" algn="l">
              <a:buNone/>
            </a:pPr>
            <a:r>
              <a:rPr lang="en-US" sz="1275" dirty="0">
                <a:solidFill>
                  <a:srgbClr val="D2DEEB"/>
                </a:solidFill>
                <a:latin typeface="Courier New" pitchFamily="34" charset="0"/>
                <a:ea typeface="Courier New" pitchFamily="34" charset="-122"/>
                <a:cs typeface="Courier New" pitchFamily="34" charset="-120"/>
              </a:rPr>
              <a:t>rate(rule_alerts_total[1m]) by (rule)</a:t>
            </a:r>
            <a:endParaRPr lang="en-US" sz="1275" dirty="0"/>
          </a:p>
        </p:txBody>
      </p:sp>
      <p:sp>
        <p:nvSpPr>
          <p:cNvPr id="29" name="Text 25"/>
          <p:cNvSpPr/>
          <p:nvPr/>
        </p:nvSpPr>
        <p:spPr>
          <a:xfrm>
            <a:off x="9632752" y="9280525"/>
            <a:ext cx="127000" cy="215900"/>
          </a:xfrm>
          <a:prstGeom prst="rect">
            <a:avLst/>
          </a:prstGeom>
          <a:noFill/>
          <a:ln/>
        </p:spPr>
        <p:txBody>
          <a:bodyPr wrap="square" lIns="25400" tIns="25400" rIns="25400" bIns="25400" rtlCol="0" anchor="t">
            <a:normAutofit/>
          </a:bodyPr>
          <a:lstStyle/>
          <a:p>
            <a:pPr marL="0" indent="0" algn="l">
              <a:buNone/>
            </a:pPr>
            <a:r>
              <a:rPr lang="en-US" sz="1200" dirty="0">
                <a:solidFill>
                  <a:srgbClr val="56708A"/>
                </a:solidFill>
                <a:latin typeface="Arial" pitchFamily="34" charset="0"/>
                <a:ea typeface="Arial" pitchFamily="34" charset="-122"/>
                <a:cs typeface="Arial" pitchFamily="34" charset="-120"/>
              </a:rPr>
              <a:t>·</a:t>
            </a:r>
            <a:endParaRPr lang="en-US" sz="1200" dirty="0"/>
          </a:p>
        </p:txBody>
      </p:sp>
      <p:sp>
        <p:nvSpPr>
          <p:cNvPr id="30" name="Text 26"/>
          <p:cNvSpPr/>
          <p:nvPr/>
        </p:nvSpPr>
        <p:spPr>
          <a:xfrm>
            <a:off x="9835952" y="9274175"/>
            <a:ext cx="3741122" cy="228600"/>
          </a:xfrm>
          <a:prstGeom prst="rect">
            <a:avLst/>
          </a:prstGeom>
          <a:noFill/>
          <a:ln/>
        </p:spPr>
        <p:txBody>
          <a:bodyPr wrap="square" lIns="25400" tIns="25400" rIns="25400" bIns="25400" rtlCol="0" anchor="t">
            <a:normAutofit/>
          </a:bodyPr>
          <a:lstStyle/>
          <a:p>
            <a:pPr marL="0" indent="0" algn="l">
              <a:buNone/>
            </a:pPr>
            <a:r>
              <a:rPr lang="en-US" sz="1275" dirty="0">
                <a:solidFill>
                  <a:srgbClr val="D2DEEB"/>
                </a:solidFill>
                <a:latin typeface="Courier New" pitchFamily="34" charset="0"/>
                <a:ea typeface="Courier New" pitchFamily="34" charset="-122"/>
                <a:cs typeface="Courier New" pitchFamily="34" charset="-120"/>
              </a:rPr>
              <a:t>sum(rate(ml_alerts_total[1m])) * 60</a:t>
            </a:r>
            <a:endParaRPr lang="en-US" sz="1275" dirty="0"/>
          </a:p>
        </p:txBody>
      </p:sp>
      <p:sp>
        <p:nvSpPr>
          <p:cNvPr id="31" name="Text 27"/>
          <p:cNvSpPr/>
          <p:nvPr/>
        </p:nvSpPr>
        <p:spPr>
          <a:xfrm>
            <a:off x="13389372" y="9280525"/>
            <a:ext cx="127000" cy="215900"/>
          </a:xfrm>
          <a:prstGeom prst="rect">
            <a:avLst/>
          </a:prstGeom>
          <a:noFill/>
          <a:ln/>
        </p:spPr>
        <p:txBody>
          <a:bodyPr wrap="square" lIns="25400" tIns="25400" rIns="25400" bIns="25400" rtlCol="0" anchor="t">
            <a:normAutofit/>
          </a:bodyPr>
          <a:lstStyle/>
          <a:p>
            <a:pPr marL="0" indent="0" algn="l">
              <a:buNone/>
            </a:pPr>
            <a:r>
              <a:rPr lang="en-US" sz="1200" dirty="0">
                <a:solidFill>
                  <a:srgbClr val="56708A"/>
                </a:solidFill>
                <a:latin typeface="Arial" pitchFamily="34" charset="0"/>
                <a:ea typeface="Arial" pitchFamily="34" charset="-122"/>
                <a:cs typeface="Arial" pitchFamily="34" charset="-120"/>
              </a:rPr>
              <a:t>·</a:t>
            </a:r>
            <a:endParaRPr lang="en-US" sz="1200" dirty="0"/>
          </a:p>
        </p:txBody>
      </p:sp>
      <p:sp>
        <p:nvSpPr>
          <p:cNvPr id="32" name="Text 28"/>
          <p:cNvSpPr/>
          <p:nvPr/>
        </p:nvSpPr>
        <p:spPr>
          <a:xfrm>
            <a:off x="13592573" y="9274175"/>
            <a:ext cx="3741122" cy="228600"/>
          </a:xfrm>
          <a:prstGeom prst="rect">
            <a:avLst/>
          </a:prstGeom>
          <a:noFill/>
          <a:ln/>
        </p:spPr>
        <p:txBody>
          <a:bodyPr wrap="square" lIns="25400" tIns="25400" rIns="25400" bIns="25400" rtlCol="0" anchor="t">
            <a:normAutofit/>
          </a:bodyPr>
          <a:lstStyle/>
          <a:p>
            <a:pPr marL="0" indent="0" algn="l">
              <a:buNone/>
            </a:pPr>
            <a:r>
              <a:rPr lang="en-US" sz="1275" dirty="0">
                <a:solidFill>
                  <a:srgbClr val="D2DEEB"/>
                </a:solidFill>
                <a:latin typeface="Courier New" pitchFamily="34" charset="0"/>
                <a:ea typeface="Courier New" pitchFamily="34" charset="-122"/>
                <a:cs typeface="Courier New" pitchFamily="34" charset="-120"/>
              </a:rPr>
              <a:t>ml_autoencoder_anomaly_score_bucket</a:t>
            </a:r>
            <a:endParaRPr lang="en-US" sz="1275" dirty="0"/>
          </a:p>
        </p:txBody>
      </p:sp>
      <p:sp>
        <p:nvSpPr>
          <p:cNvPr id="33" name="Shape 29"/>
          <p:cNvSpPr/>
          <p:nvPr/>
        </p:nvSpPr>
        <p:spPr>
          <a:xfrm>
            <a:off x="0" y="9817101"/>
            <a:ext cx="18288000" cy="12700"/>
          </a:xfrm>
          <a:prstGeom prst="rect">
            <a:avLst/>
          </a:prstGeom>
          <a:solidFill>
            <a:srgbClr val="FFFFFF">
              <a:alpha val="8000"/>
            </a:srgbClr>
          </a:solidFill>
          <a:ln/>
        </p:spPr>
        <p:txBody>
          <a:bodyPr/>
          <a:lstStyle/>
          <a:p>
            <a:endParaRPr lang="en-US"/>
          </a:p>
        </p:txBody>
      </p:sp>
      <p:sp>
        <p:nvSpPr>
          <p:cNvPr id="34" name="Text 30"/>
          <p:cNvSpPr/>
          <p:nvPr/>
        </p:nvSpPr>
        <p:spPr>
          <a:xfrm>
            <a:off x="533400" y="996315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35" name="Text 31"/>
          <p:cNvSpPr/>
          <p:nvPr/>
        </p:nvSpPr>
        <p:spPr>
          <a:xfrm>
            <a:off x="17259300" y="996315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10 / 18</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609600" y="411163"/>
            <a:ext cx="104775" cy="104775"/>
          </a:xfrm>
          <a:prstGeom prst="roundRect">
            <a:avLst>
              <a:gd name="adj" fmla="val 18182"/>
            </a:avLst>
          </a:prstGeom>
          <a:solidFill>
            <a:srgbClr val="34C27E"/>
          </a:solidFill>
          <a:ln/>
          <a:effectLst>
            <a:outerShdw blurRad="133350" dist="50800" dir="16200000" algn="bl" rotWithShape="0">
              <a:srgbClr val="34C27E">
                <a:alpha val="100000"/>
              </a:srgbClr>
            </a:outerShdw>
          </a:effectLst>
        </p:spPr>
        <p:txBody>
          <a:bodyPr/>
          <a:lstStyle/>
          <a:p>
            <a:endParaRPr lang="en-US"/>
          </a:p>
        </p:txBody>
      </p:sp>
      <p:sp>
        <p:nvSpPr>
          <p:cNvPr id="4" name="Text 2"/>
          <p:cNvSpPr/>
          <p:nvPr/>
        </p:nvSpPr>
        <p:spPr>
          <a:xfrm>
            <a:off x="828675" y="323850"/>
            <a:ext cx="1622266"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5BD39A"/>
                </a:solidFill>
                <a:latin typeface="Arial" pitchFamily="34" charset="0"/>
                <a:ea typeface="Arial" pitchFamily="34" charset="-122"/>
                <a:cs typeface="Arial" pitchFamily="34" charset="-120"/>
              </a:rPr>
              <a:t>LIVE DEMO</a:t>
            </a:r>
            <a:endParaRPr lang="en-US" sz="1500" dirty="0"/>
          </a:p>
        </p:txBody>
      </p:sp>
      <p:sp>
        <p:nvSpPr>
          <p:cNvPr id="5" name="Text 3"/>
          <p:cNvSpPr/>
          <p:nvPr/>
        </p:nvSpPr>
        <p:spPr>
          <a:xfrm>
            <a:off x="609600" y="708025"/>
            <a:ext cx="9850815"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Real-Time Detection, End-to-End</a:t>
            </a:r>
            <a:endParaRPr lang="en-US" sz="4050" dirty="0"/>
          </a:p>
        </p:txBody>
      </p:sp>
      <p:sp>
        <p:nvSpPr>
          <p:cNvPr id="6" name="Text 4"/>
          <p:cNvSpPr/>
          <p:nvPr/>
        </p:nvSpPr>
        <p:spPr>
          <a:xfrm>
            <a:off x="158867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11</a:t>
            </a:r>
            <a:endParaRPr lang="en-US" sz="11250" dirty="0"/>
          </a:p>
        </p:txBody>
      </p:sp>
      <p:sp>
        <p:nvSpPr>
          <p:cNvPr id="7" name="Shape 5"/>
          <p:cNvSpPr/>
          <p:nvPr/>
        </p:nvSpPr>
        <p:spPr>
          <a:xfrm>
            <a:off x="609600" y="1504950"/>
            <a:ext cx="17068800" cy="19050"/>
          </a:xfrm>
          <a:prstGeom prst="rect">
            <a:avLst/>
          </a:prstGeom>
          <a:gradFill rotWithShape="1">
            <a:gsLst>
              <a:gs pos="0">
                <a:srgbClr val="34C27E">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Shape 6"/>
          <p:cNvSpPr/>
          <p:nvPr/>
        </p:nvSpPr>
        <p:spPr>
          <a:xfrm>
            <a:off x="609600" y="1771650"/>
            <a:ext cx="4608314" cy="1827213"/>
          </a:xfrm>
          <a:prstGeom prst="roundRect">
            <a:avLst>
              <a:gd name="adj" fmla="val 6255"/>
            </a:avLst>
          </a:prstGeom>
          <a:solidFill>
            <a:srgbClr val="FFFFFF">
              <a:alpha val="4000"/>
            </a:srgbClr>
          </a:solidFill>
          <a:ln w="12700">
            <a:solidFill>
              <a:srgbClr val="FFFFFF">
                <a:alpha val="10000"/>
              </a:srgbClr>
            </a:solidFill>
            <a:prstDash val="solid"/>
          </a:ln>
        </p:spPr>
        <p:txBody>
          <a:bodyPr/>
          <a:lstStyle/>
          <a:p>
            <a:endParaRPr lang="en-US"/>
          </a:p>
        </p:txBody>
      </p:sp>
      <p:sp>
        <p:nvSpPr>
          <p:cNvPr id="9" name="Shape 7"/>
          <p:cNvSpPr/>
          <p:nvPr/>
        </p:nvSpPr>
        <p:spPr>
          <a:xfrm>
            <a:off x="812800" y="2466181"/>
            <a:ext cx="438150" cy="438150"/>
          </a:xfrm>
          <a:prstGeom prst="roundRect">
            <a:avLst>
              <a:gd name="adj" fmla="val 23913"/>
            </a:avLst>
          </a:prstGeom>
          <a:solidFill>
            <a:srgbClr val="3B8EE6">
              <a:alpha val="20000"/>
            </a:srgbClr>
          </a:solidFill>
          <a:ln w="12700">
            <a:solidFill>
              <a:srgbClr val="3B8EE6">
                <a:alpha val="50000"/>
              </a:srgbClr>
            </a:solidFill>
            <a:prstDash val="solid"/>
          </a:ln>
        </p:spPr>
        <p:txBody>
          <a:bodyPr/>
          <a:lstStyle/>
          <a:p>
            <a:endParaRPr lang="en-US"/>
          </a:p>
        </p:txBody>
      </p:sp>
      <p:sp>
        <p:nvSpPr>
          <p:cNvPr id="10" name="Text 8"/>
          <p:cNvSpPr/>
          <p:nvPr/>
        </p:nvSpPr>
        <p:spPr>
          <a:xfrm>
            <a:off x="787400" y="2478881"/>
            <a:ext cx="488950" cy="450850"/>
          </a:xfrm>
          <a:prstGeom prst="rect">
            <a:avLst/>
          </a:prstGeom>
          <a:noFill/>
          <a:ln/>
        </p:spPr>
        <p:txBody>
          <a:bodyPr wrap="square" lIns="25400" tIns="25400" rIns="25400" bIns="25400" rtlCol="0" anchor="ctr">
            <a:normAutofit/>
          </a:bodyPr>
          <a:lstStyle/>
          <a:p>
            <a:pPr marL="0" indent="0" algn="ctr">
              <a:buNone/>
            </a:pPr>
            <a:r>
              <a:rPr lang="en-US" sz="1725" b="1" dirty="0">
                <a:solidFill>
                  <a:srgbClr val="6FB3F2"/>
                </a:solidFill>
                <a:latin typeface="Arial" pitchFamily="34" charset="0"/>
                <a:ea typeface="Arial" pitchFamily="34" charset="-122"/>
                <a:cs typeface="Arial" pitchFamily="34" charset="-120"/>
              </a:rPr>
              <a:t>1</a:t>
            </a:r>
            <a:endParaRPr lang="en-US" sz="1725" dirty="0"/>
          </a:p>
        </p:txBody>
      </p:sp>
      <p:sp>
        <p:nvSpPr>
          <p:cNvPr id="11" name="Text 9"/>
          <p:cNvSpPr/>
          <p:nvPr/>
        </p:nvSpPr>
        <p:spPr>
          <a:xfrm>
            <a:off x="1403350" y="2418953"/>
            <a:ext cx="3719705" cy="570706"/>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Open game client at </a:t>
            </a:r>
            <a:r>
              <a:rPr lang="en-US" sz="1575" dirty="0">
                <a:solidFill>
                  <a:srgbClr val="FFFFFF"/>
                </a:solidFill>
                <a:latin typeface="Courier New" pitchFamily="34" charset="0"/>
                <a:ea typeface="Courier New" pitchFamily="34" charset="-122"/>
                <a:cs typeface="Courier New" pitchFamily="34" charset="-120"/>
              </a:rPr>
              <a:t>localhost:80 </a:t>
            </a:r>
            <a:r>
              <a:rPr lang="en-US" sz="1575" dirty="0">
                <a:solidFill>
                  <a:srgbClr val="D2DEEB"/>
                </a:solidFill>
                <a:latin typeface="Arial" pitchFamily="34" charset="0"/>
                <a:ea typeface="Arial" pitchFamily="34" charset="-122"/>
                <a:cs typeface="Arial" pitchFamily="34" charset="-120"/>
              </a:rPr>
              <a:t>- clean gameplay with bots</a:t>
            </a:r>
            <a:endParaRPr lang="en-US" sz="1575" dirty="0"/>
          </a:p>
        </p:txBody>
      </p:sp>
      <p:sp>
        <p:nvSpPr>
          <p:cNvPr id="12" name="Shape 10"/>
          <p:cNvSpPr/>
          <p:nvPr/>
        </p:nvSpPr>
        <p:spPr>
          <a:xfrm>
            <a:off x="5465564" y="1771650"/>
            <a:ext cx="4608513" cy="1827213"/>
          </a:xfrm>
          <a:prstGeom prst="roundRect">
            <a:avLst>
              <a:gd name="adj" fmla="val 6255"/>
            </a:avLst>
          </a:prstGeom>
          <a:solidFill>
            <a:srgbClr val="FFFFFF">
              <a:alpha val="4000"/>
            </a:srgbClr>
          </a:solidFill>
          <a:ln w="12700">
            <a:solidFill>
              <a:srgbClr val="FFFFFF">
                <a:alpha val="10000"/>
              </a:srgbClr>
            </a:solidFill>
            <a:prstDash val="solid"/>
          </a:ln>
        </p:spPr>
        <p:txBody>
          <a:bodyPr/>
          <a:lstStyle/>
          <a:p>
            <a:endParaRPr lang="en-US"/>
          </a:p>
        </p:txBody>
      </p:sp>
      <p:sp>
        <p:nvSpPr>
          <p:cNvPr id="13" name="Shape 11"/>
          <p:cNvSpPr/>
          <p:nvPr/>
        </p:nvSpPr>
        <p:spPr>
          <a:xfrm>
            <a:off x="5668764" y="2466181"/>
            <a:ext cx="438150" cy="438150"/>
          </a:xfrm>
          <a:prstGeom prst="roundRect">
            <a:avLst>
              <a:gd name="adj" fmla="val 23913"/>
            </a:avLst>
          </a:prstGeom>
          <a:solidFill>
            <a:srgbClr val="3B8EE6">
              <a:alpha val="20000"/>
            </a:srgbClr>
          </a:solidFill>
          <a:ln w="12700">
            <a:solidFill>
              <a:srgbClr val="3B8EE6">
                <a:alpha val="50000"/>
              </a:srgbClr>
            </a:solidFill>
            <a:prstDash val="solid"/>
          </a:ln>
        </p:spPr>
        <p:txBody>
          <a:bodyPr/>
          <a:lstStyle/>
          <a:p>
            <a:endParaRPr lang="en-US"/>
          </a:p>
        </p:txBody>
      </p:sp>
      <p:sp>
        <p:nvSpPr>
          <p:cNvPr id="14" name="Text 12"/>
          <p:cNvSpPr/>
          <p:nvPr/>
        </p:nvSpPr>
        <p:spPr>
          <a:xfrm>
            <a:off x="5643364" y="2478881"/>
            <a:ext cx="488950" cy="450850"/>
          </a:xfrm>
          <a:prstGeom prst="rect">
            <a:avLst/>
          </a:prstGeom>
          <a:noFill/>
          <a:ln/>
        </p:spPr>
        <p:txBody>
          <a:bodyPr wrap="square" lIns="25400" tIns="25400" rIns="25400" bIns="25400" rtlCol="0" anchor="ctr">
            <a:normAutofit/>
          </a:bodyPr>
          <a:lstStyle/>
          <a:p>
            <a:pPr marL="0" indent="0" algn="ctr">
              <a:buNone/>
            </a:pPr>
            <a:r>
              <a:rPr lang="en-US" sz="1725" b="1" dirty="0">
                <a:solidFill>
                  <a:srgbClr val="6FB3F2"/>
                </a:solidFill>
                <a:latin typeface="Arial" pitchFamily="34" charset="0"/>
                <a:ea typeface="Arial" pitchFamily="34" charset="-122"/>
                <a:cs typeface="Arial" pitchFamily="34" charset="-120"/>
              </a:rPr>
              <a:t>2</a:t>
            </a:r>
            <a:endParaRPr lang="en-US" sz="1725" dirty="0"/>
          </a:p>
        </p:txBody>
      </p:sp>
      <p:sp>
        <p:nvSpPr>
          <p:cNvPr id="15" name="Text 13"/>
          <p:cNvSpPr/>
          <p:nvPr/>
        </p:nvSpPr>
        <p:spPr>
          <a:xfrm>
            <a:off x="6259314" y="2418953"/>
            <a:ext cx="3719910" cy="570706"/>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Open Grafana </a:t>
            </a:r>
            <a:r>
              <a:rPr lang="en-US" sz="1575" dirty="0">
                <a:solidFill>
                  <a:srgbClr val="FFFFFF"/>
                </a:solidFill>
                <a:latin typeface="Courier New" pitchFamily="34" charset="0"/>
                <a:ea typeface="Courier New" pitchFamily="34" charset="-122"/>
                <a:cs typeface="Courier New" pitchFamily="34" charset="-120"/>
              </a:rPr>
              <a:t>:3000 </a:t>
            </a:r>
            <a:r>
              <a:rPr lang="en-US" sz="1575" dirty="0">
                <a:solidFill>
                  <a:srgbClr val="D2DEEB"/>
                </a:solidFill>
                <a:latin typeface="Arial" pitchFamily="34" charset="0"/>
                <a:ea typeface="Arial" pitchFamily="34" charset="-122"/>
                <a:cs typeface="Arial" pitchFamily="34" charset="-120"/>
              </a:rPr>
              <a:t>- show zero-alerts baseline</a:t>
            </a:r>
            <a:endParaRPr lang="en-US" sz="1575" dirty="0"/>
          </a:p>
        </p:txBody>
      </p:sp>
      <p:sp>
        <p:nvSpPr>
          <p:cNvPr id="16" name="Shape 14"/>
          <p:cNvSpPr/>
          <p:nvPr/>
        </p:nvSpPr>
        <p:spPr>
          <a:xfrm>
            <a:off x="609600" y="3770313"/>
            <a:ext cx="4608314" cy="1814513"/>
          </a:xfrm>
          <a:prstGeom prst="roundRect">
            <a:avLst>
              <a:gd name="adj" fmla="val 6299"/>
            </a:avLst>
          </a:prstGeom>
          <a:solidFill>
            <a:srgbClr val="FFFFFF">
              <a:alpha val="4000"/>
            </a:srgbClr>
          </a:solidFill>
          <a:ln w="12700">
            <a:solidFill>
              <a:srgbClr val="FFFFFF">
                <a:alpha val="10000"/>
              </a:srgbClr>
            </a:solidFill>
            <a:prstDash val="solid"/>
          </a:ln>
        </p:spPr>
        <p:txBody>
          <a:bodyPr/>
          <a:lstStyle/>
          <a:p>
            <a:endParaRPr lang="en-US"/>
          </a:p>
        </p:txBody>
      </p:sp>
      <p:sp>
        <p:nvSpPr>
          <p:cNvPr id="17" name="Shape 15"/>
          <p:cNvSpPr/>
          <p:nvPr/>
        </p:nvSpPr>
        <p:spPr>
          <a:xfrm>
            <a:off x="812800" y="4458494"/>
            <a:ext cx="438150" cy="438150"/>
          </a:xfrm>
          <a:prstGeom prst="roundRect">
            <a:avLst>
              <a:gd name="adj" fmla="val 23913"/>
            </a:avLst>
          </a:prstGeom>
          <a:solidFill>
            <a:srgbClr val="F2A33C">
              <a:alpha val="20000"/>
            </a:srgbClr>
          </a:solidFill>
          <a:ln w="12700">
            <a:solidFill>
              <a:srgbClr val="F2A33C">
                <a:alpha val="50000"/>
              </a:srgbClr>
            </a:solidFill>
            <a:prstDash val="solid"/>
          </a:ln>
        </p:spPr>
        <p:txBody>
          <a:bodyPr/>
          <a:lstStyle/>
          <a:p>
            <a:endParaRPr lang="en-US"/>
          </a:p>
        </p:txBody>
      </p:sp>
      <p:sp>
        <p:nvSpPr>
          <p:cNvPr id="18" name="Text 16"/>
          <p:cNvSpPr/>
          <p:nvPr/>
        </p:nvSpPr>
        <p:spPr>
          <a:xfrm>
            <a:off x="787400" y="4471194"/>
            <a:ext cx="488950" cy="450850"/>
          </a:xfrm>
          <a:prstGeom prst="rect">
            <a:avLst/>
          </a:prstGeom>
          <a:noFill/>
          <a:ln/>
        </p:spPr>
        <p:txBody>
          <a:bodyPr wrap="square" lIns="25400" tIns="25400" rIns="25400" bIns="25400" rtlCol="0" anchor="ctr">
            <a:normAutofit/>
          </a:bodyPr>
          <a:lstStyle/>
          <a:p>
            <a:pPr marL="0" indent="0" algn="ctr">
              <a:buNone/>
            </a:pPr>
            <a:r>
              <a:rPr lang="en-US" sz="1725" b="1" dirty="0">
                <a:solidFill>
                  <a:srgbClr val="F4B463"/>
                </a:solidFill>
                <a:latin typeface="Arial" pitchFamily="34" charset="0"/>
                <a:ea typeface="Arial" pitchFamily="34" charset="-122"/>
                <a:cs typeface="Arial" pitchFamily="34" charset="-120"/>
              </a:rPr>
              <a:t>3</a:t>
            </a:r>
            <a:endParaRPr lang="en-US" sz="1725" dirty="0"/>
          </a:p>
        </p:txBody>
      </p:sp>
      <p:sp>
        <p:nvSpPr>
          <p:cNvPr id="19" name="Text 17"/>
          <p:cNvSpPr/>
          <p:nvPr/>
        </p:nvSpPr>
        <p:spPr>
          <a:xfrm>
            <a:off x="1403350" y="4417616"/>
            <a:ext cx="3719705" cy="558006"/>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Toggle </a:t>
            </a:r>
            <a:r>
              <a:rPr lang="en-US" sz="1575" b="1" dirty="0">
                <a:solidFill>
                  <a:srgbClr val="FFFFFF"/>
                </a:solidFill>
                <a:latin typeface="Arial" pitchFamily="34" charset="0"/>
                <a:ea typeface="Arial" pitchFamily="34" charset="-122"/>
                <a:cs typeface="Arial" pitchFamily="34" charset="-120"/>
              </a:rPr>
              <a:t>Aimbot (F5) </a:t>
            </a:r>
            <a:r>
              <a:rPr lang="en-US" sz="1575" dirty="0">
                <a:solidFill>
                  <a:srgbClr val="D2DEEB"/>
                </a:solidFill>
                <a:latin typeface="Arial" pitchFamily="34" charset="0"/>
                <a:ea typeface="Arial" pitchFamily="34" charset="-122"/>
                <a:cs typeface="Arial" pitchFamily="34" charset="-120"/>
              </a:rPr>
              <a:t>- aim_snap + aim_lock fire instantly</a:t>
            </a:r>
            <a:endParaRPr lang="en-US" sz="1575" dirty="0"/>
          </a:p>
        </p:txBody>
      </p:sp>
      <p:sp>
        <p:nvSpPr>
          <p:cNvPr id="20" name="Shape 18"/>
          <p:cNvSpPr/>
          <p:nvPr/>
        </p:nvSpPr>
        <p:spPr>
          <a:xfrm>
            <a:off x="5465564" y="3770313"/>
            <a:ext cx="4608513" cy="1814513"/>
          </a:xfrm>
          <a:prstGeom prst="roundRect">
            <a:avLst>
              <a:gd name="adj" fmla="val 6299"/>
            </a:avLst>
          </a:prstGeom>
          <a:solidFill>
            <a:srgbClr val="FFFFFF">
              <a:alpha val="4000"/>
            </a:srgbClr>
          </a:solidFill>
          <a:ln w="12700">
            <a:solidFill>
              <a:srgbClr val="FFFFFF">
                <a:alpha val="10000"/>
              </a:srgbClr>
            </a:solidFill>
            <a:prstDash val="solid"/>
          </a:ln>
        </p:spPr>
        <p:txBody>
          <a:bodyPr/>
          <a:lstStyle/>
          <a:p>
            <a:endParaRPr lang="en-US"/>
          </a:p>
        </p:txBody>
      </p:sp>
      <p:sp>
        <p:nvSpPr>
          <p:cNvPr id="21" name="Shape 19"/>
          <p:cNvSpPr/>
          <p:nvPr/>
        </p:nvSpPr>
        <p:spPr>
          <a:xfrm>
            <a:off x="5668764" y="4458494"/>
            <a:ext cx="438150" cy="438150"/>
          </a:xfrm>
          <a:prstGeom prst="roundRect">
            <a:avLst>
              <a:gd name="adj" fmla="val 23913"/>
            </a:avLst>
          </a:prstGeom>
          <a:solidFill>
            <a:srgbClr val="3B8EE6">
              <a:alpha val="20000"/>
            </a:srgbClr>
          </a:solidFill>
          <a:ln w="12700">
            <a:solidFill>
              <a:srgbClr val="3B8EE6">
                <a:alpha val="50000"/>
              </a:srgbClr>
            </a:solidFill>
            <a:prstDash val="solid"/>
          </a:ln>
        </p:spPr>
        <p:txBody>
          <a:bodyPr/>
          <a:lstStyle/>
          <a:p>
            <a:endParaRPr lang="en-US"/>
          </a:p>
        </p:txBody>
      </p:sp>
      <p:sp>
        <p:nvSpPr>
          <p:cNvPr id="22" name="Text 20"/>
          <p:cNvSpPr/>
          <p:nvPr/>
        </p:nvSpPr>
        <p:spPr>
          <a:xfrm>
            <a:off x="5643364" y="4471194"/>
            <a:ext cx="488950" cy="450850"/>
          </a:xfrm>
          <a:prstGeom prst="rect">
            <a:avLst/>
          </a:prstGeom>
          <a:noFill/>
          <a:ln/>
        </p:spPr>
        <p:txBody>
          <a:bodyPr wrap="square" lIns="25400" tIns="25400" rIns="25400" bIns="25400" rtlCol="0" anchor="ctr">
            <a:normAutofit/>
          </a:bodyPr>
          <a:lstStyle/>
          <a:p>
            <a:pPr marL="0" indent="0" algn="ctr">
              <a:buNone/>
            </a:pPr>
            <a:r>
              <a:rPr lang="en-US" sz="1725" b="1" dirty="0">
                <a:solidFill>
                  <a:srgbClr val="6FB3F2"/>
                </a:solidFill>
                <a:latin typeface="Arial" pitchFamily="34" charset="0"/>
                <a:ea typeface="Arial" pitchFamily="34" charset="-122"/>
                <a:cs typeface="Arial" pitchFamily="34" charset="-120"/>
              </a:rPr>
              <a:t>4</a:t>
            </a:r>
            <a:endParaRPr lang="en-US" sz="1725" dirty="0"/>
          </a:p>
        </p:txBody>
      </p:sp>
      <p:sp>
        <p:nvSpPr>
          <p:cNvPr id="23" name="Text 21"/>
          <p:cNvSpPr/>
          <p:nvPr/>
        </p:nvSpPr>
        <p:spPr>
          <a:xfrm>
            <a:off x="6259314" y="4417616"/>
            <a:ext cx="3719910" cy="558006"/>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Toggle </a:t>
            </a:r>
            <a:r>
              <a:rPr lang="en-US" sz="1575" b="1" dirty="0">
                <a:solidFill>
                  <a:srgbClr val="FFFFFF"/>
                </a:solidFill>
                <a:latin typeface="Arial" pitchFamily="34" charset="0"/>
                <a:ea typeface="Arial" pitchFamily="34" charset="-122"/>
                <a:cs typeface="Arial" pitchFamily="34" charset="-120"/>
              </a:rPr>
              <a:t>Speedhack (F6) </a:t>
            </a:r>
            <a:r>
              <a:rPr lang="en-US" sz="1575" dirty="0">
                <a:solidFill>
                  <a:srgbClr val="D2DEEB"/>
                </a:solidFill>
                <a:latin typeface="Arial" pitchFamily="34" charset="0"/>
                <a:ea typeface="Arial" pitchFamily="34" charset="-122"/>
                <a:cs typeface="Arial" pitchFamily="34" charset="-120"/>
              </a:rPr>
              <a:t>- speed_cap fires; ML flips to "cheater"</a:t>
            </a:r>
            <a:endParaRPr lang="en-US" sz="1575" dirty="0"/>
          </a:p>
        </p:txBody>
      </p:sp>
      <p:sp>
        <p:nvSpPr>
          <p:cNvPr id="24" name="Shape 22"/>
          <p:cNvSpPr/>
          <p:nvPr/>
        </p:nvSpPr>
        <p:spPr>
          <a:xfrm>
            <a:off x="609600" y="5756275"/>
            <a:ext cx="4608314" cy="1814513"/>
          </a:xfrm>
          <a:prstGeom prst="roundRect">
            <a:avLst>
              <a:gd name="adj" fmla="val 6299"/>
            </a:avLst>
          </a:prstGeom>
          <a:solidFill>
            <a:srgbClr val="FFFFFF">
              <a:alpha val="4000"/>
            </a:srgbClr>
          </a:solidFill>
          <a:ln w="12700">
            <a:solidFill>
              <a:srgbClr val="FFFFFF">
                <a:alpha val="10000"/>
              </a:srgbClr>
            </a:solidFill>
            <a:prstDash val="solid"/>
          </a:ln>
        </p:spPr>
        <p:txBody>
          <a:bodyPr/>
          <a:lstStyle/>
          <a:p>
            <a:endParaRPr lang="en-US"/>
          </a:p>
        </p:txBody>
      </p:sp>
      <p:sp>
        <p:nvSpPr>
          <p:cNvPr id="25" name="Shape 23"/>
          <p:cNvSpPr/>
          <p:nvPr/>
        </p:nvSpPr>
        <p:spPr>
          <a:xfrm>
            <a:off x="812800" y="6444457"/>
            <a:ext cx="438150" cy="438150"/>
          </a:xfrm>
          <a:prstGeom prst="roundRect">
            <a:avLst>
              <a:gd name="adj" fmla="val 23913"/>
            </a:avLst>
          </a:prstGeom>
          <a:solidFill>
            <a:srgbClr val="F0584E">
              <a:alpha val="20000"/>
            </a:srgbClr>
          </a:solidFill>
          <a:ln w="12700">
            <a:solidFill>
              <a:srgbClr val="F0584E">
                <a:alpha val="50000"/>
              </a:srgbClr>
            </a:solidFill>
            <a:prstDash val="solid"/>
          </a:ln>
        </p:spPr>
        <p:txBody>
          <a:bodyPr/>
          <a:lstStyle/>
          <a:p>
            <a:endParaRPr lang="en-US"/>
          </a:p>
        </p:txBody>
      </p:sp>
      <p:sp>
        <p:nvSpPr>
          <p:cNvPr id="26" name="Text 24"/>
          <p:cNvSpPr/>
          <p:nvPr/>
        </p:nvSpPr>
        <p:spPr>
          <a:xfrm>
            <a:off x="787400" y="6457157"/>
            <a:ext cx="488950" cy="450850"/>
          </a:xfrm>
          <a:prstGeom prst="rect">
            <a:avLst/>
          </a:prstGeom>
          <a:noFill/>
          <a:ln/>
        </p:spPr>
        <p:txBody>
          <a:bodyPr wrap="square" lIns="25400" tIns="25400" rIns="25400" bIns="25400" rtlCol="0" anchor="ctr">
            <a:normAutofit/>
          </a:bodyPr>
          <a:lstStyle/>
          <a:p>
            <a:pPr marL="0" indent="0" algn="ctr">
              <a:buNone/>
            </a:pPr>
            <a:r>
              <a:rPr lang="en-US" sz="1725" b="1" dirty="0">
                <a:solidFill>
                  <a:srgbClr val="F47E76"/>
                </a:solidFill>
                <a:latin typeface="Arial" pitchFamily="34" charset="0"/>
                <a:ea typeface="Arial" pitchFamily="34" charset="-122"/>
                <a:cs typeface="Arial" pitchFamily="34" charset="-120"/>
              </a:rPr>
              <a:t>5</a:t>
            </a:r>
            <a:endParaRPr lang="en-US" sz="1725" dirty="0"/>
          </a:p>
        </p:txBody>
      </p:sp>
      <p:sp>
        <p:nvSpPr>
          <p:cNvPr id="27" name="Text 25"/>
          <p:cNvSpPr/>
          <p:nvPr/>
        </p:nvSpPr>
        <p:spPr>
          <a:xfrm>
            <a:off x="1403350" y="6403578"/>
            <a:ext cx="3719705" cy="558006"/>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Toggle </a:t>
            </a:r>
            <a:r>
              <a:rPr lang="en-US" sz="1575" b="1" dirty="0">
                <a:solidFill>
                  <a:srgbClr val="FFFFFF"/>
                </a:solidFill>
                <a:latin typeface="Arial" pitchFamily="34" charset="0"/>
                <a:ea typeface="Arial" pitchFamily="34" charset="-122"/>
                <a:cs typeface="Arial" pitchFamily="34" charset="-120"/>
              </a:rPr>
              <a:t>Wallhack (F7) </a:t>
            </a:r>
            <a:r>
              <a:rPr lang="en-US" sz="1575" dirty="0">
                <a:solidFill>
                  <a:srgbClr val="D2DEEB"/>
                </a:solidFill>
                <a:latin typeface="Arial" pitchFamily="34" charset="0"/>
                <a:ea typeface="Arial" pitchFamily="34" charset="-122"/>
                <a:cs typeface="Arial" pitchFamily="34" charset="-120"/>
              </a:rPr>
              <a:t>- prefire fires after shot accumulation</a:t>
            </a:r>
            <a:endParaRPr lang="en-US" sz="1575" dirty="0"/>
          </a:p>
        </p:txBody>
      </p:sp>
      <p:sp>
        <p:nvSpPr>
          <p:cNvPr id="28" name="Shape 26"/>
          <p:cNvSpPr/>
          <p:nvPr/>
        </p:nvSpPr>
        <p:spPr>
          <a:xfrm>
            <a:off x="5465564" y="5756275"/>
            <a:ext cx="4608513" cy="1814513"/>
          </a:xfrm>
          <a:prstGeom prst="roundRect">
            <a:avLst>
              <a:gd name="adj" fmla="val 6299"/>
            </a:avLst>
          </a:prstGeom>
          <a:solidFill>
            <a:srgbClr val="FFFFFF">
              <a:alpha val="4000"/>
            </a:srgbClr>
          </a:solidFill>
          <a:ln w="12700">
            <a:solidFill>
              <a:srgbClr val="FFFFFF">
                <a:alpha val="10000"/>
              </a:srgbClr>
            </a:solidFill>
            <a:prstDash val="solid"/>
          </a:ln>
        </p:spPr>
        <p:txBody>
          <a:bodyPr/>
          <a:lstStyle/>
          <a:p>
            <a:endParaRPr lang="en-US"/>
          </a:p>
        </p:txBody>
      </p:sp>
      <p:sp>
        <p:nvSpPr>
          <p:cNvPr id="29" name="Shape 27"/>
          <p:cNvSpPr/>
          <p:nvPr/>
        </p:nvSpPr>
        <p:spPr>
          <a:xfrm>
            <a:off x="5668764" y="6444457"/>
            <a:ext cx="438150" cy="438150"/>
          </a:xfrm>
          <a:prstGeom prst="roundRect">
            <a:avLst>
              <a:gd name="adj" fmla="val 23913"/>
            </a:avLst>
          </a:prstGeom>
          <a:solidFill>
            <a:srgbClr val="9B7BE0">
              <a:alpha val="20000"/>
            </a:srgbClr>
          </a:solidFill>
          <a:ln w="12700">
            <a:solidFill>
              <a:srgbClr val="9B7BE0">
                <a:alpha val="50000"/>
              </a:srgbClr>
            </a:solidFill>
            <a:prstDash val="solid"/>
          </a:ln>
        </p:spPr>
        <p:txBody>
          <a:bodyPr/>
          <a:lstStyle/>
          <a:p>
            <a:endParaRPr lang="en-US"/>
          </a:p>
        </p:txBody>
      </p:sp>
      <p:sp>
        <p:nvSpPr>
          <p:cNvPr id="30" name="Text 28"/>
          <p:cNvSpPr/>
          <p:nvPr/>
        </p:nvSpPr>
        <p:spPr>
          <a:xfrm>
            <a:off x="5643364" y="6457157"/>
            <a:ext cx="488950" cy="450850"/>
          </a:xfrm>
          <a:prstGeom prst="rect">
            <a:avLst/>
          </a:prstGeom>
          <a:noFill/>
          <a:ln/>
        </p:spPr>
        <p:txBody>
          <a:bodyPr wrap="square" lIns="25400" tIns="25400" rIns="25400" bIns="25400" rtlCol="0" anchor="ctr">
            <a:normAutofit/>
          </a:bodyPr>
          <a:lstStyle/>
          <a:p>
            <a:pPr marL="0" indent="0" algn="ctr">
              <a:buNone/>
            </a:pPr>
            <a:r>
              <a:rPr lang="en-US" sz="1725" b="1" dirty="0">
                <a:solidFill>
                  <a:srgbClr val="B79CEA"/>
                </a:solidFill>
                <a:latin typeface="Arial" pitchFamily="34" charset="0"/>
                <a:ea typeface="Arial" pitchFamily="34" charset="-122"/>
                <a:cs typeface="Arial" pitchFamily="34" charset="-120"/>
              </a:rPr>
              <a:t>6</a:t>
            </a:r>
            <a:endParaRPr lang="en-US" sz="1725" dirty="0"/>
          </a:p>
        </p:txBody>
      </p:sp>
      <p:sp>
        <p:nvSpPr>
          <p:cNvPr id="31" name="Text 29"/>
          <p:cNvSpPr/>
          <p:nvPr/>
        </p:nvSpPr>
        <p:spPr>
          <a:xfrm>
            <a:off x="6259314" y="6403578"/>
            <a:ext cx="3719910" cy="558006"/>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Toggle </a:t>
            </a:r>
            <a:r>
              <a:rPr lang="en-US" sz="1575" b="1" dirty="0">
                <a:solidFill>
                  <a:srgbClr val="FFFFFF"/>
                </a:solidFill>
                <a:latin typeface="Arial" pitchFamily="34" charset="0"/>
                <a:ea typeface="Arial" pitchFamily="34" charset="-122"/>
                <a:cs typeface="Arial" pitchFamily="34" charset="-120"/>
              </a:rPr>
              <a:t>Triggerbot (F8) </a:t>
            </a:r>
            <a:r>
              <a:rPr lang="en-US" sz="1575" dirty="0">
                <a:solidFill>
                  <a:srgbClr val="D2DEEB"/>
                </a:solidFill>
                <a:latin typeface="Arial" pitchFamily="34" charset="0"/>
                <a:ea typeface="Arial" pitchFamily="34" charset="-122"/>
                <a:cs typeface="Arial" pitchFamily="34" charset="-120"/>
              </a:rPr>
              <a:t>- reaction_time fires within 1 second</a:t>
            </a:r>
            <a:endParaRPr lang="en-US" sz="1575" dirty="0"/>
          </a:p>
        </p:txBody>
      </p:sp>
      <p:sp>
        <p:nvSpPr>
          <p:cNvPr id="32" name="Shape 30"/>
          <p:cNvSpPr/>
          <p:nvPr/>
        </p:nvSpPr>
        <p:spPr>
          <a:xfrm>
            <a:off x="609600" y="7742238"/>
            <a:ext cx="4608314" cy="1827213"/>
          </a:xfrm>
          <a:prstGeom prst="roundRect">
            <a:avLst>
              <a:gd name="adj" fmla="val 6255"/>
            </a:avLst>
          </a:prstGeom>
          <a:solidFill>
            <a:srgbClr val="FFFFFF">
              <a:alpha val="4000"/>
            </a:srgbClr>
          </a:solidFill>
          <a:ln w="12700">
            <a:solidFill>
              <a:srgbClr val="FFFFFF">
                <a:alpha val="10000"/>
              </a:srgbClr>
            </a:solidFill>
            <a:prstDash val="solid"/>
          </a:ln>
        </p:spPr>
        <p:txBody>
          <a:bodyPr/>
          <a:lstStyle/>
          <a:p>
            <a:endParaRPr lang="en-US"/>
          </a:p>
        </p:txBody>
      </p:sp>
      <p:sp>
        <p:nvSpPr>
          <p:cNvPr id="33" name="Shape 31"/>
          <p:cNvSpPr/>
          <p:nvPr/>
        </p:nvSpPr>
        <p:spPr>
          <a:xfrm>
            <a:off x="812800" y="8436769"/>
            <a:ext cx="438150" cy="438150"/>
          </a:xfrm>
          <a:prstGeom prst="roundRect">
            <a:avLst>
              <a:gd name="adj" fmla="val 23913"/>
            </a:avLst>
          </a:prstGeom>
          <a:solidFill>
            <a:srgbClr val="34C27E">
              <a:alpha val="20000"/>
            </a:srgbClr>
          </a:solidFill>
          <a:ln w="12700">
            <a:solidFill>
              <a:srgbClr val="34C27E">
                <a:alpha val="50000"/>
              </a:srgbClr>
            </a:solidFill>
            <a:prstDash val="solid"/>
          </a:ln>
        </p:spPr>
        <p:txBody>
          <a:bodyPr/>
          <a:lstStyle/>
          <a:p>
            <a:endParaRPr lang="en-US"/>
          </a:p>
        </p:txBody>
      </p:sp>
      <p:sp>
        <p:nvSpPr>
          <p:cNvPr id="34" name="Text 32"/>
          <p:cNvSpPr/>
          <p:nvPr/>
        </p:nvSpPr>
        <p:spPr>
          <a:xfrm>
            <a:off x="787400" y="8449469"/>
            <a:ext cx="488950" cy="450850"/>
          </a:xfrm>
          <a:prstGeom prst="rect">
            <a:avLst/>
          </a:prstGeom>
          <a:noFill/>
          <a:ln/>
        </p:spPr>
        <p:txBody>
          <a:bodyPr wrap="square" lIns="25400" tIns="25400" rIns="25400" bIns="25400" rtlCol="0" anchor="ctr">
            <a:normAutofit/>
          </a:bodyPr>
          <a:lstStyle/>
          <a:p>
            <a:pPr marL="0" indent="0" algn="ctr">
              <a:buNone/>
            </a:pPr>
            <a:r>
              <a:rPr lang="en-US" sz="1725" b="1" dirty="0">
                <a:solidFill>
                  <a:srgbClr val="5BD39A"/>
                </a:solidFill>
                <a:latin typeface="Arial" pitchFamily="34" charset="0"/>
                <a:ea typeface="Arial" pitchFamily="34" charset="-122"/>
                <a:cs typeface="Arial" pitchFamily="34" charset="-120"/>
              </a:rPr>
              <a:t>7</a:t>
            </a:r>
            <a:endParaRPr lang="en-US" sz="1725" dirty="0"/>
          </a:p>
        </p:txBody>
      </p:sp>
      <p:sp>
        <p:nvSpPr>
          <p:cNvPr id="35" name="Text 33"/>
          <p:cNvSpPr/>
          <p:nvPr/>
        </p:nvSpPr>
        <p:spPr>
          <a:xfrm>
            <a:off x="1403350" y="8395891"/>
            <a:ext cx="3719705" cy="558006"/>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Disable all cheats (F5–F8) - alerts stop; pie returns to "none"</a:t>
            </a:r>
            <a:endParaRPr lang="en-US" sz="1575" dirty="0"/>
          </a:p>
        </p:txBody>
      </p:sp>
      <p:sp>
        <p:nvSpPr>
          <p:cNvPr id="36" name="Shape 34"/>
          <p:cNvSpPr/>
          <p:nvPr/>
        </p:nvSpPr>
        <p:spPr>
          <a:xfrm>
            <a:off x="5465564" y="7742238"/>
            <a:ext cx="4608513" cy="1827213"/>
          </a:xfrm>
          <a:prstGeom prst="roundRect">
            <a:avLst>
              <a:gd name="adj" fmla="val 6255"/>
            </a:avLst>
          </a:prstGeom>
          <a:solidFill>
            <a:srgbClr val="FFFFFF">
              <a:alpha val="4000"/>
            </a:srgbClr>
          </a:solidFill>
          <a:ln w="12700">
            <a:solidFill>
              <a:srgbClr val="FFFFFF">
                <a:alpha val="10000"/>
              </a:srgbClr>
            </a:solidFill>
            <a:prstDash val="solid"/>
          </a:ln>
        </p:spPr>
        <p:txBody>
          <a:bodyPr/>
          <a:lstStyle/>
          <a:p>
            <a:endParaRPr lang="en-US"/>
          </a:p>
        </p:txBody>
      </p:sp>
      <p:sp>
        <p:nvSpPr>
          <p:cNvPr id="37" name="Shape 35"/>
          <p:cNvSpPr/>
          <p:nvPr/>
        </p:nvSpPr>
        <p:spPr>
          <a:xfrm>
            <a:off x="5668764" y="8436769"/>
            <a:ext cx="438150" cy="438150"/>
          </a:xfrm>
          <a:prstGeom prst="roundRect">
            <a:avLst>
              <a:gd name="adj" fmla="val 23913"/>
            </a:avLst>
          </a:prstGeom>
          <a:solidFill>
            <a:srgbClr val="3B8EE6">
              <a:alpha val="20000"/>
            </a:srgbClr>
          </a:solidFill>
          <a:ln w="12700">
            <a:solidFill>
              <a:srgbClr val="3B8EE6">
                <a:alpha val="50000"/>
              </a:srgbClr>
            </a:solidFill>
            <a:prstDash val="solid"/>
          </a:ln>
        </p:spPr>
        <p:txBody>
          <a:bodyPr/>
          <a:lstStyle/>
          <a:p>
            <a:endParaRPr lang="en-US"/>
          </a:p>
        </p:txBody>
      </p:sp>
      <p:sp>
        <p:nvSpPr>
          <p:cNvPr id="38" name="Text 36"/>
          <p:cNvSpPr/>
          <p:nvPr/>
        </p:nvSpPr>
        <p:spPr>
          <a:xfrm>
            <a:off x="5643364" y="8449469"/>
            <a:ext cx="488950" cy="450850"/>
          </a:xfrm>
          <a:prstGeom prst="rect">
            <a:avLst/>
          </a:prstGeom>
          <a:noFill/>
          <a:ln/>
        </p:spPr>
        <p:txBody>
          <a:bodyPr wrap="square" lIns="25400" tIns="25400" rIns="25400" bIns="25400" rtlCol="0" anchor="ctr">
            <a:normAutofit/>
          </a:bodyPr>
          <a:lstStyle/>
          <a:p>
            <a:pPr marL="0" indent="0" algn="ctr">
              <a:buNone/>
            </a:pPr>
            <a:r>
              <a:rPr lang="en-US" sz="1725" b="1" dirty="0">
                <a:solidFill>
                  <a:srgbClr val="6FB3F2"/>
                </a:solidFill>
                <a:latin typeface="Arial" pitchFamily="34" charset="0"/>
                <a:ea typeface="Arial" pitchFamily="34" charset="-122"/>
                <a:cs typeface="Arial" pitchFamily="34" charset="-120"/>
              </a:rPr>
              <a:t>8</a:t>
            </a:r>
            <a:endParaRPr lang="en-US" sz="1725" dirty="0"/>
          </a:p>
        </p:txBody>
      </p:sp>
      <p:sp>
        <p:nvSpPr>
          <p:cNvPr id="39" name="Text 37"/>
          <p:cNvSpPr/>
          <p:nvPr/>
        </p:nvSpPr>
        <p:spPr>
          <a:xfrm>
            <a:off x="6259314" y="8389541"/>
            <a:ext cx="3719910" cy="570706"/>
          </a:xfrm>
          <a:prstGeom prst="rect">
            <a:avLst/>
          </a:prstGeom>
          <a:noFill/>
          <a:ln/>
        </p:spPr>
        <p:txBody>
          <a:bodyPr wrap="square" lIns="25400" tIns="25400" rIns="25400" bIns="25400" rtlCol="0" anchor="t">
            <a:normAutofit/>
          </a:bodyPr>
          <a:lstStyle/>
          <a:p>
            <a:pPr marL="0" indent="0" algn="l">
              <a:lnSpc>
                <a:spcPct val="130000"/>
              </a:lnSpc>
              <a:buNone/>
            </a:pPr>
            <a:r>
              <a:rPr lang="en-US" sz="1575" dirty="0">
                <a:solidFill>
                  <a:srgbClr val="D2DEEB"/>
                </a:solidFill>
                <a:latin typeface="Arial" pitchFamily="34" charset="0"/>
                <a:ea typeface="Arial" pitchFamily="34" charset="-122"/>
                <a:cs typeface="Arial" pitchFamily="34" charset="-120"/>
              </a:rPr>
              <a:t>Show ML </a:t>
            </a:r>
            <a:r>
              <a:rPr lang="en-US" sz="1575" dirty="0">
                <a:solidFill>
                  <a:srgbClr val="FFFFFF"/>
                </a:solidFill>
                <a:latin typeface="Courier New" pitchFamily="34" charset="0"/>
                <a:ea typeface="Courier New" pitchFamily="34" charset="-122"/>
                <a:cs typeface="Courier New" pitchFamily="34" charset="-120"/>
              </a:rPr>
              <a:t>/health </a:t>
            </a:r>
            <a:r>
              <a:rPr lang="en-US" sz="1575" dirty="0">
                <a:solidFill>
                  <a:srgbClr val="D2DEEB"/>
                </a:solidFill>
                <a:latin typeface="Arial" pitchFamily="34" charset="0"/>
                <a:ea typeface="Arial" pitchFamily="34" charset="-122"/>
                <a:cs typeface="Arial" pitchFamily="34" charset="-120"/>
              </a:rPr>
              <a:t>- confirms trained inference mode</a:t>
            </a:r>
            <a:endParaRPr lang="en-US" sz="1575" dirty="0"/>
          </a:p>
        </p:txBody>
      </p:sp>
      <p:sp>
        <p:nvSpPr>
          <p:cNvPr id="40" name="Shape 38"/>
          <p:cNvSpPr/>
          <p:nvPr/>
        </p:nvSpPr>
        <p:spPr>
          <a:xfrm>
            <a:off x="10397927" y="1771650"/>
            <a:ext cx="7280474" cy="7239000"/>
          </a:xfrm>
          <a:prstGeom prst="roundRect">
            <a:avLst>
              <a:gd name="adj" fmla="val 1842"/>
            </a:avLst>
          </a:prstGeom>
          <a:solidFill>
            <a:srgbClr val="0A0E1A"/>
          </a:solidFill>
          <a:ln w="12700">
            <a:solidFill>
              <a:srgbClr val="FFFFFF">
                <a:alpha val="14000"/>
              </a:srgbClr>
            </a:solidFill>
            <a:prstDash val="solid"/>
          </a:ln>
          <a:effectLst>
            <a:outerShdw blurRad="476250" dist="190500" dir="5400000" algn="bl" rotWithShape="0">
              <a:srgbClr val="000000">
                <a:alpha val="50000"/>
              </a:srgbClr>
            </a:outerShdw>
          </a:effectLst>
        </p:spPr>
        <p:txBody>
          <a:bodyPr/>
          <a:lstStyle/>
          <a:p>
            <a:endParaRPr lang="en-US"/>
          </a:p>
        </p:txBody>
      </p:sp>
      <p:sp>
        <p:nvSpPr>
          <p:cNvPr id="41" name="Shape 39"/>
          <p:cNvSpPr/>
          <p:nvPr/>
        </p:nvSpPr>
        <p:spPr>
          <a:xfrm>
            <a:off x="10410627" y="1784350"/>
            <a:ext cx="7255073" cy="323850"/>
          </a:xfrm>
          <a:prstGeom prst="rect">
            <a:avLst/>
          </a:prstGeom>
          <a:solidFill>
            <a:srgbClr val="0E1526"/>
          </a:solidFill>
          <a:ln/>
        </p:spPr>
        <p:txBody>
          <a:bodyPr/>
          <a:lstStyle/>
          <a:p>
            <a:endParaRPr lang="en-US"/>
          </a:p>
        </p:txBody>
      </p:sp>
      <p:sp>
        <p:nvSpPr>
          <p:cNvPr id="42" name="Shape 40"/>
          <p:cNvSpPr/>
          <p:nvPr/>
        </p:nvSpPr>
        <p:spPr>
          <a:xfrm>
            <a:off x="10543977" y="1893888"/>
            <a:ext cx="104775" cy="104775"/>
          </a:xfrm>
          <a:prstGeom prst="ellipse">
            <a:avLst/>
          </a:prstGeom>
          <a:solidFill>
            <a:srgbClr val="F0584E"/>
          </a:solidFill>
          <a:ln/>
        </p:spPr>
        <p:txBody>
          <a:bodyPr/>
          <a:lstStyle/>
          <a:p>
            <a:endParaRPr lang="en-US"/>
          </a:p>
        </p:txBody>
      </p:sp>
      <p:sp>
        <p:nvSpPr>
          <p:cNvPr id="43" name="Shape 41"/>
          <p:cNvSpPr/>
          <p:nvPr/>
        </p:nvSpPr>
        <p:spPr>
          <a:xfrm>
            <a:off x="10724952" y="1893888"/>
            <a:ext cx="104775" cy="104775"/>
          </a:xfrm>
          <a:prstGeom prst="ellipse">
            <a:avLst/>
          </a:prstGeom>
          <a:solidFill>
            <a:srgbClr val="F2A33C"/>
          </a:solidFill>
          <a:ln/>
        </p:spPr>
        <p:txBody>
          <a:bodyPr/>
          <a:lstStyle/>
          <a:p>
            <a:endParaRPr lang="en-US"/>
          </a:p>
        </p:txBody>
      </p:sp>
      <p:sp>
        <p:nvSpPr>
          <p:cNvPr id="44" name="Shape 42"/>
          <p:cNvSpPr/>
          <p:nvPr/>
        </p:nvSpPr>
        <p:spPr>
          <a:xfrm>
            <a:off x="10905927" y="1893888"/>
            <a:ext cx="104775" cy="104775"/>
          </a:xfrm>
          <a:prstGeom prst="ellipse">
            <a:avLst/>
          </a:prstGeom>
          <a:solidFill>
            <a:srgbClr val="34C27E"/>
          </a:solidFill>
          <a:ln/>
        </p:spPr>
        <p:txBody>
          <a:bodyPr/>
          <a:lstStyle/>
          <a:p>
            <a:endParaRPr lang="en-US"/>
          </a:p>
        </p:txBody>
      </p:sp>
      <p:pic>
        <p:nvPicPr>
          <p:cNvPr id="45" name="Image 0" descr="preencoded.png"/>
          <p:cNvPicPr>
            <a:picLocks noChangeAspect="1"/>
          </p:cNvPicPr>
          <p:nvPr/>
        </p:nvPicPr>
        <p:blipFill>
          <a:blip r:embed="rId3"/>
          <a:srcRect l="-1" r="-1"/>
          <a:stretch/>
        </p:blipFill>
        <p:spPr>
          <a:xfrm>
            <a:off x="10410627" y="3093442"/>
            <a:ext cx="7255073" cy="4919266"/>
          </a:xfrm>
          <a:prstGeom prst="rect">
            <a:avLst/>
          </a:prstGeom>
        </p:spPr>
      </p:pic>
      <p:sp>
        <p:nvSpPr>
          <p:cNvPr id="46" name="Shape 43"/>
          <p:cNvSpPr/>
          <p:nvPr/>
        </p:nvSpPr>
        <p:spPr>
          <a:xfrm>
            <a:off x="10397927" y="9144000"/>
            <a:ext cx="1748631" cy="425450"/>
          </a:xfrm>
          <a:prstGeom prst="roundRect">
            <a:avLst>
              <a:gd name="adj" fmla="val 20149"/>
            </a:avLst>
          </a:prstGeom>
          <a:solidFill>
            <a:srgbClr val="F2A33C">
              <a:alpha val="14000"/>
            </a:srgbClr>
          </a:solidFill>
          <a:ln w="12700">
            <a:solidFill>
              <a:srgbClr val="F2A33C">
                <a:alpha val="45000"/>
              </a:srgbClr>
            </a:solidFill>
            <a:prstDash val="solid"/>
          </a:ln>
        </p:spPr>
        <p:txBody>
          <a:bodyPr/>
          <a:lstStyle/>
          <a:p>
            <a:endParaRPr lang="en-US"/>
          </a:p>
        </p:txBody>
      </p:sp>
      <p:sp>
        <p:nvSpPr>
          <p:cNvPr id="47" name="Text 44"/>
          <p:cNvSpPr/>
          <p:nvPr/>
        </p:nvSpPr>
        <p:spPr>
          <a:xfrm>
            <a:off x="10477302" y="9261475"/>
            <a:ext cx="1589881" cy="228600"/>
          </a:xfrm>
          <a:prstGeom prst="rect">
            <a:avLst/>
          </a:prstGeom>
          <a:noFill/>
          <a:ln/>
        </p:spPr>
        <p:txBody>
          <a:bodyPr wrap="square" lIns="25400" tIns="25400" rIns="25400" bIns="25400" rtlCol="0" anchor="t">
            <a:normAutofit/>
          </a:bodyPr>
          <a:lstStyle/>
          <a:p>
            <a:pPr marL="0" indent="0" algn="ctr">
              <a:buNone/>
            </a:pPr>
            <a:r>
              <a:rPr lang="en-US" sz="1275" b="1" dirty="0">
                <a:solidFill>
                  <a:srgbClr val="F4B463"/>
                </a:solidFill>
                <a:latin typeface="Courier New" pitchFamily="34" charset="0"/>
                <a:ea typeface="Courier New" pitchFamily="34" charset="-122"/>
                <a:cs typeface="Courier New" pitchFamily="34" charset="-120"/>
              </a:rPr>
              <a:t>F5 Aimbot</a:t>
            </a:r>
            <a:endParaRPr lang="en-US" sz="1275" dirty="0"/>
          </a:p>
        </p:txBody>
      </p:sp>
      <p:sp>
        <p:nvSpPr>
          <p:cNvPr id="48" name="Shape 45"/>
          <p:cNvSpPr/>
          <p:nvPr/>
        </p:nvSpPr>
        <p:spPr>
          <a:xfrm>
            <a:off x="12241809" y="9144000"/>
            <a:ext cx="1748830" cy="425450"/>
          </a:xfrm>
          <a:prstGeom prst="roundRect">
            <a:avLst>
              <a:gd name="adj" fmla="val 20149"/>
            </a:avLst>
          </a:prstGeom>
          <a:solidFill>
            <a:srgbClr val="3B8EE6">
              <a:alpha val="14000"/>
            </a:srgbClr>
          </a:solidFill>
          <a:ln w="12700">
            <a:solidFill>
              <a:srgbClr val="3B8EE6">
                <a:alpha val="45000"/>
              </a:srgbClr>
            </a:solidFill>
            <a:prstDash val="solid"/>
          </a:ln>
        </p:spPr>
        <p:txBody>
          <a:bodyPr/>
          <a:lstStyle/>
          <a:p>
            <a:endParaRPr lang="en-US"/>
          </a:p>
        </p:txBody>
      </p:sp>
      <p:sp>
        <p:nvSpPr>
          <p:cNvPr id="49" name="Text 46"/>
          <p:cNvSpPr/>
          <p:nvPr/>
        </p:nvSpPr>
        <p:spPr>
          <a:xfrm>
            <a:off x="12321184" y="9261475"/>
            <a:ext cx="1590080" cy="228600"/>
          </a:xfrm>
          <a:prstGeom prst="rect">
            <a:avLst/>
          </a:prstGeom>
          <a:noFill/>
          <a:ln/>
        </p:spPr>
        <p:txBody>
          <a:bodyPr wrap="square" lIns="25400" tIns="25400" rIns="25400" bIns="25400" rtlCol="0" anchor="t">
            <a:normAutofit/>
          </a:bodyPr>
          <a:lstStyle/>
          <a:p>
            <a:pPr marL="0" indent="0" algn="ctr">
              <a:buNone/>
            </a:pPr>
            <a:r>
              <a:rPr lang="en-US" sz="1275" b="1" dirty="0">
                <a:solidFill>
                  <a:srgbClr val="6FB3F2"/>
                </a:solidFill>
                <a:latin typeface="Courier New" pitchFamily="34" charset="0"/>
                <a:ea typeface="Courier New" pitchFamily="34" charset="-122"/>
                <a:cs typeface="Courier New" pitchFamily="34" charset="-120"/>
              </a:rPr>
              <a:t>F6 Speed</a:t>
            </a:r>
            <a:endParaRPr lang="en-US" sz="1275" dirty="0"/>
          </a:p>
        </p:txBody>
      </p:sp>
      <p:sp>
        <p:nvSpPr>
          <p:cNvPr id="50" name="Shape 47"/>
          <p:cNvSpPr/>
          <p:nvPr/>
        </p:nvSpPr>
        <p:spPr>
          <a:xfrm>
            <a:off x="14085888" y="9144000"/>
            <a:ext cx="1748631" cy="425450"/>
          </a:xfrm>
          <a:prstGeom prst="roundRect">
            <a:avLst>
              <a:gd name="adj" fmla="val 20149"/>
            </a:avLst>
          </a:prstGeom>
          <a:solidFill>
            <a:srgbClr val="F0584E">
              <a:alpha val="14000"/>
            </a:srgbClr>
          </a:solidFill>
          <a:ln w="12700">
            <a:solidFill>
              <a:srgbClr val="F0584E">
                <a:alpha val="45000"/>
              </a:srgbClr>
            </a:solidFill>
            <a:prstDash val="solid"/>
          </a:ln>
        </p:spPr>
        <p:txBody>
          <a:bodyPr/>
          <a:lstStyle/>
          <a:p>
            <a:endParaRPr lang="en-US"/>
          </a:p>
        </p:txBody>
      </p:sp>
      <p:sp>
        <p:nvSpPr>
          <p:cNvPr id="51" name="Text 48"/>
          <p:cNvSpPr/>
          <p:nvPr/>
        </p:nvSpPr>
        <p:spPr>
          <a:xfrm>
            <a:off x="14165263" y="9261475"/>
            <a:ext cx="1589881" cy="228600"/>
          </a:xfrm>
          <a:prstGeom prst="rect">
            <a:avLst/>
          </a:prstGeom>
          <a:noFill/>
          <a:ln/>
        </p:spPr>
        <p:txBody>
          <a:bodyPr wrap="square" lIns="25400" tIns="25400" rIns="25400" bIns="25400" rtlCol="0" anchor="t">
            <a:normAutofit/>
          </a:bodyPr>
          <a:lstStyle/>
          <a:p>
            <a:pPr marL="0" indent="0" algn="ctr">
              <a:buNone/>
            </a:pPr>
            <a:r>
              <a:rPr lang="en-US" sz="1275" b="1" dirty="0">
                <a:solidFill>
                  <a:srgbClr val="F47E76"/>
                </a:solidFill>
                <a:latin typeface="Courier New" pitchFamily="34" charset="0"/>
                <a:ea typeface="Courier New" pitchFamily="34" charset="-122"/>
                <a:cs typeface="Courier New" pitchFamily="34" charset="-120"/>
              </a:rPr>
              <a:t>F7 Wall</a:t>
            </a:r>
            <a:endParaRPr lang="en-US" sz="1275" dirty="0"/>
          </a:p>
        </p:txBody>
      </p:sp>
      <p:sp>
        <p:nvSpPr>
          <p:cNvPr id="52" name="Shape 49"/>
          <p:cNvSpPr/>
          <p:nvPr/>
        </p:nvSpPr>
        <p:spPr>
          <a:xfrm>
            <a:off x="15929770" y="9144000"/>
            <a:ext cx="1748631" cy="425450"/>
          </a:xfrm>
          <a:prstGeom prst="roundRect">
            <a:avLst>
              <a:gd name="adj" fmla="val 20149"/>
            </a:avLst>
          </a:prstGeom>
          <a:solidFill>
            <a:srgbClr val="9B7BE0">
              <a:alpha val="14000"/>
            </a:srgbClr>
          </a:solidFill>
          <a:ln w="12700">
            <a:solidFill>
              <a:srgbClr val="9B7BE0">
                <a:alpha val="45000"/>
              </a:srgbClr>
            </a:solidFill>
            <a:prstDash val="solid"/>
          </a:ln>
        </p:spPr>
        <p:txBody>
          <a:bodyPr/>
          <a:lstStyle/>
          <a:p>
            <a:endParaRPr lang="en-US"/>
          </a:p>
        </p:txBody>
      </p:sp>
      <p:sp>
        <p:nvSpPr>
          <p:cNvPr id="53" name="Text 50"/>
          <p:cNvSpPr/>
          <p:nvPr/>
        </p:nvSpPr>
        <p:spPr>
          <a:xfrm>
            <a:off x="16009144" y="9261475"/>
            <a:ext cx="1589881" cy="228600"/>
          </a:xfrm>
          <a:prstGeom prst="rect">
            <a:avLst/>
          </a:prstGeom>
          <a:noFill/>
          <a:ln/>
        </p:spPr>
        <p:txBody>
          <a:bodyPr wrap="square" lIns="25400" tIns="25400" rIns="25400" bIns="25400" rtlCol="0" anchor="t">
            <a:normAutofit/>
          </a:bodyPr>
          <a:lstStyle/>
          <a:p>
            <a:pPr marL="0" indent="0" algn="ctr">
              <a:buNone/>
            </a:pPr>
            <a:r>
              <a:rPr lang="en-US" sz="1275" b="1" dirty="0">
                <a:solidFill>
                  <a:srgbClr val="B79CEA"/>
                </a:solidFill>
                <a:latin typeface="Courier New" pitchFamily="34" charset="0"/>
                <a:ea typeface="Courier New" pitchFamily="34" charset="-122"/>
                <a:cs typeface="Courier New" pitchFamily="34" charset="-120"/>
              </a:rPr>
              <a:t>F8 Trigger</a:t>
            </a:r>
            <a:endParaRPr lang="en-US" sz="1275" dirty="0"/>
          </a:p>
        </p:txBody>
      </p:sp>
      <p:sp>
        <p:nvSpPr>
          <p:cNvPr id="54" name="Shape 51"/>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55" name="Text 52"/>
          <p:cNvSpPr/>
          <p:nvPr/>
        </p:nvSpPr>
        <p:spPr>
          <a:xfrm>
            <a:off x="6096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56" name="Text 53"/>
          <p:cNvSpPr/>
          <p:nvPr/>
        </p:nvSpPr>
        <p:spPr>
          <a:xfrm>
            <a:off x="171831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11 / 18</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533400" y="411163"/>
            <a:ext cx="104775" cy="104775"/>
          </a:xfrm>
          <a:prstGeom prst="roundRect">
            <a:avLst>
              <a:gd name="adj" fmla="val 18182"/>
            </a:avLst>
          </a:prstGeom>
          <a:solidFill>
            <a:srgbClr val="F2A33C"/>
          </a:solidFill>
          <a:ln/>
          <a:effectLst>
            <a:outerShdw blurRad="133350" dist="50800" dir="16200000" algn="bl" rotWithShape="0">
              <a:srgbClr val="F2A33C">
                <a:alpha val="100000"/>
              </a:srgbClr>
            </a:outerShdw>
          </a:effectLst>
        </p:spPr>
        <p:txBody>
          <a:bodyPr/>
          <a:lstStyle/>
          <a:p>
            <a:endParaRPr lang="en-US"/>
          </a:p>
        </p:txBody>
      </p:sp>
      <p:sp>
        <p:nvSpPr>
          <p:cNvPr id="4" name="Text 2"/>
          <p:cNvSpPr/>
          <p:nvPr/>
        </p:nvSpPr>
        <p:spPr>
          <a:xfrm>
            <a:off x="752475" y="323850"/>
            <a:ext cx="1328896"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F4B463"/>
                </a:solidFill>
                <a:latin typeface="Arial" pitchFamily="34" charset="0"/>
                <a:ea typeface="Arial" pitchFamily="34" charset="-122"/>
                <a:cs typeface="Arial" pitchFamily="34" charset="-120"/>
              </a:rPr>
              <a:t>RESULTS</a:t>
            </a:r>
            <a:endParaRPr lang="en-US" sz="1500" dirty="0"/>
          </a:p>
        </p:txBody>
      </p:sp>
      <p:sp>
        <p:nvSpPr>
          <p:cNvPr id="5" name="Text 3"/>
          <p:cNvSpPr/>
          <p:nvPr/>
        </p:nvSpPr>
        <p:spPr>
          <a:xfrm>
            <a:off x="533400" y="708025"/>
            <a:ext cx="8994061"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ML Scores, Metrics &amp; Results</a:t>
            </a:r>
            <a:endParaRPr lang="en-US" sz="4050" dirty="0"/>
          </a:p>
        </p:txBody>
      </p:sp>
      <p:sp>
        <p:nvSpPr>
          <p:cNvPr id="6" name="Text 4"/>
          <p:cNvSpPr/>
          <p:nvPr/>
        </p:nvSpPr>
        <p:spPr>
          <a:xfrm>
            <a:off x="533400" y="1327150"/>
            <a:ext cx="8994061" cy="304800"/>
          </a:xfrm>
          <a:prstGeom prst="rect">
            <a:avLst/>
          </a:prstGeom>
          <a:noFill/>
          <a:ln/>
        </p:spPr>
        <p:txBody>
          <a:bodyPr wrap="square" lIns="25400" tIns="25400" rIns="25400" bIns="25400" rtlCol="0" anchor="t">
            <a:normAutofit/>
          </a:bodyPr>
          <a:lstStyle/>
          <a:p>
            <a:pPr marL="0" indent="0" algn="l">
              <a:buNone/>
            </a:pPr>
            <a:r>
              <a:rPr lang="en-US" sz="1725" dirty="0">
                <a:solidFill>
                  <a:srgbClr val="9DB2C9"/>
                </a:solidFill>
                <a:latin typeface="Arial" pitchFamily="34" charset="0"/>
                <a:ea typeface="Arial" pitchFamily="34" charset="-122"/>
                <a:cs typeface="Arial" pitchFamily="34" charset="-120"/>
              </a:rPr>
              <a:t>175K samples · 131K train / 44K test · 8 player profiles · player-ID split</a:t>
            </a:r>
            <a:endParaRPr lang="en-US" sz="1725" dirty="0"/>
          </a:p>
        </p:txBody>
      </p:sp>
      <p:sp>
        <p:nvSpPr>
          <p:cNvPr id="7" name="Text 5"/>
          <p:cNvSpPr/>
          <p:nvPr/>
        </p:nvSpPr>
        <p:spPr>
          <a:xfrm>
            <a:off x="159629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12</a:t>
            </a:r>
            <a:endParaRPr lang="en-US" sz="11250" dirty="0"/>
          </a:p>
        </p:txBody>
      </p:sp>
      <p:sp>
        <p:nvSpPr>
          <p:cNvPr id="8" name="Shape 6"/>
          <p:cNvSpPr/>
          <p:nvPr/>
        </p:nvSpPr>
        <p:spPr>
          <a:xfrm>
            <a:off x="533400" y="1746250"/>
            <a:ext cx="17221200" cy="19050"/>
          </a:xfrm>
          <a:prstGeom prst="rect">
            <a:avLst/>
          </a:prstGeom>
          <a:gradFill rotWithShape="1">
            <a:gsLst>
              <a:gs pos="0">
                <a:srgbClr val="F2A33C">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9" name="Shape 7"/>
          <p:cNvSpPr/>
          <p:nvPr/>
        </p:nvSpPr>
        <p:spPr>
          <a:xfrm>
            <a:off x="533400" y="1993900"/>
            <a:ext cx="4176712" cy="1362075"/>
          </a:xfrm>
          <a:prstGeom prst="roundRect">
            <a:avLst>
              <a:gd name="adj" fmla="val 8392"/>
            </a:avLst>
          </a:prstGeom>
          <a:solidFill>
            <a:srgbClr val="FFFFFF">
              <a:alpha val="4000"/>
            </a:srgbClr>
          </a:solidFill>
          <a:ln/>
        </p:spPr>
        <p:txBody>
          <a:bodyPr/>
          <a:lstStyle/>
          <a:p>
            <a:endParaRPr lang="en-US"/>
          </a:p>
        </p:txBody>
      </p:sp>
      <p:sp>
        <p:nvSpPr>
          <p:cNvPr id="10" name="Shape 8"/>
          <p:cNvSpPr/>
          <p:nvPr/>
        </p:nvSpPr>
        <p:spPr>
          <a:xfrm>
            <a:off x="533400" y="3343275"/>
            <a:ext cx="4176712" cy="12700"/>
          </a:xfrm>
          <a:prstGeom prst="rect">
            <a:avLst/>
          </a:prstGeom>
          <a:solidFill>
            <a:srgbClr val="FFFFFF">
              <a:alpha val="10000"/>
            </a:srgbClr>
          </a:solidFill>
          <a:ln/>
        </p:spPr>
        <p:txBody>
          <a:bodyPr/>
          <a:lstStyle/>
          <a:p>
            <a:endParaRPr lang="en-US"/>
          </a:p>
        </p:txBody>
      </p:sp>
      <p:sp>
        <p:nvSpPr>
          <p:cNvPr id="11" name="Shape 9"/>
          <p:cNvSpPr/>
          <p:nvPr/>
        </p:nvSpPr>
        <p:spPr>
          <a:xfrm>
            <a:off x="533400" y="1993900"/>
            <a:ext cx="4176712" cy="25400"/>
          </a:xfrm>
          <a:prstGeom prst="rect">
            <a:avLst/>
          </a:prstGeom>
          <a:solidFill>
            <a:srgbClr val="F2A33C"/>
          </a:solidFill>
          <a:ln/>
        </p:spPr>
        <p:txBody>
          <a:bodyPr/>
          <a:lstStyle/>
          <a:p>
            <a:endParaRPr lang="en-US"/>
          </a:p>
        </p:txBody>
      </p:sp>
      <p:sp>
        <p:nvSpPr>
          <p:cNvPr id="12" name="Shape 10"/>
          <p:cNvSpPr/>
          <p:nvPr/>
        </p:nvSpPr>
        <p:spPr>
          <a:xfrm>
            <a:off x="533400" y="1993900"/>
            <a:ext cx="12700" cy="1362075"/>
          </a:xfrm>
          <a:prstGeom prst="rect">
            <a:avLst/>
          </a:prstGeom>
          <a:solidFill>
            <a:srgbClr val="FFFFFF">
              <a:alpha val="10000"/>
            </a:srgbClr>
          </a:solidFill>
          <a:ln/>
        </p:spPr>
        <p:txBody>
          <a:bodyPr/>
          <a:lstStyle/>
          <a:p>
            <a:endParaRPr lang="en-US"/>
          </a:p>
        </p:txBody>
      </p:sp>
      <p:sp>
        <p:nvSpPr>
          <p:cNvPr id="13" name="Shape 11"/>
          <p:cNvSpPr/>
          <p:nvPr/>
        </p:nvSpPr>
        <p:spPr>
          <a:xfrm>
            <a:off x="4697413" y="1993900"/>
            <a:ext cx="12700" cy="1362075"/>
          </a:xfrm>
          <a:prstGeom prst="rect">
            <a:avLst/>
          </a:prstGeom>
          <a:solidFill>
            <a:srgbClr val="FFFFFF">
              <a:alpha val="10000"/>
            </a:srgbClr>
          </a:solidFill>
          <a:ln/>
        </p:spPr>
        <p:txBody>
          <a:bodyPr/>
          <a:lstStyle/>
          <a:p>
            <a:endParaRPr lang="en-US"/>
          </a:p>
        </p:txBody>
      </p:sp>
      <p:sp>
        <p:nvSpPr>
          <p:cNvPr id="14" name="Text 12"/>
          <p:cNvSpPr/>
          <p:nvPr/>
        </p:nvSpPr>
        <p:spPr>
          <a:xfrm>
            <a:off x="755650" y="2190750"/>
            <a:ext cx="4105434" cy="514350"/>
          </a:xfrm>
          <a:prstGeom prst="rect">
            <a:avLst/>
          </a:prstGeom>
          <a:noFill/>
          <a:ln/>
          <a:effectLst>
            <a:outerShdw blurRad="228600" dist="50800" dir="16200000" algn="bl" rotWithShape="0">
              <a:srgbClr val="F2A33C">
                <a:alpha val="45000"/>
              </a:srgbClr>
            </a:outerShdw>
          </a:effectLst>
        </p:spPr>
        <p:txBody>
          <a:bodyPr wrap="square" lIns="25400" tIns="25400" rIns="25400" bIns="25400" rtlCol="0" anchor="t">
            <a:normAutofit/>
          </a:bodyPr>
          <a:lstStyle/>
          <a:p>
            <a:pPr marL="0" indent="0" algn="l">
              <a:lnSpc>
                <a:spcPct val="100000"/>
              </a:lnSpc>
              <a:buNone/>
            </a:pPr>
            <a:r>
              <a:rPr lang="en-US" sz="3750" b="1" dirty="0">
                <a:solidFill>
                  <a:srgbClr val="F4B463"/>
                </a:solidFill>
                <a:latin typeface="Arial" pitchFamily="34" charset="0"/>
                <a:ea typeface="Arial" pitchFamily="34" charset="-122"/>
                <a:cs typeface="Arial" pitchFamily="34" charset="-120"/>
              </a:rPr>
              <a:t>85.9%</a:t>
            </a:r>
            <a:endParaRPr lang="en-US" sz="3750" dirty="0"/>
          </a:p>
        </p:txBody>
      </p:sp>
      <p:sp>
        <p:nvSpPr>
          <p:cNvPr id="15" name="Text 13"/>
          <p:cNvSpPr/>
          <p:nvPr/>
        </p:nvSpPr>
        <p:spPr>
          <a:xfrm>
            <a:off x="755650" y="2752725"/>
            <a:ext cx="410543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XGBoost Accuracy</a:t>
            </a:r>
            <a:endParaRPr lang="en-US" sz="1575" dirty="0"/>
          </a:p>
        </p:txBody>
      </p:sp>
      <p:sp>
        <p:nvSpPr>
          <p:cNvPr id="16" name="Text 14"/>
          <p:cNvSpPr/>
          <p:nvPr/>
        </p:nvSpPr>
        <p:spPr>
          <a:xfrm>
            <a:off x="755650" y="2981325"/>
            <a:ext cx="410543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test set</a:t>
            </a:r>
            <a:endParaRPr lang="en-US" sz="1275" dirty="0"/>
          </a:p>
        </p:txBody>
      </p:sp>
      <p:sp>
        <p:nvSpPr>
          <p:cNvPr id="17" name="Shape 15"/>
          <p:cNvSpPr/>
          <p:nvPr/>
        </p:nvSpPr>
        <p:spPr>
          <a:xfrm>
            <a:off x="4881563" y="1993900"/>
            <a:ext cx="4176712" cy="1362075"/>
          </a:xfrm>
          <a:prstGeom prst="roundRect">
            <a:avLst>
              <a:gd name="adj" fmla="val 8392"/>
            </a:avLst>
          </a:prstGeom>
          <a:solidFill>
            <a:srgbClr val="FFFFFF">
              <a:alpha val="4000"/>
            </a:srgbClr>
          </a:solidFill>
          <a:ln/>
        </p:spPr>
        <p:txBody>
          <a:bodyPr/>
          <a:lstStyle/>
          <a:p>
            <a:endParaRPr lang="en-US"/>
          </a:p>
        </p:txBody>
      </p:sp>
      <p:sp>
        <p:nvSpPr>
          <p:cNvPr id="18" name="Shape 16"/>
          <p:cNvSpPr/>
          <p:nvPr/>
        </p:nvSpPr>
        <p:spPr>
          <a:xfrm>
            <a:off x="4881563" y="3343275"/>
            <a:ext cx="4176712" cy="12700"/>
          </a:xfrm>
          <a:prstGeom prst="rect">
            <a:avLst/>
          </a:prstGeom>
          <a:solidFill>
            <a:srgbClr val="FFFFFF">
              <a:alpha val="10000"/>
            </a:srgbClr>
          </a:solidFill>
          <a:ln/>
        </p:spPr>
        <p:txBody>
          <a:bodyPr/>
          <a:lstStyle/>
          <a:p>
            <a:endParaRPr lang="en-US"/>
          </a:p>
        </p:txBody>
      </p:sp>
      <p:sp>
        <p:nvSpPr>
          <p:cNvPr id="19" name="Shape 17"/>
          <p:cNvSpPr/>
          <p:nvPr/>
        </p:nvSpPr>
        <p:spPr>
          <a:xfrm>
            <a:off x="4881563" y="1993900"/>
            <a:ext cx="4176712" cy="25400"/>
          </a:xfrm>
          <a:prstGeom prst="rect">
            <a:avLst/>
          </a:prstGeom>
          <a:solidFill>
            <a:srgbClr val="F2A33C"/>
          </a:solidFill>
          <a:ln/>
        </p:spPr>
        <p:txBody>
          <a:bodyPr/>
          <a:lstStyle/>
          <a:p>
            <a:endParaRPr lang="en-US"/>
          </a:p>
        </p:txBody>
      </p:sp>
      <p:sp>
        <p:nvSpPr>
          <p:cNvPr id="20" name="Shape 18"/>
          <p:cNvSpPr/>
          <p:nvPr/>
        </p:nvSpPr>
        <p:spPr>
          <a:xfrm>
            <a:off x="4881563" y="1993900"/>
            <a:ext cx="12700" cy="1362075"/>
          </a:xfrm>
          <a:prstGeom prst="rect">
            <a:avLst/>
          </a:prstGeom>
          <a:solidFill>
            <a:srgbClr val="FFFFFF">
              <a:alpha val="10000"/>
            </a:srgbClr>
          </a:solidFill>
          <a:ln/>
        </p:spPr>
        <p:txBody>
          <a:bodyPr/>
          <a:lstStyle/>
          <a:p>
            <a:endParaRPr lang="en-US"/>
          </a:p>
        </p:txBody>
      </p:sp>
      <p:sp>
        <p:nvSpPr>
          <p:cNvPr id="21" name="Shape 19"/>
          <p:cNvSpPr/>
          <p:nvPr/>
        </p:nvSpPr>
        <p:spPr>
          <a:xfrm>
            <a:off x="9045575" y="1993900"/>
            <a:ext cx="12700" cy="1362075"/>
          </a:xfrm>
          <a:prstGeom prst="rect">
            <a:avLst/>
          </a:prstGeom>
          <a:solidFill>
            <a:srgbClr val="FFFFFF">
              <a:alpha val="10000"/>
            </a:srgbClr>
          </a:solidFill>
          <a:ln/>
        </p:spPr>
        <p:txBody>
          <a:bodyPr/>
          <a:lstStyle/>
          <a:p>
            <a:endParaRPr lang="en-US"/>
          </a:p>
        </p:txBody>
      </p:sp>
      <p:sp>
        <p:nvSpPr>
          <p:cNvPr id="22" name="Text 20"/>
          <p:cNvSpPr/>
          <p:nvPr/>
        </p:nvSpPr>
        <p:spPr>
          <a:xfrm>
            <a:off x="5103813" y="2190750"/>
            <a:ext cx="4105434" cy="514350"/>
          </a:xfrm>
          <a:prstGeom prst="rect">
            <a:avLst/>
          </a:prstGeom>
          <a:noFill/>
          <a:ln/>
          <a:effectLst>
            <a:outerShdw blurRad="228600" dist="50800" dir="16200000" algn="bl" rotWithShape="0">
              <a:srgbClr val="F2A33C">
                <a:alpha val="45000"/>
              </a:srgbClr>
            </a:outerShdw>
          </a:effectLst>
        </p:spPr>
        <p:txBody>
          <a:bodyPr wrap="square" lIns="25400" tIns="25400" rIns="25400" bIns="25400" rtlCol="0" anchor="t">
            <a:normAutofit/>
          </a:bodyPr>
          <a:lstStyle/>
          <a:p>
            <a:pPr marL="0" indent="0" algn="l">
              <a:lnSpc>
                <a:spcPct val="100000"/>
              </a:lnSpc>
              <a:buNone/>
            </a:pPr>
            <a:r>
              <a:rPr lang="en-US" sz="3750" b="1" dirty="0">
                <a:solidFill>
                  <a:srgbClr val="F4B463"/>
                </a:solidFill>
                <a:latin typeface="Arial" pitchFamily="34" charset="0"/>
                <a:ea typeface="Arial" pitchFamily="34" charset="-122"/>
                <a:cs typeface="Arial" pitchFamily="34" charset="-120"/>
              </a:rPr>
              <a:t>85.1%</a:t>
            </a:r>
            <a:endParaRPr lang="en-US" sz="3750" dirty="0"/>
          </a:p>
        </p:txBody>
      </p:sp>
      <p:sp>
        <p:nvSpPr>
          <p:cNvPr id="23" name="Text 21"/>
          <p:cNvSpPr/>
          <p:nvPr/>
        </p:nvSpPr>
        <p:spPr>
          <a:xfrm>
            <a:off x="5103813" y="2752725"/>
            <a:ext cx="410543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XGBoost F1 Score</a:t>
            </a:r>
            <a:endParaRPr lang="en-US" sz="1575" dirty="0"/>
          </a:p>
        </p:txBody>
      </p:sp>
      <p:sp>
        <p:nvSpPr>
          <p:cNvPr id="24" name="Text 22"/>
          <p:cNvSpPr/>
          <p:nvPr/>
        </p:nvSpPr>
        <p:spPr>
          <a:xfrm>
            <a:off x="5103813" y="2981325"/>
            <a:ext cx="410543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weighted</a:t>
            </a:r>
            <a:endParaRPr lang="en-US" sz="1275" dirty="0"/>
          </a:p>
        </p:txBody>
      </p:sp>
      <p:sp>
        <p:nvSpPr>
          <p:cNvPr id="25" name="Shape 23"/>
          <p:cNvSpPr/>
          <p:nvPr/>
        </p:nvSpPr>
        <p:spPr>
          <a:xfrm>
            <a:off x="9229725" y="1993900"/>
            <a:ext cx="4176712" cy="1362075"/>
          </a:xfrm>
          <a:prstGeom prst="roundRect">
            <a:avLst>
              <a:gd name="adj" fmla="val 8392"/>
            </a:avLst>
          </a:prstGeom>
          <a:solidFill>
            <a:srgbClr val="FFFFFF">
              <a:alpha val="4000"/>
            </a:srgbClr>
          </a:solidFill>
          <a:ln/>
        </p:spPr>
        <p:txBody>
          <a:bodyPr/>
          <a:lstStyle/>
          <a:p>
            <a:endParaRPr lang="en-US"/>
          </a:p>
        </p:txBody>
      </p:sp>
      <p:sp>
        <p:nvSpPr>
          <p:cNvPr id="26" name="Shape 24"/>
          <p:cNvSpPr/>
          <p:nvPr/>
        </p:nvSpPr>
        <p:spPr>
          <a:xfrm>
            <a:off x="9229725" y="3343275"/>
            <a:ext cx="4176712" cy="12700"/>
          </a:xfrm>
          <a:prstGeom prst="rect">
            <a:avLst/>
          </a:prstGeom>
          <a:solidFill>
            <a:srgbClr val="FFFFFF">
              <a:alpha val="10000"/>
            </a:srgbClr>
          </a:solidFill>
          <a:ln/>
        </p:spPr>
        <p:txBody>
          <a:bodyPr/>
          <a:lstStyle/>
          <a:p>
            <a:endParaRPr lang="en-US"/>
          </a:p>
        </p:txBody>
      </p:sp>
      <p:sp>
        <p:nvSpPr>
          <p:cNvPr id="27" name="Shape 25"/>
          <p:cNvSpPr/>
          <p:nvPr/>
        </p:nvSpPr>
        <p:spPr>
          <a:xfrm>
            <a:off x="9229725" y="1993900"/>
            <a:ext cx="4176712" cy="25400"/>
          </a:xfrm>
          <a:prstGeom prst="rect">
            <a:avLst/>
          </a:prstGeom>
          <a:solidFill>
            <a:srgbClr val="6FB3F2"/>
          </a:solidFill>
          <a:ln/>
        </p:spPr>
        <p:txBody>
          <a:bodyPr/>
          <a:lstStyle/>
          <a:p>
            <a:endParaRPr lang="en-US"/>
          </a:p>
        </p:txBody>
      </p:sp>
      <p:sp>
        <p:nvSpPr>
          <p:cNvPr id="28" name="Shape 26"/>
          <p:cNvSpPr/>
          <p:nvPr/>
        </p:nvSpPr>
        <p:spPr>
          <a:xfrm>
            <a:off x="9229725" y="1993900"/>
            <a:ext cx="12700" cy="1362075"/>
          </a:xfrm>
          <a:prstGeom prst="rect">
            <a:avLst/>
          </a:prstGeom>
          <a:solidFill>
            <a:srgbClr val="FFFFFF">
              <a:alpha val="10000"/>
            </a:srgbClr>
          </a:solidFill>
          <a:ln/>
        </p:spPr>
        <p:txBody>
          <a:bodyPr/>
          <a:lstStyle/>
          <a:p>
            <a:endParaRPr lang="en-US"/>
          </a:p>
        </p:txBody>
      </p:sp>
      <p:sp>
        <p:nvSpPr>
          <p:cNvPr id="29" name="Shape 27"/>
          <p:cNvSpPr/>
          <p:nvPr/>
        </p:nvSpPr>
        <p:spPr>
          <a:xfrm>
            <a:off x="13393738" y="1993900"/>
            <a:ext cx="12700" cy="1362075"/>
          </a:xfrm>
          <a:prstGeom prst="rect">
            <a:avLst/>
          </a:prstGeom>
          <a:solidFill>
            <a:srgbClr val="FFFFFF">
              <a:alpha val="10000"/>
            </a:srgbClr>
          </a:solidFill>
          <a:ln/>
        </p:spPr>
        <p:txBody>
          <a:bodyPr/>
          <a:lstStyle/>
          <a:p>
            <a:endParaRPr lang="en-US"/>
          </a:p>
        </p:txBody>
      </p:sp>
      <p:sp>
        <p:nvSpPr>
          <p:cNvPr id="30" name="Text 28"/>
          <p:cNvSpPr/>
          <p:nvPr/>
        </p:nvSpPr>
        <p:spPr>
          <a:xfrm>
            <a:off x="9451975" y="2190750"/>
            <a:ext cx="4105434" cy="514350"/>
          </a:xfrm>
          <a:prstGeom prst="rect">
            <a:avLst/>
          </a:prstGeom>
          <a:noFill/>
          <a:ln/>
          <a:effectLst>
            <a:outerShdw blurRad="228600" dist="50800" dir="16200000" algn="bl" rotWithShape="0">
              <a:srgbClr val="3B8EE6">
                <a:alpha val="45000"/>
              </a:srgbClr>
            </a:outerShdw>
          </a:effectLst>
        </p:spPr>
        <p:txBody>
          <a:bodyPr wrap="square" lIns="25400" tIns="25400" rIns="25400" bIns="25400" rtlCol="0" anchor="t">
            <a:normAutofit/>
          </a:bodyPr>
          <a:lstStyle/>
          <a:p>
            <a:pPr marL="0" indent="0" algn="l">
              <a:lnSpc>
                <a:spcPct val="100000"/>
              </a:lnSpc>
              <a:buNone/>
            </a:pPr>
            <a:r>
              <a:rPr lang="en-US" sz="3750" b="1" dirty="0">
                <a:solidFill>
                  <a:srgbClr val="6FB3F2"/>
                </a:solidFill>
                <a:latin typeface="Arial" pitchFamily="34" charset="0"/>
                <a:ea typeface="Arial" pitchFamily="34" charset="-122"/>
                <a:cs typeface="Arial" pitchFamily="34" charset="-120"/>
              </a:rPr>
              <a:t>0.95</a:t>
            </a:r>
            <a:endParaRPr lang="en-US" sz="3750" dirty="0"/>
          </a:p>
        </p:txBody>
      </p:sp>
      <p:sp>
        <p:nvSpPr>
          <p:cNvPr id="31" name="Text 29"/>
          <p:cNvSpPr/>
          <p:nvPr/>
        </p:nvSpPr>
        <p:spPr>
          <a:xfrm>
            <a:off x="9451975" y="2752725"/>
            <a:ext cx="410543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Confidence Threshold</a:t>
            </a:r>
            <a:endParaRPr lang="en-US" sz="1575" dirty="0"/>
          </a:p>
        </p:txBody>
      </p:sp>
      <p:sp>
        <p:nvSpPr>
          <p:cNvPr id="32" name="Text 30"/>
          <p:cNvSpPr/>
          <p:nvPr/>
        </p:nvSpPr>
        <p:spPr>
          <a:xfrm>
            <a:off x="9451975" y="2981325"/>
            <a:ext cx="410543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below = clean</a:t>
            </a:r>
            <a:endParaRPr lang="en-US" sz="1275" dirty="0"/>
          </a:p>
        </p:txBody>
      </p:sp>
      <p:sp>
        <p:nvSpPr>
          <p:cNvPr id="33" name="Shape 31"/>
          <p:cNvSpPr/>
          <p:nvPr/>
        </p:nvSpPr>
        <p:spPr>
          <a:xfrm>
            <a:off x="13577888" y="1993900"/>
            <a:ext cx="4176712" cy="1362075"/>
          </a:xfrm>
          <a:prstGeom prst="roundRect">
            <a:avLst>
              <a:gd name="adj" fmla="val 8392"/>
            </a:avLst>
          </a:prstGeom>
          <a:solidFill>
            <a:srgbClr val="FFFFFF">
              <a:alpha val="4000"/>
            </a:srgbClr>
          </a:solidFill>
          <a:ln/>
        </p:spPr>
        <p:txBody>
          <a:bodyPr/>
          <a:lstStyle/>
          <a:p>
            <a:endParaRPr lang="en-US"/>
          </a:p>
        </p:txBody>
      </p:sp>
      <p:sp>
        <p:nvSpPr>
          <p:cNvPr id="34" name="Shape 32"/>
          <p:cNvSpPr/>
          <p:nvPr/>
        </p:nvSpPr>
        <p:spPr>
          <a:xfrm>
            <a:off x="13577888" y="3343275"/>
            <a:ext cx="4176712" cy="12700"/>
          </a:xfrm>
          <a:prstGeom prst="rect">
            <a:avLst/>
          </a:prstGeom>
          <a:solidFill>
            <a:srgbClr val="FFFFFF">
              <a:alpha val="10000"/>
            </a:srgbClr>
          </a:solidFill>
          <a:ln/>
        </p:spPr>
        <p:txBody>
          <a:bodyPr/>
          <a:lstStyle/>
          <a:p>
            <a:endParaRPr lang="en-US"/>
          </a:p>
        </p:txBody>
      </p:sp>
      <p:sp>
        <p:nvSpPr>
          <p:cNvPr id="35" name="Shape 33"/>
          <p:cNvSpPr/>
          <p:nvPr/>
        </p:nvSpPr>
        <p:spPr>
          <a:xfrm>
            <a:off x="13577888" y="1993900"/>
            <a:ext cx="4176712" cy="25400"/>
          </a:xfrm>
          <a:prstGeom prst="rect">
            <a:avLst/>
          </a:prstGeom>
          <a:solidFill>
            <a:srgbClr val="34C27E"/>
          </a:solidFill>
          <a:ln/>
        </p:spPr>
        <p:txBody>
          <a:bodyPr/>
          <a:lstStyle/>
          <a:p>
            <a:endParaRPr lang="en-US"/>
          </a:p>
        </p:txBody>
      </p:sp>
      <p:sp>
        <p:nvSpPr>
          <p:cNvPr id="36" name="Shape 34"/>
          <p:cNvSpPr/>
          <p:nvPr/>
        </p:nvSpPr>
        <p:spPr>
          <a:xfrm>
            <a:off x="13577888" y="1993900"/>
            <a:ext cx="12700" cy="1362075"/>
          </a:xfrm>
          <a:prstGeom prst="rect">
            <a:avLst/>
          </a:prstGeom>
          <a:solidFill>
            <a:srgbClr val="FFFFFF">
              <a:alpha val="10000"/>
            </a:srgbClr>
          </a:solidFill>
          <a:ln/>
        </p:spPr>
        <p:txBody>
          <a:bodyPr/>
          <a:lstStyle/>
          <a:p>
            <a:endParaRPr lang="en-US"/>
          </a:p>
        </p:txBody>
      </p:sp>
      <p:sp>
        <p:nvSpPr>
          <p:cNvPr id="37" name="Shape 35"/>
          <p:cNvSpPr/>
          <p:nvPr/>
        </p:nvSpPr>
        <p:spPr>
          <a:xfrm>
            <a:off x="17741900" y="1993900"/>
            <a:ext cx="12700" cy="1362075"/>
          </a:xfrm>
          <a:prstGeom prst="rect">
            <a:avLst/>
          </a:prstGeom>
          <a:solidFill>
            <a:srgbClr val="FFFFFF">
              <a:alpha val="10000"/>
            </a:srgbClr>
          </a:solidFill>
          <a:ln/>
        </p:spPr>
        <p:txBody>
          <a:bodyPr/>
          <a:lstStyle/>
          <a:p>
            <a:endParaRPr lang="en-US"/>
          </a:p>
        </p:txBody>
      </p:sp>
      <p:sp>
        <p:nvSpPr>
          <p:cNvPr id="38" name="Text 36"/>
          <p:cNvSpPr/>
          <p:nvPr/>
        </p:nvSpPr>
        <p:spPr>
          <a:xfrm>
            <a:off x="13800138" y="2190750"/>
            <a:ext cx="4105434" cy="514350"/>
          </a:xfrm>
          <a:prstGeom prst="rect">
            <a:avLst/>
          </a:prstGeom>
          <a:noFill/>
          <a:ln/>
          <a:effectLst>
            <a:outerShdw blurRad="228600" dist="50800" dir="16200000" algn="bl" rotWithShape="0">
              <a:srgbClr val="34C27E">
                <a:alpha val="45000"/>
              </a:srgbClr>
            </a:outerShdw>
          </a:effectLst>
        </p:spPr>
        <p:txBody>
          <a:bodyPr wrap="square" lIns="25400" tIns="25400" rIns="25400" bIns="25400" rtlCol="0" anchor="t">
            <a:normAutofit/>
          </a:bodyPr>
          <a:lstStyle/>
          <a:p>
            <a:pPr marL="0" indent="0" algn="l">
              <a:lnSpc>
                <a:spcPct val="100000"/>
              </a:lnSpc>
              <a:buNone/>
            </a:pPr>
            <a:r>
              <a:rPr lang="en-US" sz="3750" b="1" dirty="0">
                <a:solidFill>
                  <a:srgbClr val="5BD39A"/>
                </a:solidFill>
                <a:latin typeface="Arial" pitchFamily="34" charset="0"/>
                <a:ea typeface="Arial" pitchFamily="34" charset="-122"/>
                <a:cs typeface="Arial" pitchFamily="34" charset="-120"/>
              </a:rPr>
              <a:t>0%</a:t>
            </a:r>
            <a:endParaRPr lang="en-US" sz="3750" dirty="0"/>
          </a:p>
        </p:txBody>
      </p:sp>
      <p:sp>
        <p:nvSpPr>
          <p:cNvPr id="39" name="Text 37"/>
          <p:cNvSpPr/>
          <p:nvPr/>
        </p:nvSpPr>
        <p:spPr>
          <a:xfrm>
            <a:off x="13800138" y="2752725"/>
            <a:ext cx="410543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Rule Engine FP Rate</a:t>
            </a:r>
            <a:endParaRPr lang="en-US" sz="1575" dirty="0"/>
          </a:p>
        </p:txBody>
      </p:sp>
      <p:sp>
        <p:nvSpPr>
          <p:cNvPr id="40" name="Text 38"/>
          <p:cNvSpPr/>
          <p:nvPr/>
        </p:nvSpPr>
        <p:spPr>
          <a:xfrm>
            <a:off x="13800138" y="2981325"/>
            <a:ext cx="410543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physics-derived</a:t>
            </a:r>
            <a:endParaRPr lang="en-US" sz="1275" dirty="0"/>
          </a:p>
        </p:txBody>
      </p:sp>
      <p:sp>
        <p:nvSpPr>
          <p:cNvPr id="41" name="Shape 39"/>
          <p:cNvSpPr/>
          <p:nvPr/>
        </p:nvSpPr>
        <p:spPr>
          <a:xfrm>
            <a:off x="533400" y="3527425"/>
            <a:ext cx="4176712" cy="1362075"/>
          </a:xfrm>
          <a:prstGeom prst="roundRect">
            <a:avLst>
              <a:gd name="adj" fmla="val 8392"/>
            </a:avLst>
          </a:prstGeom>
          <a:solidFill>
            <a:srgbClr val="FFFFFF">
              <a:alpha val="4000"/>
            </a:srgbClr>
          </a:solidFill>
          <a:ln/>
        </p:spPr>
        <p:txBody>
          <a:bodyPr/>
          <a:lstStyle/>
          <a:p>
            <a:endParaRPr lang="en-US"/>
          </a:p>
        </p:txBody>
      </p:sp>
      <p:sp>
        <p:nvSpPr>
          <p:cNvPr id="42" name="Shape 40"/>
          <p:cNvSpPr/>
          <p:nvPr/>
        </p:nvSpPr>
        <p:spPr>
          <a:xfrm>
            <a:off x="533400" y="4876800"/>
            <a:ext cx="4176712" cy="12700"/>
          </a:xfrm>
          <a:prstGeom prst="rect">
            <a:avLst/>
          </a:prstGeom>
          <a:solidFill>
            <a:srgbClr val="FFFFFF">
              <a:alpha val="10000"/>
            </a:srgbClr>
          </a:solidFill>
          <a:ln/>
        </p:spPr>
        <p:txBody>
          <a:bodyPr/>
          <a:lstStyle/>
          <a:p>
            <a:endParaRPr lang="en-US"/>
          </a:p>
        </p:txBody>
      </p:sp>
      <p:sp>
        <p:nvSpPr>
          <p:cNvPr id="43" name="Shape 41"/>
          <p:cNvSpPr/>
          <p:nvPr/>
        </p:nvSpPr>
        <p:spPr>
          <a:xfrm>
            <a:off x="533400" y="3527425"/>
            <a:ext cx="4176712" cy="25400"/>
          </a:xfrm>
          <a:prstGeom prst="rect">
            <a:avLst/>
          </a:prstGeom>
          <a:solidFill>
            <a:srgbClr val="F0584E"/>
          </a:solidFill>
          <a:ln/>
        </p:spPr>
        <p:txBody>
          <a:bodyPr/>
          <a:lstStyle/>
          <a:p>
            <a:endParaRPr lang="en-US"/>
          </a:p>
        </p:txBody>
      </p:sp>
      <p:sp>
        <p:nvSpPr>
          <p:cNvPr id="44" name="Shape 42"/>
          <p:cNvSpPr/>
          <p:nvPr/>
        </p:nvSpPr>
        <p:spPr>
          <a:xfrm>
            <a:off x="533400" y="3527425"/>
            <a:ext cx="12700" cy="1362075"/>
          </a:xfrm>
          <a:prstGeom prst="rect">
            <a:avLst/>
          </a:prstGeom>
          <a:solidFill>
            <a:srgbClr val="FFFFFF">
              <a:alpha val="10000"/>
            </a:srgbClr>
          </a:solidFill>
          <a:ln/>
        </p:spPr>
        <p:txBody>
          <a:bodyPr/>
          <a:lstStyle/>
          <a:p>
            <a:endParaRPr lang="en-US"/>
          </a:p>
        </p:txBody>
      </p:sp>
      <p:sp>
        <p:nvSpPr>
          <p:cNvPr id="45" name="Shape 43"/>
          <p:cNvSpPr/>
          <p:nvPr/>
        </p:nvSpPr>
        <p:spPr>
          <a:xfrm>
            <a:off x="4697413" y="3527425"/>
            <a:ext cx="12700" cy="1362075"/>
          </a:xfrm>
          <a:prstGeom prst="rect">
            <a:avLst/>
          </a:prstGeom>
          <a:solidFill>
            <a:srgbClr val="FFFFFF">
              <a:alpha val="10000"/>
            </a:srgbClr>
          </a:solidFill>
          <a:ln/>
        </p:spPr>
        <p:txBody>
          <a:bodyPr/>
          <a:lstStyle/>
          <a:p>
            <a:endParaRPr lang="en-US"/>
          </a:p>
        </p:txBody>
      </p:sp>
      <p:sp>
        <p:nvSpPr>
          <p:cNvPr id="46" name="Text 44"/>
          <p:cNvSpPr/>
          <p:nvPr/>
        </p:nvSpPr>
        <p:spPr>
          <a:xfrm>
            <a:off x="755650" y="3724275"/>
            <a:ext cx="4105434" cy="514350"/>
          </a:xfrm>
          <a:prstGeom prst="rect">
            <a:avLst/>
          </a:prstGeom>
          <a:noFill/>
          <a:ln/>
          <a:effectLst>
            <a:outerShdw blurRad="228600" dist="50800" dir="16200000" algn="bl" rotWithShape="0">
              <a:srgbClr val="F0584E">
                <a:alpha val="45000"/>
              </a:srgbClr>
            </a:outerShdw>
          </a:effectLst>
        </p:spPr>
        <p:txBody>
          <a:bodyPr wrap="square" lIns="25400" tIns="25400" rIns="25400" bIns="25400" rtlCol="0" anchor="t">
            <a:normAutofit/>
          </a:bodyPr>
          <a:lstStyle/>
          <a:p>
            <a:pPr marL="0" indent="0" algn="l">
              <a:lnSpc>
                <a:spcPct val="100000"/>
              </a:lnSpc>
              <a:buNone/>
            </a:pPr>
            <a:r>
              <a:rPr lang="en-US" sz="3750" b="1" dirty="0">
                <a:solidFill>
                  <a:srgbClr val="F47E76"/>
                </a:solidFill>
                <a:latin typeface="Arial" pitchFamily="34" charset="0"/>
                <a:ea typeface="Arial" pitchFamily="34" charset="-122"/>
                <a:cs typeface="Arial" pitchFamily="34" charset="-120"/>
              </a:rPr>
              <a:t>0.53</a:t>
            </a:r>
            <a:endParaRPr lang="en-US" sz="3750" dirty="0"/>
          </a:p>
        </p:txBody>
      </p:sp>
      <p:sp>
        <p:nvSpPr>
          <p:cNvPr id="47" name="Text 45"/>
          <p:cNvSpPr/>
          <p:nvPr/>
        </p:nvSpPr>
        <p:spPr>
          <a:xfrm>
            <a:off x="755650" y="4286250"/>
            <a:ext cx="410543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LSTM Anomaly Mean</a:t>
            </a:r>
            <a:endParaRPr lang="en-US" sz="1575" dirty="0"/>
          </a:p>
        </p:txBody>
      </p:sp>
      <p:sp>
        <p:nvSpPr>
          <p:cNvPr id="48" name="Text 46"/>
          <p:cNvSpPr/>
          <p:nvPr/>
        </p:nvSpPr>
        <p:spPr>
          <a:xfrm>
            <a:off x="755650" y="4514850"/>
            <a:ext cx="410543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reconstruction error</a:t>
            </a:r>
            <a:endParaRPr lang="en-US" sz="1275" dirty="0"/>
          </a:p>
        </p:txBody>
      </p:sp>
      <p:sp>
        <p:nvSpPr>
          <p:cNvPr id="49" name="Shape 47"/>
          <p:cNvSpPr/>
          <p:nvPr/>
        </p:nvSpPr>
        <p:spPr>
          <a:xfrm>
            <a:off x="4881563" y="3527425"/>
            <a:ext cx="4176712" cy="1362075"/>
          </a:xfrm>
          <a:prstGeom prst="roundRect">
            <a:avLst>
              <a:gd name="adj" fmla="val 8392"/>
            </a:avLst>
          </a:prstGeom>
          <a:solidFill>
            <a:srgbClr val="FFFFFF">
              <a:alpha val="4000"/>
            </a:srgbClr>
          </a:solidFill>
          <a:ln/>
        </p:spPr>
        <p:txBody>
          <a:bodyPr/>
          <a:lstStyle/>
          <a:p>
            <a:endParaRPr lang="en-US"/>
          </a:p>
        </p:txBody>
      </p:sp>
      <p:sp>
        <p:nvSpPr>
          <p:cNvPr id="50" name="Shape 48"/>
          <p:cNvSpPr/>
          <p:nvPr/>
        </p:nvSpPr>
        <p:spPr>
          <a:xfrm>
            <a:off x="4881563" y="4876800"/>
            <a:ext cx="4176712" cy="12700"/>
          </a:xfrm>
          <a:prstGeom prst="rect">
            <a:avLst/>
          </a:prstGeom>
          <a:solidFill>
            <a:srgbClr val="FFFFFF">
              <a:alpha val="10000"/>
            </a:srgbClr>
          </a:solidFill>
          <a:ln/>
        </p:spPr>
        <p:txBody>
          <a:bodyPr/>
          <a:lstStyle/>
          <a:p>
            <a:endParaRPr lang="en-US"/>
          </a:p>
        </p:txBody>
      </p:sp>
      <p:sp>
        <p:nvSpPr>
          <p:cNvPr id="51" name="Shape 49"/>
          <p:cNvSpPr/>
          <p:nvPr/>
        </p:nvSpPr>
        <p:spPr>
          <a:xfrm>
            <a:off x="4881563" y="3527425"/>
            <a:ext cx="4176712" cy="25400"/>
          </a:xfrm>
          <a:prstGeom prst="rect">
            <a:avLst/>
          </a:prstGeom>
          <a:solidFill>
            <a:srgbClr val="F0584E"/>
          </a:solidFill>
          <a:ln/>
        </p:spPr>
        <p:txBody>
          <a:bodyPr/>
          <a:lstStyle/>
          <a:p>
            <a:endParaRPr lang="en-US"/>
          </a:p>
        </p:txBody>
      </p:sp>
      <p:sp>
        <p:nvSpPr>
          <p:cNvPr id="52" name="Shape 50"/>
          <p:cNvSpPr/>
          <p:nvPr/>
        </p:nvSpPr>
        <p:spPr>
          <a:xfrm>
            <a:off x="4881563" y="3527425"/>
            <a:ext cx="12700" cy="1362075"/>
          </a:xfrm>
          <a:prstGeom prst="rect">
            <a:avLst/>
          </a:prstGeom>
          <a:solidFill>
            <a:srgbClr val="FFFFFF">
              <a:alpha val="10000"/>
            </a:srgbClr>
          </a:solidFill>
          <a:ln/>
        </p:spPr>
        <p:txBody>
          <a:bodyPr/>
          <a:lstStyle/>
          <a:p>
            <a:endParaRPr lang="en-US"/>
          </a:p>
        </p:txBody>
      </p:sp>
      <p:sp>
        <p:nvSpPr>
          <p:cNvPr id="53" name="Shape 51"/>
          <p:cNvSpPr/>
          <p:nvPr/>
        </p:nvSpPr>
        <p:spPr>
          <a:xfrm>
            <a:off x="9045575" y="3527425"/>
            <a:ext cx="12700" cy="1362075"/>
          </a:xfrm>
          <a:prstGeom prst="rect">
            <a:avLst/>
          </a:prstGeom>
          <a:solidFill>
            <a:srgbClr val="FFFFFF">
              <a:alpha val="10000"/>
            </a:srgbClr>
          </a:solidFill>
          <a:ln/>
        </p:spPr>
        <p:txBody>
          <a:bodyPr/>
          <a:lstStyle/>
          <a:p>
            <a:endParaRPr lang="en-US"/>
          </a:p>
        </p:txBody>
      </p:sp>
      <p:sp>
        <p:nvSpPr>
          <p:cNvPr id="54" name="Text 52"/>
          <p:cNvSpPr/>
          <p:nvPr/>
        </p:nvSpPr>
        <p:spPr>
          <a:xfrm>
            <a:off x="5103813" y="3724275"/>
            <a:ext cx="4105434" cy="514350"/>
          </a:xfrm>
          <a:prstGeom prst="rect">
            <a:avLst/>
          </a:prstGeom>
          <a:noFill/>
          <a:ln/>
          <a:effectLst>
            <a:outerShdw blurRad="228600" dist="50800" dir="16200000" algn="bl" rotWithShape="0">
              <a:srgbClr val="F0584E">
                <a:alpha val="45000"/>
              </a:srgbClr>
            </a:outerShdw>
          </a:effectLst>
        </p:spPr>
        <p:txBody>
          <a:bodyPr wrap="square" lIns="25400" tIns="25400" rIns="25400" bIns="25400" rtlCol="0" anchor="t">
            <a:normAutofit/>
          </a:bodyPr>
          <a:lstStyle/>
          <a:p>
            <a:pPr marL="0" indent="0" algn="l">
              <a:lnSpc>
                <a:spcPct val="100000"/>
              </a:lnSpc>
              <a:buNone/>
            </a:pPr>
            <a:r>
              <a:rPr lang="en-US" sz="3750" b="1" dirty="0">
                <a:solidFill>
                  <a:srgbClr val="F47E76"/>
                </a:solidFill>
                <a:latin typeface="Arial" pitchFamily="34" charset="0"/>
                <a:ea typeface="Arial" pitchFamily="34" charset="-122"/>
                <a:cs typeface="Arial" pitchFamily="34" charset="-120"/>
              </a:rPr>
              <a:t>1.12</a:t>
            </a:r>
            <a:endParaRPr lang="en-US" sz="3750" dirty="0"/>
          </a:p>
        </p:txBody>
      </p:sp>
      <p:sp>
        <p:nvSpPr>
          <p:cNvPr id="55" name="Text 53"/>
          <p:cNvSpPr/>
          <p:nvPr/>
        </p:nvSpPr>
        <p:spPr>
          <a:xfrm>
            <a:off x="5103813" y="4286250"/>
            <a:ext cx="410543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Anomaly Threshold</a:t>
            </a:r>
            <a:endParaRPr lang="en-US" sz="1575" dirty="0"/>
          </a:p>
        </p:txBody>
      </p:sp>
      <p:sp>
        <p:nvSpPr>
          <p:cNvPr id="56" name="Text 54"/>
          <p:cNvSpPr/>
          <p:nvPr/>
        </p:nvSpPr>
        <p:spPr>
          <a:xfrm>
            <a:off x="5103813" y="4514850"/>
            <a:ext cx="410543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mean + 4σ</a:t>
            </a:r>
            <a:endParaRPr lang="en-US" sz="1275" dirty="0"/>
          </a:p>
        </p:txBody>
      </p:sp>
      <p:sp>
        <p:nvSpPr>
          <p:cNvPr id="57" name="Shape 55"/>
          <p:cNvSpPr/>
          <p:nvPr/>
        </p:nvSpPr>
        <p:spPr>
          <a:xfrm>
            <a:off x="9229725" y="3527425"/>
            <a:ext cx="4176712" cy="1362075"/>
          </a:xfrm>
          <a:prstGeom prst="roundRect">
            <a:avLst>
              <a:gd name="adj" fmla="val 8392"/>
            </a:avLst>
          </a:prstGeom>
          <a:solidFill>
            <a:srgbClr val="FFFFFF">
              <a:alpha val="4000"/>
            </a:srgbClr>
          </a:solidFill>
          <a:ln/>
        </p:spPr>
        <p:txBody>
          <a:bodyPr/>
          <a:lstStyle/>
          <a:p>
            <a:endParaRPr lang="en-US"/>
          </a:p>
        </p:txBody>
      </p:sp>
      <p:sp>
        <p:nvSpPr>
          <p:cNvPr id="58" name="Shape 56"/>
          <p:cNvSpPr/>
          <p:nvPr/>
        </p:nvSpPr>
        <p:spPr>
          <a:xfrm>
            <a:off x="9229725" y="4876800"/>
            <a:ext cx="4176712" cy="12700"/>
          </a:xfrm>
          <a:prstGeom prst="rect">
            <a:avLst/>
          </a:prstGeom>
          <a:solidFill>
            <a:srgbClr val="FFFFFF">
              <a:alpha val="10000"/>
            </a:srgbClr>
          </a:solidFill>
          <a:ln/>
        </p:spPr>
        <p:txBody>
          <a:bodyPr/>
          <a:lstStyle/>
          <a:p>
            <a:endParaRPr lang="en-US"/>
          </a:p>
        </p:txBody>
      </p:sp>
      <p:sp>
        <p:nvSpPr>
          <p:cNvPr id="59" name="Shape 57"/>
          <p:cNvSpPr/>
          <p:nvPr/>
        </p:nvSpPr>
        <p:spPr>
          <a:xfrm>
            <a:off x="9229725" y="3527425"/>
            <a:ext cx="4176712" cy="25400"/>
          </a:xfrm>
          <a:prstGeom prst="rect">
            <a:avLst/>
          </a:prstGeom>
          <a:solidFill>
            <a:srgbClr val="6FB3F2"/>
          </a:solidFill>
          <a:ln/>
        </p:spPr>
        <p:txBody>
          <a:bodyPr/>
          <a:lstStyle/>
          <a:p>
            <a:endParaRPr lang="en-US"/>
          </a:p>
        </p:txBody>
      </p:sp>
      <p:sp>
        <p:nvSpPr>
          <p:cNvPr id="60" name="Shape 58"/>
          <p:cNvSpPr/>
          <p:nvPr/>
        </p:nvSpPr>
        <p:spPr>
          <a:xfrm>
            <a:off x="9229725" y="3527425"/>
            <a:ext cx="12700" cy="1362075"/>
          </a:xfrm>
          <a:prstGeom prst="rect">
            <a:avLst/>
          </a:prstGeom>
          <a:solidFill>
            <a:srgbClr val="FFFFFF">
              <a:alpha val="10000"/>
            </a:srgbClr>
          </a:solidFill>
          <a:ln/>
        </p:spPr>
        <p:txBody>
          <a:bodyPr/>
          <a:lstStyle/>
          <a:p>
            <a:endParaRPr lang="en-US"/>
          </a:p>
        </p:txBody>
      </p:sp>
      <p:sp>
        <p:nvSpPr>
          <p:cNvPr id="61" name="Shape 59"/>
          <p:cNvSpPr/>
          <p:nvPr/>
        </p:nvSpPr>
        <p:spPr>
          <a:xfrm>
            <a:off x="13393738" y="3527425"/>
            <a:ext cx="12700" cy="1362075"/>
          </a:xfrm>
          <a:prstGeom prst="rect">
            <a:avLst/>
          </a:prstGeom>
          <a:solidFill>
            <a:srgbClr val="FFFFFF">
              <a:alpha val="10000"/>
            </a:srgbClr>
          </a:solidFill>
          <a:ln/>
        </p:spPr>
        <p:txBody>
          <a:bodyPr/>
          <a:lstStyle/>
          <a:p>
            <a:endParaRPr lang="en-US"/>
          </a:p>
        </p:txBody>
      </p:sp>
      <p:sp>
        <p:nvSpPr>
          <p:cNvPr id="62" name="Text 60"/>
          <p:cNvSpPr/>
          <p:nvPr/>
        </p:nvSpPr>
        <p:spPr>
          <a:xfrm>
            <a:off x="9451975" y="3724275"/>
            <a:ext cx="4105434" cy="514350"/>
          </a:xfrm>
          <a:prstGeom prst="rect">
            <a:avLst/>
          </a:prstGeom>
          <a:noFill/>
          <a:ln/>
          <a:effectLst>
            <a:outerShdw blurRad="228600" dist="50800" dir="16200000" algn="bl" rotWithShape="0">
              <a:srgbClr val="3B8EE6">
                <a:alpha val="45000"/>
              </a:srgbClr>
            </a:outerShdw>
          </a:effectLst>
        </p:spPr>
        <p:txBody>
          <a:bodyPr wrap="square" lIns="25400" tIns="25400" rIns="25400" bIns="25400" rtlCol="0" anchor="t">
            <a:normAutofit/>
          </a:bodyPr>
          <a:lstStyle/>
          <a:p>
            <a:pPr marL="0" indent="0" algn="l">
              <a:lnSpc>
                <a:spcPct val="100000"/>
              </a:lnSpc>
              <a:buNone/>
            </a:pPr>
            <a:r>
              <a:rPr lang="en-US" sz="3750" b="1" dirty="0">
                <a:solidFill>
                  <a:srgbClr val="6FB3F2"/>
                </a:solidFill>
                <a:latin typeface="Arial" pitchFamily="34" charset="0"/>
                <a:ea typeface="Arial" pitchFamily="34" charset="-122"/>
                <a:cs typeface="Arial" pitchFamily="34" charset="-120"/>
              </a:rPr>
              <a:t>&lt; 1ms</a:t>
            </a:r>
            <a:endParaRPr lang="en-US" sz="3750" dirty="0"/>
          </a:p>
        </p:txBody>
      </p:sp>
      <p:sp>
        <p:nvSpPr>
          <p:cNvPr id="63" name="Text 61"/>
          <p:cNvSpPr/>
          <p:nvPr/>
        </p:nvSpPr>
        <p:spPr>
          <a:xfrm>
            <a:off x="9451975" y="4286250"/>
            <a:ext cx="410543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XGBoost Inference</a:t>
            </a:r>
            <a:endParaRPr lang="en-US" sz="1575" dirty="0"/>
          </a:p>
        </p:txBody>
      </p:sp>
      <p:sp>
        <p:nvSpPr>
          <p:cNvPr id="64" name="Text 62"/>
          <p:cNvSpPr/>
          <p:nvPr/>
        </p:nvSpPr>
        <p:spPr>
          <a:xfrm>
            <a:off x="9451975" y="4514850"/>
            <a:ext cx="410543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per tick, 60Hz</a:t>
            </a:r>
            <a:endParaRPr lang="en-US" sz="1275" dirty="0"/>
          </a:p>
        </p:txBody>
      </p:sp>
      <p:sp>
        <p:nvSpPr>
          <p:cNvPr id="65" name="Shape 63"/>
          <p:cNvSpPr/>
          <p:nvPr/>
        </p:nvSpPr>
        <p:spPr>
          <a:xfrm>
            <a:off x="13577888" y="3527425"/>
            <a:ext cx="4176712" cy="1362075"/>
          </a:xfrm>
          <a:prstGeom prst="roundRect">
            <a:avLst>
              <a:gd name="adj" fmla="val 8392"/>
            </a:avLst>
          </a:prstGeom>
          <a:solidFill>
            <a:srgbClr val="FFFFFF">
              <a:alpha val="4000"/>
            </a:srgbClr>
          </a:solidFill>
          <a:ln/>
        </p:spPr>
        <p:txBody>
          <a:bodyPr/>
          <a:lstStyle/>
          <a:p>
            <a:endParaRPr lang="en-US"/>
          </a:p>
        </p:txBody>
      </p:sp>
      <p:sp>
        <p:nvSpPr>
          <p:cNvPr id="66" name="Shape 64"/>
          <p:cNvSpPr/>
          <p:nvPr/>
        </p:nvSpPr>
        <p:spPr>
          <a:xfrm>
            <a:off x="13577888" y="4876800"/>
            <a:ext cx="4176712" cy="12700"/>
          </a:xfrm>
          <a:prstGeom prst="rect">
            <a:avLst/>
          </a:prstGeom>
          <a:solidFill>
            <a:srgbClr val="FFFFFF">
              <a:alpha val="10000"/>
            </a:srgbClr>
          </a:solidFill>
          <a:ln/>
        </p:spPr>
        <p:txBody>
          <a:bodyPr/>
          <a:lstStyle/>
          <a:p>
            <a:endParaRPr lang="en-US"/>
          </a:p>
        </p:txBody>
      </p:sp>
      <p:sp>
        <p:nvSpPr>
          <p:cNvPr id="67" name="Shape 65"/>
          <p:cNvSpPr/>
          <p:nvPr/>
        </p:nvSpPr>
        <p:spPr>
          <a:xfrm>
            <a:off x="13577888" y="3527425"/>
            <a:ext cx="4176712" cy="25400"/>
          </a:xfrm>
          <a:prstGeom prst="rect">
            <a:avLst/>
          </a:prstGeom>
          <a:solidFill>
            <a:srgbClr val="34C27E"/>
          </a:solidFill>
          <a:ln/>
        </p:spPr>
        <p:txBody>
          <a:bodyPr/>
          <a:lstStyle/>
          <a:p>
            <a:endParaRPr lang="en-US"/>
          </a:p>
        </p:txBody>
      </p:sp>
      <p:sp>
        <p:nvSpPr>
          <p:cNvPr id="68" name="Shape 66"/>
          <p:cNvSpPr/>
          <p:nvPr/>
        </p:nvSpPr>
        <p:spPr>
          <a:xfrm>
            <a:off x="13577888" y="3527425"/>
            <a:ext cx="12700" cy="1362075"/>
          </a:xfrm>
          <a:prstGeom prst="rect">
            <a:avLst/>
          </a:prstGeom>
          <a:solidFill>
            <a:srgbClr val="FFFFFF">
              <a:alpha val="10000"/>
            </a:srgbClr>
          </a:solidFill>
          <a:ln/>
        </p:spPr>
        <p:txBody>
          <a:bodyPr/>
          <a:lstStyle/>
          <a:p>
            <a:endParaRPr lang="en-US"/>
          </a:p>
        </p:txBody>
      </p:sp>
      <p:sp>
        <p:nvSpPr>
          <p:cNvPr id="69" name="Shape 67"/>
          <p:cNvSpPr/>
          <p:nvPr/>
        </p:nvSpPr>
        <p:spPr>
          <a:xfrm>
            <a:off x="17741900" y="3527425"/>
            <a:ext cx="12700" cy="1362075"/>
          </a:xfrm>
          <a:prstGeom prst="rect">
            <a:avLst/>
          </a:prstGeom>
          <a:solidFill>
            <a:srgbClr val="FFFFFF">
              <a:alpha val="10000"/>
            </a:srgbClr>
          </a:solidFill>
          <a:ln/>
        </p:spPr>
        <p:txBody>
          <a:bodyPr/>
          <a:lstStyle/>
          <a:p>
            <a:endParaRPr lang="en-US"/>
          </a:p>
        </p:txBody>
      </p:sp>
      <p:sp>
        <p:nvSpPr>
          <p:cNvPr id="70" name="Text 68"/>
          <p:cNvSpPr/>
          <p:nvPr/>
        </p:nvSpPr>
        <p:spPr>
          <a:xfrm>
            <a:off x="13800138" y="3724275"/>
            <a:ext cx="4105434" cy="514350"/>
          </a:xfrm>
          <a:prstGeom prst="rect">
            <a:avLst/>
          </a:prstGeom>
          <a:noFill/>
          <a:ln/>
          <a:effectLst>
            <a:outerShdw blurRad="228600" dist="50800" dir="16200000" algn="bl" rotWithShape="0">
              <a:srgbClr val="34C27E">
                <a:alpha val="45000"/>
              </a:srgbClr>
            </a:outerShdw>
          </a:effectLst>
        </p:spPr>
        <p:txBody>
          <a:bodyPr wrap="square" lIns="25400" tIns="25400" rIns="25400" bIns="25400" rtlCol="0" anchor="t">
            <a:normAutofit/>
          </a:bodyPr>
          <a:lstStyle/>
          <a:p>
            <a:pPr marL="0" indent="0" algn="l">
              <a:lnSpc>
                <a:spcPct val="100000"/>
              </a:lnSpc>
              <a:buNone/>
            </a:pPr>
            <a:r>
              <a:rPr lang="en-US" sz="3750" b="1" dirty="0">
                <a:solidFill>
                  <a:srgbClr val="5BD39A"/>
                </a:solidFill>
                <a:latin typeface="Arial" pitchFamily="34" charset="0"/>
                <a:ea typeface="Arial" pitchFamily="34" charset="-122"/>
                <a:cs typeface="Arial" pitchFamily="34" charset="-120"/>
              </a:rPr>
              <a:t>&lt; 5s</a:t>
            </a:r>
            <a:endParaRPr lang="en-US" sz="3750" dirty="0"/>
          </a:p>
        </p:txBody>
      </p:sp>
      <p:sp>
        <p:nvSpPr>
          <p:cNvPr id="71" name="Text 69"/>
          <p:cNvSpPr/>
          <p:nvPr/>
        </p:nvSpPr>
        <p:spPr>
          <a:xfrm>
            <a:off x="13800138" y="4286250"/>
            <a:ext cx="4105434"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FFFFFF"/>
                </a:solidFill>
                <a:latin typeface="Arial" pitchFamily="34" charset="0"/>
                <a:ea typeface="Arial" pitchFamily="34" charset="-122"/>
                <a:cs typeface="Arial" pitchFamily="34" charset="-120"/>
              </a:rPr>
              <a:t>End-to-End Latency</a:t>
            </a:r>
            <a:endParaRPr lang="en-US" sz="1575" dirty="0"/>
          </a:p>
        </p:txBody>
      </p:sp>
      <p:sp>
        <p:nvSpPr>
          <p:cNvPr id="72" name="Text 70"/>
          <p:cNvSpPr/>
          <p:nvPr/>
        </p:nvSpPr>
        <p:spPr>
          <a:xfrm>
            <a:off x="13800138" y="4514850"/>
            <a:ext cx="4105434" cy="228600"/>
          </a:xfrm>
          <a:prstGeom prst="rect">
            <a:avLst/>
          </a:prstGeom>
          <a:noFill/>
          <a:ln/>
        </p:spPr>
        <p:txBody>
          <a:bodyPr wrap="square" lIns="25400" tIns="25400" rIns="25400" bIns="25400" rtlCol="0" anchor="t">
            <a:normAutofit/>
          </a:bodyPr>
          <a:lstStyle/>
          <a:p>
            <a:pPr marL="0" indent="0" algn="l">
              <a:buNone/>
            </a:pPr>
            <a:r>
              <a:rPr lang="en-US" sz="1275" dirty="0">
                <a:solidFill>
                  <a:srgbClr val="9DB2C9"/>
                </a:solidFill>
                <a:latin typeface="Arial" pitchFamily="34" charset="0"/>
                <a:ea typeface="Arial" pitchFamily="34" charset="-122"/>
                <a:cs typeface="Arial" pitchFamily="34" charset="-120"/>
              </a:rPr>
              <a:t>cheat → Grafana</a:t>
            </a:r>
            <a:endParaRPr lang="en-US" sz="1275" dirty="0"/>
          </a:p>
        </p:txBody>
      </p:sp>
      <p:sp>
        <p:nvSpPr>
          <p:cNvPr id="73" name="Shape 71"/>
          <p:cNvSpPr/>
          <p:nvPr/>
        </p:nvSpPr>
        <p:spPr>
          <a:xfrm>
            <a:off x="533400" y="5080000"/>
            <a:ext cx="10304859" cy="4508500"/>
          </a:xfrm>
          <a:prstGeom prst="roundRect">
            <a:avLst>
              <a:gd name="adj" fmla="val 2535"/>
            </a:avLst>
          </a:prstGeom>
          <a:gradFill rotWithShape="1">
            <a:gsLst>
              <a:gs pos="0">
                <a:srgbClr val="F2A33C">
                  <a:alpha val="10000"/>
                </a:srgbClr>
              </a:gs>
              <a:gs pos="100000">
                <a:srgbClr val="FFFFFF">
                  <a:alpha val="3000"/>
                </a:srgbClr>
              </a:gs>
            </a:gsLst>
            <a:lin ang="1800000" scaled="0"/>
          </a:gradFill>
          <a:ln w="12700">
            <a:solidFill>
              <a:srgbClr val="FFFFFF">
                <a:alpha val="10000"/>
              </a:srgbClr>
            </a:solidFill>
            <a:prstDash val="solid"/>
          </a:ln>
        </p:spPr>
        <p:txBody>
          <a:bodyPr/>
          <a:lstStyle/>
          <a:p>
            <a:endParaRPr lang="en-US"/>
          </a:p>
        </p:txBody>
      </p:sp>
      <p:sp>
        <p:nvSpPr>
          <p:cNvPr id="74" name="Text 72"/>
          <p:cNvSpPr/>
          <p:nvPr/>
        </p:nvSpPr>
        <p:spPr>
          <a:xfrm>
            <a:off x="831850" y="6402388"/>
            <a:ext cx="10678756" cy="317500"/>
          </a:xfrm>
          <a:prstGeom prst="rect">
            <a:avLst/>
          </a:prstGeom>
          <a:noFill/>
          <a:ln/>
        </p:spPr>
        <p:txBody>
          <a:bodyPr wrap="square" lIns="25400" tIns="25400" rIns="25400" bIns="25400" rtlCol="0" anchor="t">
            <a:normAutofit/>
          </a:bodyPr>
          <a:lstStyle/>
          <a:p>
            <a:pPr marL="0" indent="0" algn="l">
              <a:buNone/>
            </a:pPr>
            <a:r>
              <a:rPr lang="en-US" sz="1575" b="1" kern="0" spc="75" dirty="0">
                <a:solidFill>
                  <a:srgbClr val="F4B463"/>
                </a:solidFill>
                <a:latin typeface="Arial" pitchFamily="34" charset="0"/>
                <a:ea typeface="Arial" pitchFamily="34" charset="-122"/>
                <a:cs typeface="Arial" pitchFamily="34" charset="-120"/>
              </a:rPr>
              <a:t>KEY FINDINGS</a:t>
            </a:r>
            <a:endParaRPr lang="en-US" sz="1575" dirty="0"/>
          </a:p>
        </p:txBody>
      </p:sp>
      <p:sp>
        <p:nvSpPr>
          <p:cNvPr id="75" name="Text 73"/>
          <p:cNvSpPr/>
          <p:nvPr/>
        </p:nvSpPr>
        <p:spPr>
          <a:xfrm>
            <a:off x="831850" y="6831013"/>
            <a:ext cx="241300" cy="279400"/>
          </a:xfrm>
          <a:prstGeom prst="rect">
            <a:avLst/>
          </a:prstGeom>
          <a:noFill/>
          <a:ln/>
        </p:spPr>
        <p:txBody>
          <a:bodyPr wrap="square" lIns="25400" tIns="25400" rIns="25400" bIns="25400" rtlCol="0" anchor="t">
            <a:normAutofit/>
          </a:bodyPr>
          <a:lstStyle/>
          <a:p>
            <a:pPr marL="0" indent="0" algn="l">
              <a:buNone/>
            </a:pPr>
            <a:r>
              <a:rPr lang="en-US" sz="1500" dirty="0">
                <a:solidFill>
                  <a:srgbClr val="F4B463"/>
                </a:solidFill>
                <a:latin typeface="Arial" pitchFamily="34" charset="0"/>
                <a:ea typeface="Arial" pitchFamily="34" charset="-122"/>
                <a:cs typeface="Arial" pitchFamily="34" charset="-120"/>
              </a:rPr>
              <a:t>▸</a:t>
            </a:r>
            <a:endParaRPr lang="en-US" sz="1500" dirty="0"/>
          </a:p>
        </p:txBody>
      </p:sp>
      <p:sp>
        <p:nvSpPr>
          <p:cNvPr id="76" name="Text 74"/>
          <p:cNvSpPr/>
          <p:nvPr/>
        </p:nvSpPr>
        <p:spPr>
          <a:xfrm>
            <a:off x="1111250" y="6805613"/>
            <a:ext cx="8495070" cy="310356"/>
          </a:xfrm>
          <a:prstGeom prst="rect">
            <a:avLst/>
          </a:prstGeom>
          <a:noFill/>
          <a:ln/>
        </p:spPr>
        <p:txBody>
          <a:bodyPr wrap="square" lIns="25400" tIns="25400" rIns="25400" bIns="25400" rtlCol="0" anchor="t">
            <a:normAutofit/>
          </a:bodyPr>
          <a:lstStyle/>
          <a:p>
            <a:pPr marL="0" indent="0" algn="l">
              <a:lnSpc>
                <a:spcPct val="130000"/>
              </a:lnSpc>
              <a:buNone/>
            </a:pPr>
            <a:r>
              <a:rPr lang="en-US" sz="1650" b="1" dirty="0">
                <a:solidFill>
                  <a:srgbClr val="FFFFFF"/>
                </a:solidFill>
                <a:latin typeface="Arial" pitchFamily="34" charset="0"/>
                <a:ea typeface="Arial" pitchFamily="34" charset="-122"/>
                <a:cs typeface="Arial" pitchFamily="34" charset="-120"/>
              </a:rPr>
              <a:t>Speedhack </a:t>
            </a:r>
            <a:r>
              <a:rPr lang="en-US" sz="1650" dirty="0">
                <a:solidFill>
                  <a:srgbClr val="D2DEEB"/>
                </a:solidFill>
                <a:latin typeface="Arial" pitchFamily="34" charset="0"/>
                <a:ea typeface="Arial" pitchFamily="34" charset="-122"/>
                <a:cs typeface="Arial" pitchFamily="34" charset="-120"/>
              </a:rPr>
              <a:t>- detected instantly by the rule engine AND XGBoost (99% confidence)</a:t>
            </a:r>
            <a:endParaRPr lang="en-US" sz="1650" dirty="0"/>
          </a:p>
        </p:txBody>
      </p:sp>
      <p:sp>
        <p:nvSpPr>
          <p:cNvPr id="77" name="Text 75"/>
          <p:cNvSpPr/>
          <p:nvPr/>
        </p:nvSpPr>
        <p:spPr>
          <a:xfrm>
            <a:off x="831850" y="7227094"/>
            <a:ext cx="241300" cy="279400"/>
          </a:xfrm>
          <a:prstGeom prst="rect">
            <a:avLst/>
          </a:prstGeom>
          <a:noFill/>
          <a:ln/>
        </p:spPr>
        <p:txBody>
          <a:bodyPr wrap="square" lIns="25400" tIns="25400" rIns="25400" bIns="25400" rtlCol="0" anchor="t">
            <a:normAutofit/>
          </a:bodyPr>
          <a:lstStyle/>
          <a:p>
            <a:pPr marL="0" indent="0" algn="l">
              <a:buNone/>
            </a:pPr>
            <a:r>
              <a:rPr lang="en-US" sz="1500" dirty="0">
                <a:solidFill>
                  <a:srgbClr val="F4B463"/>
                </a:solidFill>
                <a:latin typeface="Arial" pitchFamily="34" charset="0"/>
                <a:ea typeface="Arial" pitchFamily="34" charset="-122"/>
                <a:cs typeface="Arial" pitchFamily="34" charset="-120"/>
              </a:rPr>
              <a:t>▸</a:t>
            </a:r>
            <a:endParaRPr lang="en-US" sz="1500" dirty="0"/>
          </a:p>
        </p:txBody>
      </p:sp>
      <p:sp>
        <p:nvSpPr>
          <p:cNvPr id="78" name="Text 76"/>
          <p:cNvSpPr/>
          <p:nvPr/>
        </p:nvSpPr>
        <p:spPr>
          <a:xfrm>
            <a:off x="1111250" y="7201694"/>
            <a:ext cx="6930211" cy="310356"/>
          </a:xfrm>
          <a:prstGeom prst="rect">
            <a:avLst/>
          </a:prstGeom>
          <a:noFill/>
          <a:ln/>
        </p:spPr>
        <p:txBody>
          <a:bodyPr wrap="square" lIns="25400" tIns="25400" rIns="25400" bIns="25400" rtlCol="0" anchor="t">
            <a:normAutofit/>
          </a:bodyPr>
          <a:lstStyle/>
          <a:p>
            <a:pPr marL="0" indent="0" algn="l">
              <a:lnSpc>
                <a:spcPct val="130000"/>
              </a:lnSpc>
              <a:buNone/>
            </a:pPr>
            <a:r>
              <a:rPr lang="en-US" sz="1650" b="1" dirty="0">
                <a:solidFill>
                  <a:srgbClr val="FFFFFF"/>
                </a:solidFill>
                <a:latin typeface="Arial" pitchFamily="34" charset="0"/>
                <a:ea typeface="Arial" pitchFamily="34" charset="-122"/>
                <a:cs typeface="Arial" pitchFamily="34" charset="-120"/>
              </a:rPr>
              <a:t>Aimbot </a:t>
            </a:r>
            <a:r>
              <a:rPr lang="en-US" sz="1650" dirty="0">
                <a:solidFill>
                  <a:srgbClr val="D2DEEB"/>
                </a:solidFill>
                <a:latin typeface="Arial" pitchFamily="34" charset="0"/>
                <a:ea typeface="Arial" pitchFamily="34" charset="-122"/>
                <a:cs typeface="Arial" pitchFamily="34" charset="-120"/>
              </a:rPr>
              <a:t>- rule fires same tick; XGBoost confirms within 1–2 seconds</a:t>
            </a:r>
            <a:endParaRPr lang="en-US" sz="1650" dirty="0"/>
          </a:p>
        </p:txBody>
      </p:sp>
      <p:sp>
        <p:nvSpPr>
          <p:cNvPr id="79" name="Text 77"/>
          <p:cNvSpPr/>
          <p:nvPr/>
        </p:nvSpPr>
        <p:spPr>
          <a:xfrm>
            <a:off x="831850" y="7623175"/>
            <a:ext cx="241300" cy="279400"/>
          </a:xfrm>
          <a:prstGeom prst="rect">
            <a:avLst/>
          </a:prstGeom>
          <a:noFill/>
          <a:ln/>
        </p:spPr>
        <p:txBody>
          <a:bodyPr wrap="square" lIns="25400" tIns="25400" rIns="25400" bIns="25400" rtlCol="0" anchor="t">
            <a:normAutofit/>
          </a:bodyPr>
          <a:lstStyle/>
          <a:p>
            <a:pPr marL="0" indent="0" algn="l">
              <a:buNone/>
            </a:pPr>
            <a:r>
              <a:rPr lang="en-US" sz="1500" dirty="0">
                <a:solidFill>
                  <a:srgbClr val="F4B463"/>
                </a:solidFill>
                <a:latin typeface="Arial" pitchFamily="34" charset="0"/>
                <a:ea typeface="Arial" pitchFamily="34" charset="-122"/>
                <a:cs typeface="Arial" pitchFamily="34" charset="-120"/>
              </a:rPr>
              <a:t>▸</a:t>
            </a:r>
            <a:endParaRPr lang="en-US" sz="1500" dirty="0"/>
          </a:p>
        </p:txBody>
      </p:sp>
      <p:sp>
        <p:nvSpPr>
          <p:cNvPr id="80" name="Text 78"/>
          <p:cNvSpPr/>
          <p:nvPr/>
        </p:nvSpPr>
        <p:spPr>
          <a:xfrm>
            <a:off x="1111250" y="7597775"/>
            <a:ext cx="8680609" cy="310356"/>
          </a:xfrm>
          <a:prstGeom prst="rect">
            <a:avLst/>
          </a:prstGeom>
          <a:noFill/>
          <a:ln/>
        </p:spPr>
        <p:txBody>
          <a:bodyPr wrap="square" lIns="25400" tIns="25400" rIns="25400" bIns="25400" rtlCol="0" anchor="t">
            <a:normAutofit/>
          </a:bodyPr>
          <a:lstStyle/>
          <a:p>
            <a:pPr marL="0" indent="0" algn="l">
              <a:lnSpc>
                <a:spcPct val="130000"/>
              </a:lnSpc>
              <a:buNone/>
            </a:pPr>
            <a:r>
              <a:rPr lang="en-US" sz="1650" b="1" dirty="0">
                <a:solidFill>
                  <a:srgbClr val="FFFFFF"/>
                </a:solidFill>
                <a:latin typeface="Arial" pitchFamily="34" charset="0"/>
                <a:ea typeface="Arial" pitchFamily="34" charset="-122"/>
                <a:cs typeface="Arial" pitchFamily="34" charset="-120"/>
              </a:rPr>
              <a:t>LSTM </a:t>
            </a:r>
            <a:r>
              <a:rPr lang="en-US" sz="1650" dirty="0">
                <a:solidFill>
                  <a:srgbClr val="D2DEEB"/>
                </a:solidFill>
                <a:latin typeface="Arial" pitchFamily="34" charset="0"/>
                <a:ea typeface="Arial" pitchFamily="34" charset="-122"/>
                <a:cs typeface="Arial" pitchFamily="34" charset="-120"/>
              </a:rPr>
              <a:t>- clean scores cluster at 0.3–0.6 (below 1.12); cheat scores spike to 2.0–10.0+</a:t>
            </a:r>
            <a:endParaRPr lang="en-US" sz="1650" dirty="0"/>
          </a:p>
        </p:txBody>
      </p:sp>
      <p:sp>
        <p:nvSpPr>
          <p:cNvPr id="81" name="Text 79"/>
          <p:cNvSpPr/>
          <p:nvPr/>
        </p:nvSpPr>
        <p:spPr>
          <a:xfrm>
            <a:off x="831850" y="8019256"/>
            <a:ext cx="241300" cy="279400"/>
          </a:xfrm>
          <a:prstGeom prst="rect">
            <a:avLst/>
          </a:prstGeom>
          <a:noFill/>
          <a:ln/>
        </p:spPr>
        <p:txBody>
          <a:bodyPr wrap="square" lIns="25400" tIns="25400" rIns="25400" bIns="25400" rtlCol="0" anchor="t">
            <a:normAutofit/>
          </a:bodyPr>
          <a:lstStyle/>
          <a:p>
            <a:pPr marL="0" indent="0" algn="l">
              <a:buNone/>
            </a:pPr>
            <a:r>
              <a:rPr lang="en-US" sz="1500" dirty="0">
                <a:solidFill>
                  <a:srgbClr val="F4B463"/>
                </a:solidFill>
                <a:latin typeface="Arial" pitchFamily="34" charset="0"/>
                <a:ea typeface="Arial" pitchFamily="34" charset="-122"/>
                <a:cs typeface="Arial" pitchFamily="34" charset="-120"/>
              </a:rPr>
              <a:t>▸</a:t>
            </a:r>
            <a:endParaRPr lang="en-US" sz="1500" dirty="0"/>
          </a:p>
        </p:txBody>
      </p:sp>
      <p:sp>
        <p:nvSpPr>
          <p:cNvPr id="82" name="Text 80"/>
          <p:cNvSpPr/>
          <p:nvPr/>
        </p:nvSpPr>
        <p:spPr>
          <a:xfrm>
            <a:off x="1111250" y="7993856"/>
            <a:ext cx="7370485" cy="310356"/>
          </a:xfrm>
          <a:prstGeom prst="rect">
            <a:avLst/>
          </a:prstGeom>
          <a:noFill/>
          <a:ln/>
        </p:spPr>
        <p:txBody>
          <a:bodyPr wrap="square" lIns="25400" tIns="25400" rIns="25400" bIns="25400" rtlCol="0" anchor="t">
            <a:normAutofit/>
          </a:bodyPr>
          <a:lstStyle/>
          <a:p>
            <a:pPr marL="0" indent="0" algn="l">
              <a:lnSpc>
                <a:spcPct val="130000"/>
              </a:lnSpc>
              <a:buNone/>
            </a:pPr>
            <a:r>
              <a:rPr lang="en-US" sz="1650" b="1" dirty="0">
                <a:solidFill>
                  <a:srgbClr val="FFFFFF"/>
                </a:solidFill>
                <a:latin typeface="Arial" pitchFamily="34" charset="0"/>
                <a:ea typeface="Arial" pitchFamily="34" charset="-122"/>
                <a:cs typeface="Arial" pitchFamily="34" charset="-120"/>
              </a:rPr>
              <a:t>Confidence gating </a:t>
            </a:r>
            <a:r>
              <a:rPr lang="en-US" sz="1650" dirty="0">
                <a:solidFill>
                  <a:srgbClr val="D2DEEB"/>
                </a:solidFill>
                <a:latin typeface="Arial" pitchFamily="34" charset="0"/>
                <a:ea typeface="Arial" pitchFamily="34" charset="-122"/>
                <a:cs typeface="Arial" pitchFamily="34" charset="-120"/>
              </a:rPr>
              <a:t>at 0.95 eliminates low-confidence ML false positives</a:t>
            </a:r>
            <a:endParaRPr lang="en-US" sz="1650" dirty="0"/>
          </a:p>
        </p:txBody>
      </p:sp>
      <p:sp>
        <p:nvSpPr>
          <p:cNvPr id="83" name="Shape 81"/>
          <p:cNvSpPr/>
          <p:nvPr/>
        </p:nvSpPr>
        <p:spPr>
          <a:xfrm>
            <a:off x="11028759" y="5080000"/>
            <a:ext cx="6725841" cy="4508500"/>
          </a:xfrm>
          <a:prstGeom prst="roundRect">
            <a:avLst>
              <a:gd name="adj" fmla="val 2535"/>
            </a:avLst>
          </a:prstGeom>
          <a:solidFill>
            <a:srgbClr val="05080F"/>
          </a:solidFill>
          <a:ln w="12700">
            <a:solidFill>
              <a:srgbClr val="FFFFFF">
                <a:alpha val="12000"/>
              </a:srgbClr>
            </a:solidFill>
            <a:prstDash val="solid"/>
          </a:ln>
        </p:spPr>
        <p:txBody>
          <a:bodyPr/>
          <a:lstStyle/>
          <a:p>
            <a:endParaRPr lang="en-US"/>
          </a:p>
        </p:txBody>
      </p:sp>
      <p:pic>
        <p:nvPicPr>
          <p:cNvPr id="84" name="Image 0" descr="preencoded.png"/>
          <p:cNvPicPr>
            <a:picLocks noChangeAspect="1"/>
          </p:cNvPicPr>
          <p:nvPr/>
        </p:nvPicPr>
        <p:blipFill>
          <a:blip r:embed="rId3"/>
          <a:srcRect/>
          <a:stretch/>
        </p:blipFill>
        <p:spPr>
          <a:xfrm>
            <a:off x="11155760" y="5528072"/>
            <a:ext cx="6471841" cy="3612158"/>
          </a:xfrm>
          <a:prstGeom prst="rect">
            <a:avLst/>
          </a:prstGeom>
        </p:spPr>
      </p:pic>
      <p:sp>
        <p:nvSpPr>
          <p:cNvPr id="85" name="Shape 82"/>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86" name="Text 83"/>
          <p:cNvSpPr/>
          <p:nvPr/>
        </p:nvSpPr>
        <p:spPr>
          <a:xfrm>
            <a:off x="5334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87" name="Text 84"/>
          <p:cNvSpPr/>
          <p:nvPr/>
        </p:nvSpPr>
        <p:spPr>
          <a:xfrm>
            <a:off x="172593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12 / 18</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533400" y="411163"/>
            <a:ext cx="104775" cy="104775"/>
          </a:xfrm>
          <a:prstGeom prst="roundRect">
            <a:avLst>
              <a:gd name="adj" fmla="val 18182"/>
            </a:avLst>
          </a:prstGeom>
          <a:solidFill>
            <a:srgbClr val="3B8EE6"/>
          </a:solidFill>
          <a:ln/>
          <a:effectLst>
            <a:outerShdw blurRad="133350" dist="50800" dir="16200000" algn="bl" rotWithShape="0">
              <a:srgbClr val="3B8EE6">
                <a:alpha val="100000"/>
              </a:srgbClr>
            </a:outerShdw>
          </a:effectLst>
        </p:spPr>
        <p:txBody>
          <a:bodyPr/>
          <a:lstStyle/>
          <a:p>
            <a:endParaRPr lang="en-US"/>
          </a:p>
        </p:txBody>
      </p:sp>
      <p:sp>
        <p:nvSpPr>
          <p:cNvPr id="4" name="Text 2"/>
          <p:cNvSpPr/>
          <p:nvPr/>
        </p:nvSpPr>
        <p:spPr>
          <a:xfrm>
            <a:off x="752475" y="323850"/>
            <a:ext cx="812800"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6FB3F2"/>
                </a:solidFill>
                <a:latin typeface="Arial" pitchFamily="34" charset="0"/>
                <a:ea typeface="Arial" pitchFamily="34" charset="-122"/>
                <a:cs typeface="Arial" pitchFamily="34" charset="-120"/>
              </a:rPr>
              <a:t>TEAM</a:t>
            </a:r>
            <a:endParaRPr lang="en-US" sz="1500" dirty="0"/>
          </a:p>
        </p:txBody>
      </p:sp>
      <p:sp>
        <p:nvSpPr>
          <p:cNvPr id="5" name="Text 3"/>
          <p:cNvSpPr/>
          <p:nvPr/>
        </p:nvSpPr>
        <p:spPr>
          <a:xfrm>
            <a:off x="533400" y="708025"/>
            <a:ext cx="6694250"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Team Responsibilities</a:t>
            </a:r>
            <a:endParaRPr lang="en-US" sz="4050" dirty="0"/>
          </a:p>
        </p:txBody>
      </p:sp>
      <p:sp>
        <p:nvSpPr>
          <p:cNvPr id="6" name="Text 4"/>
          <p:cNvSpPr/>
          <p:nvPr/>
        </p:nvSpPr>
        <p:spPr>
          <a:xfrm>
            <a:off x="159629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13</a:t>
            </a:r>
            <a:endParaRPr lang="en-US" sz="11250" dirty="0"/>
          </a:p>
        </p:txBody>
      </p:sp>
      <p:sp>
        <p:nvSpPr>
          <p:cNvPr id="7" name="Shape 5"/>
          <p:cNvSpPr/>
          <p:nvPr/>
        </p:nvSpPr>
        <p:spPr>
          <a:xfrm>
            <a:off x="533400" y="1504950"/>
            <a:ext cx="17221200" cy="19050"/>
          </a:xfrm>
          <a:prstGeom prst="rect">
            <a:avLst/>
          </a:prstGeom>
          <a:gradFill rotWithShape="1">
            <a:gsLst>
              <a:gs pos="0">
                <a:srgbClr val="3B8EE6">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Shape 6"/>
          <p:cNvSpPr/>
          <p:nvPr/>
        </p:nvSpPr>
        <p:spPr>
          <a:xfrm>
            <a:off x="533400" y="1771650"/>
            <a:ext cx="3291681" cy="7797800"/>
          </a:xfrm>
          <a:prstGeom prst="roundRect">
            <a:avLst>
              <a:gd name="adj" fmla="val 4051"/>
            </a:avLst>
          </a:prstGeom>
          <a:solidFill>
            <a:srgbClr val="FFFFFF">
              <a:alpha val="4000"/>
            </a:srgbClr>
          </a:solidFill>
          <a:ln w="12700">
            <a:solidFill>
              <a:srgbClr val="FFFFFF">
                <a:alpha val="10000"/>
              </a:srgbClr>
            </a:solidFill>
            <a:prstDash val="solid"/>
          </a:ln>
        </p:spPr>
        <p:txBody>
          <a:bodyPr/>
          <a:lstStyle/>
          <a:p>
            <a:endParaRPr lang="en-US"/>
          </a:p>
        </p:txBody>
      </p:sp>
      <p:sp>
        <p:nvSpPr>
          <p:cNvPr id="9" name="Shape 7"/>
          <p:cNvSpPr/>
          <p:nvPr/>
        </p:nvSpPr>
        <p:spPr>
          <a:xfrm>
            <a:off x="546100" y="1784350"/>
            <a:ext cx="3266281" cy="990600"/>
          </a:xfrm>
          <a:prstGeom prst="rect">
            <a:avLst/>
          </a:prstGeom>
          <a:gradFill rotWithShape="1">
            <a:gsLst>
              <a:gs pos="0">
                <a:srgbClr val="2E74B5">
                  <a:alpha val="100000"/>
                </a:srgbClr>
              </a:gs>
              <a:gs pos="100000">
                <a:srgbClr val="3B8EE6">
                  <a:alpha val="100000"/>
                </a:srgbClr>
              </a:gs>
            </a:gsLst>
            <a:lin ang="1800000" scaled="0"/>
          </a:gradFill>
          <a:ln/>
        </p:spPr>
        <p:txBody>
          <a:bodyPr/>
          <a:lstStyle/>
          <a:p>
            <a:endParaRPr lang="en-US"/>
          </a:p>
        </p:txBody>
      </p:sp>
      <p:sp>
        <p:nvSpPr>
          <p:cNvPr id="10" name="Text 8"/>
          <p:cNvSpPr/>
          <p:nvPr/>
        </p:nvSpPr>
        <p:spPr>
          <a:xfrm>
            <a:off x="755650" y="1974850"/>
            <a:ext cx="3131900"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Arial" pitchFamily="34" charset="0"/>
                <a:ea typeface="Arial" pitchFamily="34" charset="-122"/>
                <a:cs typeface="Arial" pitchFamily="34" charset="-120"/>
              </a:rPr>
              <a:t>Ankit</a:t>
            </a:r>
            <a:endParaRPr lang="en-US" sz="2100" dirty="0"/>
          </a:p>
        </p:txBody>
      </p:sp>
      <p:sp>
        <p:nvSpPr>
          <p:cNvPr id="11" name="Text 9"/>
          <p:cNvSpPr/>
          <p:nvPr/>
        </p:nvSpPr>
        <p:spPr>
          <a:xfrm>
            <a:off x="755650" y="2393950"/>
            <a:ext cx="3131900" cy="228600"/>
          </a:xfrm>
          <a:prstGeom prst="rect">
            <a:avLst/>
          </a:prstGeom>
          <a:noFill/>
          <a:ln/>
        </p:spPr>
        <p:txBody>
          <a:bodyPr wrap="square" lIns="25400" tIns="25400" rIns="25400" bIns="25400" rtlCol="0" anchor="t">
            <a:normAutofit/>
          </a:bodyPr>
          <a:lstStyle/>
          <a:p>
            <a:pPr marL="0" indent="0" algn="l">
              <a:buNone/>
            </a:pPr>
            <a:r>
              <a:rPr lang="en-US" sz="1350" b="1" dirty="0">
                <a:solidFill>
                  <a:srgbClr val="E3F0FB"/>
                </a:solidFill>
                <a:latin typeface="Arial" pitchFamily="34" charset="0"/>
                <a:ea typeface="Arial" pitchFamily="34" charset="-122"/>
                <a:cs typeface="Arial" pitchFamily="34" charset="-120"/>
              </a:rPr>
              <a:t>Game Client &amp; Kafka</a:t>
            </a:r>
            <a:endParaRPr lang="en-US" sz="1350" dirty="0"/>
          </a:p>
        </p:txBody>
      </p:sp>
      <p:sp>
        <p:nvSpPr>
          <p:cNvPr id="12" name="Text 10"/>
          <p:cNvSpPr/>
          <p:nvPr/>
        </p:nvSpPr>
        <p:spPr>
          <a:xfrm>
            <a:off x="755650" y="2965450"/>
            <a:ext cx="2932597" cy="1371600"/>
          </a:xfrm>
          <a:prstGeom prst="rect">
            <a:avLst/>
          </a:prstGeom>
          <a:noFill/>
          <a:ln/>
        </p:spPr>
        <p:txBody>
          <a:bodyPr wrap="square" lIns="25400" tIns="25400" rIns="25400" bIns="25400" rtlCol="0" anchor="t">
            <a:normAutofit/>
          </a:bodyPr>
          <a:lstStyle/>
          <a:p>
            <a:pPr marL="0" indent="0" algn="l">
              <a:lnSpc>
                <a:spcPct val="140000"/>
              </a:lnSpc>
              <a:buNone/>
            </a:pPr>
            <a:r>
              <a:rPr lang="en-US" sz="1500" dirty="0">
                <a:solidFill>
                  <a:srgbClr val="D2DEEB"/>
                </a:solidFill>
                <a:latin typeface="Arial" pitchFamily="34" charset="0"/>
                <a:ea typeface="Arial" pitchFamily="34" charset="-122"/>
                <a:cs typeface="Arial" pitchFamily="34" charset="-120"/>
              </a:rPr>
              <a:t>HTML5 Canvas client, WebSocket transport, F5–F8 cheat toggles, Kafka topic setup (KRaft, 4 partitions, player_id key).</a:t>
            </a:r>
            <a:endParaRPr lang="en-US" sz="1500" dirty="0"/>
          </a:p>
        </p:txBody>
      </p:sp>
      <p:sp>
        <p:nvSpPr>
          <p:cNvPr id="13" name="Shape 11"/>
          <p:cNvSpPr/>
          <p:nvPr/>
        </p:nvSpPr>
        <p:spPr>
          <a:xfrm>
            <a:off x="755650" y="8792766"/>
            <a:ext cx="2847181" cy="12700"/>
          </a:xfrm>
          <a:prstGeom prst="rect">
            <a:avLst/>
          </a:prstGeom>
          <a:solidFill>
            <a:srgbClr val="FFFFFF">
              <a:alpha val="10000"/>
            </a:srgbClr>
          </a:solidFill>
          <a:ln/>
        </p:spPr>
        <p:txBody>
          <a:bodyPr/>
          <a:lstStyle/>
          <a:p>
            <a:endParaRPr lang="en-US"/>
          </a:p>
        </p:txBody>
      </p:sp>
      <p:sp>
        <p:nvSpPr>
          <p:cNvPr id="14" name="Text 12"/>
          <p:cNvSpPr/>
          <p:nvPr/>
        </p:nvSpPr>
        <p:spPr>
          <a:xfrm>
            <a:off x="755650" y="8929291"/>
            <a:ext cx="2932597" cy="475059"/>
          </a:xfrm>
          <a:prstGeom prst="rect">
            <a:avLst/>
          </a:prstGeom>
          <a:noFill/>
          <a:ln/>
        </p:spPr>
        <p:txBody>
          <a:bodyPr wrap="square" lIns="25400" tIns="25400" rIns="25400" bIns="25400" rtlCol="0" anchor="t">
            <a:normAutofit/>
          </a:bodyPr>
          <a:lstStyle/>
          <a:p>
            <a:pPr marL="0" indent="0" algn="l">
              <a:lnSpc>
                <a:spcPct val="135000"/>
              </a:lnSpc>
              <a:buNone/>
            </a:pPr>
            <a:r>
              <a:rPr lang="en-US" sz="1275" b="1" dirty="0">
                <a:solidFill>
                  <a:srgbClr val="6FB3F2"/>
                </a:solidFill>
                <a:latin typeface="Arial" pitchFamily="34" charset="0"/>
                <a:ea typeface="Arial" pitchFamily="34" charset="-122"/>
                <a:cs typeface="Arial" pitchFamily="34" charset="-120"/>
              </a:rPr>
              <a:t>Key: </a:t>
            </a:r>
            <a:r>
              <a:rPr lang="en-US" sz="1275" dirty="0">
                <a:solidFill>
                  <a:srgbClr val="9DB2C9"/>
                </a:solidFill>
                <a:latin typeface="Arial" pitchFamily="34" charset="0"/>
                <a:ea typeface="Arial" pitchFamily="34" charset="-122"/>
                <a:cs typeface="Arial" pitchFamily="34" charset="-120"/>
              </a:rPr>
              <a:t>KRaft mode; player_id partitioning for ordered per-player processing</a:t>
            </a:r>
            <a:endParaRPr lang="en-US" sz="1275" dirty="0"/>
          </a:p>
        </p:txBody>
      </p:sp>
      <p:sp>
        <p:nvSpPr>
          <p:cNvPr id="15" name="Shape 13"/>
          <p:cNvSpPr/>
          <p:nvPr/>
        </p:nvSpPr>
        <p:spPr>
          <a:xfrm>
            <a:off x="4015581" y="1771650"/>
            <a:ext cx="3291880" cy="7797800"/>
          </a:xfrm>
          <a:prstGeom prst="roundRect">
            <a:avLst>
              <a:gd name="adj" fmla="val 4051"/>
            </a:avLst>
          </a:prstGeom>
          <a:solidFill>
            <a:srgbClr val="FFFFFF">
              <a:alpha val="4000"/>
            </a:srgbClr>
          </a:solidFill>
          <a:ln w="12700">
            <a:solidFill>
              <a:srgbClr val="FFFFFF">
                <a:alpha val="10000"/>
              </a:srgbClr>
            </a:solidFill>
            <a:prstDash val="solid"/>
          </a:ln>
        </p:spPr>
        <p:txBody>
          <a:bodyPr/>
          <a:lstStyle/>
          <a:p>
            <a:endParaRPr lang="en-US"/>
          </a:p>
        </p:txBody>
      </p:sp>
      <p:sp>
        <p:nvSpPr>
          <p:cNvPr id="16" name="Shape 14"/>
          <p:cNvSpPr/>
          <p:nvPr/>
        </p:nvSpPr>
        <p:spPr>
          <a:xfrm>
            <a:off x="4028281" y="1784350"/>
            <a:ext cx="3266480" cy="990600"/>
          </a:xfrm>
          <a:prstGeom prst="rect">
            <a:avLst/>
          </a:prstGeom>
          <a:gradFill rotWithShape="1">
            <a:gsLst>
              <a:gs pos="0">
                <a:srgbClr val="1C4E84">
                  <a:alpha val="100000"/>
                </a:srgbClr>
              </a:gs>
              <a:gs pos="100000">
                <a:srgbClr val="2E74B5">
                  <a:alpha val="100000"/>
                </a:srgbClr>
              </a:gs>
            </a:gsLst>
            <a:lin ang="1800000" scaled="0"/>
          </a:gradFill>
          <a:ln/>
        </p:spPr>
        <p:txBody>
          <a:bodyPr/>
          <a:lstStyle/>
          <a:p>
            <a:endParaRPr lang="en-US"/>
          </a:p>
        </p:txBody>
      </p:sp>
      <p:sp>
        <p:nvSpPr>
          <p:cNvPr id="17" name="Text 15"/>
          <p:cNvSpPr/>
          <p:nvPr/>
        </p:nvSpPr>
        <p:spPr>
          <a:xfrm>
            <a:off x="4237831" y="1974850"/>
            <a:ext cx="3132118"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Arial" pitchFamily="34" charset="0"/>
                <a:ea typeface="Arial" pitchFamily="34" charset="-122"/>
                <a:cs typeface="Arial" pitchFamily="34" charset="-120"/>
              </a:rPr>
              <a:t>Rohan</a:t>
            </a:r>
            <a:endParaRPr lang="en-US" sz="2100" dirty="0"/>
          </a:p>
        </p:txBody>
      </p:sp>
      <p:sp>
        <p:nvSpPr>
          <p:cNvPr id="18" name="Text 16"/>
          <p:cNvSpPr/>
          <p:nvPr/>
        </p:nvSpPr>
        <p:spPr>
          <a:xfrm>
            <a:off x="4237831" y="2393950"/>
            <a:ext cx="3132118" cy="228600"/>
          </a:xfrm>
          <a:prstGeom prst="rect">
            <a:avLst/>
          </a:prstGeom>
          <a:noFill/>
          <a:ln/>
        </p:spPr>
        <p:txBody>
          <a:bodyPr wrap="square" lIns="25400" tIns="25400" rIns="25400" bIns="25400" rtlCol="0" anchor="t">
            <a:normAutofit/>
          </a:bodyPr>
          <a:lstStyle/>
          <a:p>
            <a:pPr marL="0" indent="0" algn="l">
              <a:buNone/>
            </a:pPr>
            <a:r>
              <a:rPr lang="en-US" sz="1350" b="1" dirty="0">
                <a:solidFill>
                  <a:srgbClr val="E3F0FB"/>
                </a:solidFill>
                <a:latin typeface="Arial" pitchFamily="34" charset="0"/>
                <a:ea typeface="Arial" pitchFamily="34" charset="-122"/>
                <a:cs typeface="Arial" pitchFamily="34" charset="-120"/>
              </a:rPr>
              <a:t>Game Server &amp; Features</a:t>
            </a:r>
            <a:endParaRPr lang="en-US" sz="1350" dirty="0"/>
          </a:p>
        </p:txBody>
      </p:sp>
      <p:sp>
        <p:nvSpPr>
          <p:cNvPr id="19" name="Text 17"/>
          <p:cNvSpPr/>
          <p:nvPr/>
        </p:nvSpPr>
        <p:spPr>
          <a:xfrm>
            <a:off x="4237831" y="2965450"/>
            <a:ext cx="2932801" cy="1104900"/>
          </a:xfrm>
          <a:prstGeom prst="rect">
            <a:avLst/>
          </a:prstGeom>
          <a:noFill/>
          <a:ln/>
        </p:spPr>
        <p:txBody>
          <a:bodyPr wrap="square" lIns="25400" tIns="25400" rIns="25400" bIns="25400" rtlCol="0" anchor="t">
            <a:normAutofit/>
          </a:bodyPr>
          <a:lstStyle/>
          <a:p>
            <a:pPr marL="0" indent="0" algn="l">
              <a:lnSpc>
                <a:spcPct val="140000"/>
              </a:lnSpc>
              <a:buNone/>
            </a:pPr>
            <a:r>
              <a:rPr lang="en-US" sz="1500" dirty="0">
                <a:solidFill>
                  <a:srgbClr val="D2DEEB"/>
                </a:solidFill>
                <a:latin typeface="Arial" pitchFamily="34" charset="0"/>
                <a:ea typeface="Arial" pitchFamily="34" charset="-122"/>
                <a:cs typeface="Arial" pitchFamily="34" charset="-120"/>
              </a:rPr>
              <a:t>Authoritative 60Hz loop in Go, physics + raycast + spatial engine, 8 AI bots, 18-feature engine, 6 rule detectors.</a:t>
            </a:r>
            <a:endParaRPr lang="en-US" sz="1500" dirty="0"/>
          </a:p>
        </p:txBody>
      </p:sp>
      <p:sp>
        <p:nvSpPr>
          <p:cNvPr id="20" name="Shape 18"/>
          <p:cNvSpPr/>
          <p:nvPr/>
        </p:nvSpPr>
        <p:spPr>
          <a:xfrm>
            <a:off x="4237831" y="8792766"/>
            <a:ext cx="2847380" cy="12700"/>
          </a:xfrm>
          <a:prstGeom prst="rect">
            <a:avLst/>
          </a:prstGeom>
          <a:solidFill>
            <a:srgbClr val="FFFFFF">
              <a:alpha val="10000"/>
            </a:srgbClr>
          </a:solidFill>
          <a:ln/>
        </p:spPr>
        <p:txBody>
          <a:bodyPr/>
          <a:lstStyle/>
          <a:p>
            <a:endParaRPr lang="en-US"/>
          </a:p>
        </p:txBody>
      </p:sp>
      <p:sp>
        <p:nvSpPr>
          <p:cNvPr id="21" name="Text 19"/>
          <p:cNvSpPr/>
          <p:nvPr/>
        </p:nvSpPr>
        <p:spPr>
          <a:xfrm>
            <a:off x="4237831" y="8929291"/>
            <a:ext cx="2932801" cy="475059"/>
          </a:xfrm>
          <a:prstGeom prst="rect">
            <a:avLst/>
          </a:prstGeom>
          <a:noFill/>
          <a:ln/>
        </p:spPr>
        <p:txBody>
          <a:bodyPr wrap="square" lIns="25400" tIns="25400" rIns="25400" bIns="25400" rtlCol="0" anchor="t">
            <a:normAutofit/>
          </a:bodyPr>
          <a:lstStyle/>
          <a:p>
            <a:pPr marL="0" indent="0" algn="l">
              <a:lnSpc>
                <a:spcPct val="135000"/>
              </a:lnSpc>
              <a:buNone/>
            </a:pPr>
            <a:r>
              <a:rPr lang="en-US" sz="1275" b="1" dirty="0">
                <a:solidFill>
                  <a:srgbClr val="6FB3F2"/>
                </a:solidFill>
                <a:latin typeface="Arial" pitchFamily="34" charset="0"/>
                <a:ea typeface="Arial" pitchFamily="34" charset="-122"/>
                <a:cs typeface="Arial" pitchFamily="34" charset="-120"/>
              </a:rPr>
              <a:t>Key: </a:t>
            </a:r>
            <a:r>
              <a:rPr lang="en-US" sz="1275" dirty="0">
                <a:solidFill>
                  <a:srgbClr val="9DB2C9"/>
                </a:solidFill>
                <a:latin typeface="Arial" pitchFamily="34" charset="0"/>
                <a:ea typeface="Arial" pitchFamily="34" charset="-122"/>
                <a:cs typeface="Arial" pitchFamily="34" charset="-120"/>
              </a:rPr>
              <a:t>Server-side authority, ring-buffer windows, physics-derived thresholds</a:t>
            </a:r>
            <a:endParaRPr lang="en-US" sz="1275" dirty="0"/>
          </a:p>
        </p:txBody>
      </p:sp>
      <p:sp>
        <p:nvSpPr>
          <p:cNvPr id="22" name="Shape 20"/>
          <p:cNvSpPr/>
          <p:nvPr/>
        </p:nvSpPr>
        <p:spPr>
          <a:xfrm>
            <a:off x="7497961" y="1771650"/>
            <a:ext cx="3291880" cy="7797800"/>
          </a:xfrm>
          <a:prstGeom prst="roundRect">
            <a:avLst>
              <a:gd name="adj" fmla="val 4051"/>
            </a:avLst>
          </a:prstGeom>
          <a:solidFill>
            <a:srgbClr val="FFFFFF">
              <a:alpha val="4000"/>
            </a:srgbClr>
          </a:solidFill>
          <a:ln w="12700">
            <a:solidFill>
              <a:srgbClr val="FFFFFF">
                <a:alpha val="10000"/>
              </a:srgbClr>
            </a:solidFill>
            <a:prstDash val="solid"/>
          </a:ln>
        </p:spPr>
        <p:txBody>
          <a:bodyPr/>
          <a:lstStyle/>
          <a:p>
            <a:endParaRPr lang="en-US"/>
          </a:p>
        </p:txBody>
      </p:sp>
      <p:sp>
        <p:nvSpPr>
          <p:cNvPr id="23" name="Shape 21"/>
          <p:cNvSpPr/>
          <p:nvPr/>
        </p:nvSpPr>
        <p:spPr>
          <a:xfrm>
            <a:off x="7510661" y="1784350"/>
            <a:ext cx="3266480" cy="990600"/>
          </a:xfrm>
          <a:prstGeom prst="rect">
            <a:avLst/>
          </a:prstGeom>
          <a:gradFill rotWithShape="1">
            <a:gsLst>
              <a:gs pos="0">
                <a:srgbClr val="D98A28">
                  <a:alpha val="100000"/>
                </a:srgbClr>
              </a:gs>
              <a:gs pos="100000">
                <a:srgbClr val="F2A33C">
                  <a:alpha val="100000"/>
                </a:srgbClr>
              </a:gs>
            </a:gsLst>
            <a:lin ang="1800000" scaled="0"/>
          </a:gradFill>
          <a:ln/>
        </p:spPr>
        <p:txBody>
          <a:bodyPr/>
          <a:lstStyle/>
          <a:p>
            <a:endParaRPr lang="en-US"/>
          </a:p>
        </p:txBody>
      </p:sp>
      <p:sp>
        <p:nvSpPr>
          <p:cNvPr id="24" name="Text 22"/>
          <p:cNvSpPr/>
          <p:nvPr/>
        </p:nvSpPr>
        <p:spPr>
          <a:xfrm>
            <a:off x="7720211" y="1974850"/>
            <a:ext cx="3132118"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1A1206"/>
                </a:solidFill>
                <a:latin typeface="Arial" pitchFamily="34" charset="0"/>
                <a:ea typeface="Arial" pitchFamily="34" charset="-122"/>
                <a:cs typeface="Arial" pitchFamily="34" charset="-120"/>
              </a:rPr>
              <a:t>Sid</a:t>
            </a:r>
            <a:endParaRPr lang="en-US" sz="2100" dirty="0"/>
          </a:p>
        </p:txBody>
      </p:sp>
      <p:sp>
        <p:nvSpPr>
          <p:cNvPr id="25" name="Text 23"/>
          <p:cNvSpPr/>
          <p:nvPr/>
        </p:nvSpPr>
        <p:spPr>
          <a:xfrm>
            <a:off x="7720211" y="2393950"/>
            <a:ext cx="3132118" cy="228600"/>
          </a:xfrm>
          <a:prstGeom prst="rect">
            <a:avLst/>
          </a:prstGeom>
          <a:noFill/>
          <a:ln/>
        </p:spPr>
        <p:txBody>
          <a:bodyPr wrap="square" lIns="25400" tIns="25400" rIns="25400" bIns="25400" rtlCol="0" anchor="t">
            <a:normAutofit/>
          </a:bodyPr>
          <a:lstStyle/>
          <a:p>
            <a:pPr marL="0" indent="0" algn="l">
              <a:buNone/>
            </a:pPr>
            <a:r>
              <a:rPr lang="en-US" sz="1350" b="1" dirty="0">
                <a:solidFill>
                  <a:srgbClr val="3A2A10"/>
                </a:solidFill>
                <a:latin typeface="Arial" pitchFamily="34" charset="0"/>
                <a:ea typeface="Arial" pitchFamily="34" charset="-122"/>
                <a:cs typeface="Arial" pitchFamily="34" charset="-120"/>
              </a:rPr>
              <a:t>XGBoost Training</a:t>
            </a:r>
            <a:endParaRPr lang="en-US" sz="1350" dirty="0"/>
          </a:p>
        </p:txBody>
      </p:sp>
      <p:sp>
        <p:nvSpPr>
          <p:cNvPr id="26" name="Text 24"/>
          <p:cNvSpPr/>
          <p:nvPr/>
        </p:nvSpPr>
        <p:spPr>
          <a:xfrm>
            <a:off x="7720211" y="2965450"/>
            <a:ext cx="2932801" cy="1371600"/>
          </a:xfrm>
          <a:prstGeom prst="rect">
            <a:avLst/>
          </a:prstGeom>
          <a:noFill/>
          <a:ln/>
        </p:spPr>
        <p:txBody>
          <a:bodyPr wrap="square" lIns="25400" tIns="25400" rIns="25400" bIns="25400" rtlCol="0" anchor="t">
            <a:normAutofit/>
          </a:bodyPr>
          <a:lstStyle/>
          <a:p>
            <a:pPr marL="0" indent="0" algn="l">
              <a:lnSpc>
                <a:spcPct val="140000"/>
              </a:lnSpc>
              <a:buNone/>
            </a:pPr>
            <a:r>
              <a:rPr lang="en-US" sz="1500" dirty="0">
                <a:solidFill>
                  <a:srgbClr val="D2DEEB"/>
                </a:solidFill>
                <a:latin typeface="Arial" pitchFamily="34" charset="0"/>
                <a:ea typeface="Arial" pitchFamily="34" charset="-122"/>
                <a:cs typeface="Arial" pitchFamily="34" charset="-120"/>
              </a:rPr>
              <a:t>CS2CD parser (Parquet + JSON), 3D→2D feature mapping, player-ID train/test split, hyperparameter tuning, confidence gating.</a:t>
            </a:r>
            <a:endParaRPr lang="en-US" sz="1500" dirty="0"/>
          </a:p>
        </p:txBody>
      </p:sp>
      <p:sp>
        <p:nvSpPr>
          <p:cNvPr id="27" name="Shape 25"/>
          <p:cNvSpPr/>
          <p:nvPr/>
        </p:nvSpPr>
        <p:spPr>
          <a:xfrm>
            <a:off x="7720211" y="8792766"/>
            <a:ext cx="2847380" cy="12700"/>
          </a:xfrm>
          <a:prstGeom prst="rect">
            <a:avLst/>
          </a:prstGeom>
          <a:solidFill>
            <a:srgbClr val="FFFFFF">
              <a:alpha val="10000"/>
            </a:srgbClr>
          </a:solidFill>
          <a:ln/>
        </p:spPr>
        <p:txBody>
          <a:bodyPr/>
          <a:lstStyle/>
          <a:p>
            <a:endParaRPr lang="en-US"/>
          </a:p>
        </p:txBody>
      </p:sp>
      <p:sp>
        <p:nvSpPr>
          <p:cNvPr id="28" name="Text 26"/>
          <p:cNvSpPr/>
          <p:nvPr/>
        </p:nvSpPr>
        <p:spPr>
          <a:xfrm>
            <a:off x="7720211" y="8929291"/>
            <a:ext cx="2932801" cy="475059"/>
          </a:xfrm>
          <a:prstGeom prst="rect">
            <a:avLst/>
          </a:prstGeom>
          <a:noFill/>
          <a:ln/>
        </p:spPr>
        <p:txBody>
          <a:bodyPr wrap="square" lIns="25400" tIns="25400" rIns="25400" bIns="25400" rtlCol="0" anchor="t">
            <a:normAutofit/>
          </a:bodyPr>
          <a:lstStyle/>
          <a:p>
            <a:pPr marL="0" indent="0" algn="l">
              <a:lnSpc>
                <a:spcPct val="135000"/>
              </a:lnSpc>
              <a:buNone/>
            </a:pPr>
            <a:r>
              <a:rPr lang="en-US" sz="1275" b="1" dirty="0">
                <a:solidFill>
                  <a:srgbClr val="F4B463"/>
                </a:solidFill>
                <a:latin typeface="Arial" pitchFamily="34" charset="0"/>
                <a:ea typeface="Arial" pitchFamily="34" charset="-122"/>
                <a:cs typeface="Arial" pitchFamily="34" charset="-120"/>
              </a:rPr>
              <a:t>Key: </a:t>
            </a:r>
            <a:r>
              <a:rPr lang="en-US" sz="1275" dirty="0">
                <a:solidFill>
                  <a:srgbClr val="9DB2C9"/>
                </a:solidFill>
                <a:latin typeface="Arial" pitchFamily="34" charset="0"/>
                <a:ea typeface="Arial" pitchFamily="34" charset="-122"/>
                <a:cs typeface="Arial" pitchFamily="34" charset="-120"/>
              </a:rPr>
              <a:t>Player-ID split prevents data leakage; 0.95 threshold</a:t>
            </a:r>
            <a:endParaRPr lang="en-US" sz="1275" dirty="0"/>
          </a:p>
        </p:txBody>
      </p:sp>
      <p:sp>
        <p:nvSpPr>
          <p:cNvPr id="29" name="Shape 27"/>
          <p:cNvSpPr/>
          <p:nvPr/>
        </p:nvSpPr>
        <p:spPr>
          <a:xfrm>
            <a:off x="10980341" y="1771650"/>
            <a:ext cx="3291880" cy="7797800"/>
          </a:xfrm>
          <a:prstGeom prst="roundRect">
            <a:avLst>
              <a:gd name="adj" fmla="val 4051"/>
            </a:avLst>
          </a:prstGeom>
          <a:solidFill>
            <a:srgbClr val="FFFFFF">
              <a:alpha val="4000"/>
            </a:srgbClr>
          </a:solidFill>
          <a:ln w="12700">
            <a:solidFill>
              <a:srgbClr val="FFFFFF">
                <a:alpha val="10000"/>
              </a:srgbClr>
            </a:solidFill>
            <a:prstDash val="solid"/>
          </a:ln>
        </p:spPr>
        <p:txBody>
          <a:bodyPr/>
          <a:lstStyle/>
          <a:p>
            <a:endParaRPr lang="en-US"/>
          </a:p>
        </p:txBody>
      </p:sp>
      <p:sp>
        <p:nvSpPr>
          <p:cNvPr id="30" name="Shape 28"/>
          <p:cNvSpPr/>
          <p:nvPr/>
        </p:nvSpPr>
        <p:spPr>
          <a:xfrm>
            <a:off x="10993041" y="1784350"/>
            <a:ext cx="3266480" cy="990600"/>
          </a:xfrm>
          <a:prstGeom prst="rect">
            <a:avLst/>
          </a:prstGeom>
          <a:gradFill rotWithShape="1">
            <a:gsLst>
              <a:gs pos="0">
                <a:srgbClr val="C53F37">
                  <a:alpha val="100000"/>
                </a:srgbClr>
              </a:gs>
              <a:gs pos="100000">
                <a:srgbClr val="F0584E">
                  <a:alpha val="100000"/>
                </a:srgbClr>
              </a:gs>
            </a:gsLst>
            <a:lin ang="1800000" scaled="0"/>
          </a:gradFill>
          <a:ln/>
        </p:spPr>
        <p:txBody>
          <a:bodyPr/>
          <a:lstStyle/>
          <a:p>
            <a:endParaRPr lang="en-US"/>
          </a:p>
        </p:txBody>
      </p:sp>
      <p:sp>
        <p:nvSpPr>
          <p:cNvPr id="31" name="Text 29"/>
          <p:cNvSpPr/>
          <p:nvPr/>
        </p:nvSpPr>
        <p:spPr>
          <a:xfrm>
            <a:off x="11202591" y="1974850"/>
            <a:ext cx="3132118"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Arial" pitchFamily="34" charset="0"/>
                <a:ea typeface="Arial" pitchFamily="34" charset="-122"/>
                <a:cs typeface="Arial" pitchFamily="34" charset="-120"/>
              </a:rPr>
              <a:t>Priyanka</a:t>
            </a:r>
            <a:endParaRPr lang="en-US" sz="2100" dirty="0"/>
          </a:p>
        </p:txBody>
      </p:sp>
      <p:sp>
        <p:nvSpPr>
          <p:cNvPr id="32" name="Text 30"/>
          <p:cNvSpPr/>
          <p:nvPr/>
        </p:nvSpPr>
        <p:spPr>
          <a:xfrm>
            <a:off x="11202591" y="2393950"/>
            <a:ext cx="3132118" cy="228600"/>
          </a:xfrm>
          <a:prstGeom prst="rect">
            <a:avLst/>
          </a:prstGeom>
          <a:noFill/>
          <a:ln/>
        </p:spPr>
        <p:txBody>
          <a:bodyPr wrap="square" lIns="25400" tIns="25400" rIns="25400" bIns="25400" rtlCol="0" anchor="t">
            <a:normAutofit/>
          </a:bodyPr>
          <a:lstStyle/>
          <a:p>
            <a:pPr marL="0" indent="0" algn="l">
              <a:buNone/>
            </a:pPr>
            <a:r>
              <a:rPr lang="en-US" sz="1350" b="1" dirty="0">
                <a:solidFill>
                  <a:srgbClr val="FBE4E2"/>
                </a:solidFill>
                <a:latin typeface="Arial" pitchFamily="34" charset="0"/>
                <a:ea typeface="Arial" pitchFamily="34" charset="-122"/>
                <a:cs typeface="Arial" pitchFamily="34" charset="-120"/>
              </a:rPr>
              <a:t>LSTM Autoencoder</a:t>
            </a:r>
            <a:endParaRPr lang="en-US" sz="1350" dirty="0"/>
          </a:p>
        </p:txBody>
      </p:sp>
      <p:sp>
        <p:nvSpPr>
          <p:cNvPr id="33" name="Text 31"/>
          <p:cNvSpPr/>
          <p:nvPr/>
        </p:nvSpPr>
        <p:spPr>
          <a:xfrm>
            <a:off x="11202591" y="2965450"/>
            <a:ext cx="2932801" cy="1104900"/>
          </a:xfrm>
          <a:prstGeom prst="rect">
            <a:avLst/>
          </a:prstGeom>
          <a:noFill/>
          <a:ln/>
        </p:spPr>
        <p:txBody>
          <a:bodyPr wrap="square" lIns="25400" tIns="25400" rIns="25400" bIns="25400" rtlCol="0" anchor="t">
            <a:normAutofit/>
          </a:bodyPr>
          <a:lstStyle/>
          <a:p>
            <a:pPr marL="0" indent="0" algn="l">
              <a:lnSpc>
                <a:spcPct val="140000"/>
              </a:lnSpc>
              <a:buNone/>
            </a:pPr>
            <a:r>
              <a:rPr lang="en-US" sz="1500" dirty="0">
                <a:solidFill>
                  <a:srgbClr val="D2DEEB"/>
                </a:solidFill>
                <a:latin typeface="Arial" pitchFamily="34" charset="0"/>
                <a:ea typeface="Arial" pitchFamily="34" charset="-122"/>
                <a:cs typeface="Arial" pitchFamily="34" charset="-120"/>
              </a:rPr>
              <a:t>Encoder LSTM(64→32), Decoder LSTM(32→64)→Dense(18), trained on clean-only sequences, anomaly threshold calibration.</a:t>
            </a:r>
            <a:endParaRPr lang="en-US" sz="1500" dirty="0"/>
          </a:p>
        </p:txBody>
      </p:sp>
      <p:sp>
        <p:nvSpPr>
          <p:cNvPr id="34" name="Shape 32"/>
          <p:cNvSpPr/>
          <p:nvPr/>
        </p:nvSpPr>
        <p:spPr>
          <a:xfrm>
            <a:off x="11202591" y="8792766"/>
            <a:ext cx="2847380" cy="12700"/>
          </a:xfrm>
          <a:prstGeom prst="rect">
            <a:avLst/>
          </a:prstGeom>
          <a:solidFill>
            <a:srgbClr val="FFFFFF">
              <a:alpha val="10000"/>
            </a:srgbClr>
          </a:solidFill>
          <a:ln/>
        </p:spPr>
        <p:txBody>
          <a:bodyPr/>
          <a:lstStyle/>
          <a:p>
            <a:endParaRPr lang="en-US"/>
          </a:p>
        </p:txBody>
      </p:sp>
      <p:sp>
        <p:nvSpPr>
          <p:cNvPr id="35" name="Text 33"/>
          <p:cNvSpPr/>
          <p:nvPr/>
        </p:nvSpPr>
        <p:spPr>
          <a:xfrm>
            <a:off x="11202591" y="8929291"/>
            <a:ext cx="2932801" cy="475059"/>
          </a:xfrm>
          <a:prstGeom prst="rect">
            <a:avLst/>
          </a:prstGeom>
          <a:noFill/>
          <a:ln/>
        </p:spPr>
        <p:txBody>
          <a:bodyPr wrap="square" lIns="25400" tIns="25400" rIns="25400" bIns="25400" rtlCol="0" anchor="t">
            <a:normAutofit/>
          </a:bodyPr>
          <a:lstStyle/>
          <a:p>
            <a:pPr marL="0" indent="0" algn="l">
              <a:lnSpc>
                <a:spcPct val="135000"/>
              </a:lnSpc>
              <a:buNone/>
            </a:pPr>
            <a:r>
              <a:rPr lang="en-US" sz="1275" b="1" dirty="0">
                <a:solidFill>
                  <a:srgbClr val="F47E76"/>
                </a:solidFill>
                <a:latin typeface="Arial" pitchFamily="34" charset="0"/>
                <a:ea typeface="Arial" pitchFamily="34" charset="-122"/>
                <a:cs typeface="Arial" pitchFamily="34" charset="-120"/>
              </a:rPr>
              <a:t>Key: </a:t>
            </a:r>
            <a:r>
              <a:rPr lang="en-US" sz="1275" dirty="0">
                <a:solidFill>
                  <a:srgbClr val="9DB2C9"/>
                </a:solidFill>
                <a:latin typeface="Arial" pitchFamily="34" charset="0"/>
                <a:ea typeface="Arial" pitchFamily="34" charset="-122"/>
                <a:cs typeface="Arial" pitchFamily="34" charset="-120"/>
              </a:rPr>
              <a:t>Clean-only training for novel cheats; MSE as anomaly score</a:t>
            </a:r>
            <a:endParaRPr lang="en-US" sz="1275" dirty="0"/>
          </a:p>
        </p:txBody>
      </p:sp>
      <p:sp>
        <p:nvSpPr>
          <p:cNvPr id="36" name="Shape 34"/>
          <p:cNvSpPr/>
          <p:nvPr/>
        </p:nvSpPr>
        <p:spPr>
          <a:xfrm>
            <a:off x="14462721" y="1771650"/>
            <a:ext cx="3291880" cy="7797800"/>
          </a:xfrm>
          <a:prstGeom prst="roundRect">
            <a:avLst>
              <a:gd name="adj" fmla="val 4051"/>
            </a:avLst>
          </a:prstGeom>
          <a:solidFill>
            <a:srgbClr val="FFFFFF">
              <a:alpha val="4000"/>
            </a:srgbClr>
          </a:solidFill>
          <a:ln w="12700">
            <a:solidFill>
              <a:srgbClr val="FFFFFF">
                <a:alpha val="10000"/>
              </a:srgbClr>
            </a:solidFill>
            <a:prstDash val="solid"/>
          </a:ln>
        </p:spPr>
        <p:txBody>
          <a:bodyPr/>
          <a:lstStyle/>
          <a:p>
            <a:endParaRPr lang="en-US"/>
          </a:p>
        </p:txBody>
      </p:sp>
      <p:sp>
        <p:nvSpPr>
          <p:cNvPr id="37" name="Shape 35"/>
          <p:cNvSpPr/>
          <p:nvPr/>
        </p:nvSpPr>
        <p:spPr>
          <a:xfrm>
            <a:off x="14475421" y="1784350"/>
            <a:ext cx="3266480" cy="990600"/>
          </a:xfrm>
          <a:prstGeom prst="rect">
            <a:avLst/>
          </a:prstGeom>
          <a:gradFill rotWithShape="1">
            <a:gsLst>
              <a:gs pos="0">
                <a:srgbClr val="23996A">
                  <a:alpha val="100000"/>
                </a:srgbClr>
              </a:gs>
              <a:gs pos="100000">
                <a:srgbClr val="34C27E">
                  <a:alpha val="100000"/>
                </a:srgbClr>
              </a:gs>
            </a:gsLst>
            <a:lin ang="1800000" scaled="0"/>
          </a:gradFill>
          <a:ln/>
        </p:spPr>
        <p:txBody>
          <a:bodyPr/>
          <a:lstStyle/>
          <a:p>
            <a:endParaRPr lang="en-US"/>
          </a:p>
        </p:txBody>
      </p:sp>
      <p:sp>
        <p:nvSpPr>
          <p:cNvPr id="38" name="Text 36"/>
          <p:cNvSpPr/>
          <p:nvPr/>
        </p:nvSpPr>
        <p:spPr>
          <a:xfrm>
            <a:off x="14684971" y="1974850"/>
            <a:ext cx="3132118"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06231A"/>
                </a:solidFill>
                <a:latin typeface="Arial" pitchFamily="34" charset="0"/>
                <a:ea typeface="Arial" pitchFamily="34" charset="-122"/>
                <a:cs typeface="Arial" pitchFamily="34" charset="-120"/>
              </a:rPr>
              <a:t>Nithilan</a:t>
            </a:r>
            <a:endParaRPr lang="en-US" sz="2100" dirty="0"/>
          </a:p>
        </p:txBody>
      </p:sp>
      <p:sp>
        <p:nvSpPr>
          <p:cNvPr id="39" name="Text 37"/>
          <p:cNvSpPr/>
          <p:nvPr/>
        </p:nvSpPr>
        <p:spPr>
          <a:xfrm>
            <a:off x="14684971" y="2393950"/>
            <a:ext cx="3132118" cy="228600"/>
          </a:xfrm>
          <a:prstGeom prst="rect">
            <a:avLst/>
          </a:prstGeom>
          <a:noFill/>
          <a:ln/>
        </p:spPr>
        <p:txBody>
          <a:bodyPr wrap="square" lIns="25400" tIns="25400" rIns="25400" bIns="25400" rtlCol="0" anchor="t">
            <a:normAutofit/>
          </a:bodyPr>
          <a:lstStyle/>
          <a:p>
            <a:pPr marL="0" indent="0" algn="l">
              <a:buNone/>
            </a:pPr>
            <a:r>
              <a:rPr lang="en-US" sz="1350" b="1" dirty="0">
                <a:solidFill>
                  <a:srgbClr val="0A3326"/>
                </a:solidFill>
                <a:latin typeface="Arial" pitchFamily="34" charset="0"/>
                <a:ea typeface="Arial" pitchFamily="34" charset="-122"/>
                <a:cs typeface="Arial" pitchFamily="34" charset="-120"/>
              </a:rPr>
              <a:t>Grafana Dashboards</a:t>
            </a:r>
            <a:endParaRPr lang="en-US" sz="1350" dirty="0"/>
          </a:p>
        </p:txBody>
      </p:sp>
      <p:sp>
        <p:nvSpPr>
          <p:cNvPr id="40" name="Text 38"/>
          <p:cNvSpPr/>
          <p:nvPr/>
        </p:nvSpPr>
        <p:spPr>
          <a:xfrm>
            <a:off x="14684971" y="2965450"/>
            <a:ext cx="2932801" cy="1104900"/>
          </a:xfrm>
          <a:prstGeom prst="rect">
            <a:avLst/>
          </a:prstGeom>
          <a:noFill/>
          <a:ln/>
        </p:spPr>
        <p:txBody>
          <a:bodyPr wrap="square" lIns="25400" tIns="25400" rIns="25400" bIns="25400" rtlCol="0" anchor="t">
            <a:normAutofit/>
          </a:bodyPr>
          <a:lstStyle/>
          <a:p>
            <a:pPr marL="0" indent="0" algn="l">
              <a:lnSpc>
                <a:spcPct val="140000"/>
              </a:lnSpc>
              <a:buNone/>
            </a:pPr>
            <a:r>
              <a:rPr lang="en-US" sz="1500" dirty="0">
                <a:solidFill>
                  <a:srgbClr val="D2DEEB"/>
                </a:solidFill>
                <a:latin typeface="Arial" pitchFamily="34" charset="0"/>
                <a:ea typeface="Arial" pitchFamily="34" charset="-122"/>
                <a:cs typeface="Arial" pitchFamily="34" charset="-120"/>
              </a:rPr>
              <a:t>2 auto-provisioned dashboards, Prometheus metrics, PromQL queries, pie chart with color overrides, anomaly heatmap.</a:t>
            </a:r>
            <a:endParaRPr lang="en-US" sz="1500" dirty="0"/>
          </a:p>
        </p:txBody>
      </p:sp>
      <p:sp>
        <p:nvSpPr>
          <p:cNvPr id="41" name="Shape 39"/>
          <p:cNvSpPr/>
          <p:nvPr/>
        </p:nvSpPr>
        <p:spPr>
          <a:xfrm>
            <a:off x="14684971" y="8792766"/>
            <a:ext cx="2847380" cy="12700"/>
          </a:xfrm>
          <a:prstGeom prst="rect">
            <a:avLst/>
          </a:prstGeom>
          <a:solidFill>
            <a:srgbClr val="FFFFFF">
              <a:alpha val="10000"/>
            </a:srgbClr>
          </a:solidFill>
          <a:ln/>
        </p:spPr>
        <p:txBody>
          <a:bodyPr/>
          <a:lstStyle/>
          <a:p>
            <a:endParaRPr lang="en-US"/>
          </a:p>
        </p:txBody>
      </p:sp>
      <p:sp>
        <p:nvSpPr>
          <p:cNvPr id="42" name="Text 40"/>
          <p:cNvSpPr/>
          <p:nvPr/>
        </p:nvSpPr>
        <p:spPr>
          <a:xfrm>
            <a:off x="14684971" y="8929291"/>
            <a:ext cx="2932801" cy="475059"/>
          </a:xfrm>
          <a:prstGeom prst="rect">
            <a:avLst/>
          </a:prstGeom>
          <a:noFill/>
          <a:ln/>
        </p:spPr>
        <p:txBody>
          <a:bodyPr wrap="square" lIns="25400" tIns="25400" rIns="25400" bIns="25400" rtlCol="0" anchor="t">
            <a:normAutofit/>
          </a:bodyPr>
          <a:lstStyle/>
          <a:p>
            <a:pPr marL="0" indent="0" algn="l">
              <a:lnSpc>
                <a:spcPct val="135000"/>
              </a:lnSpc>
              <a:buNone/>
            </a:pPr>
            <a:r>
              <a:rPr lang="en-US" sz="1275" b="1" dirty="0">
                <a:solidFill>
                  <a:srgbClr val="5BD39A"/>
                </a:solidFill>
                <a:latin typeface="Arial" pitchFamily="34" charset="0"/>
                <a:ea typeface="Arial" pitchFamily="34" charset="-122"/>
                <a:cs typeface="Arial" pitchFamily="34" charset="-120"/>
              </a:rPr>
              <a:t>Key: </a:t>
            </a:r>
            <a:r>
              <a:rPr lang="en-US" sz="1275" dirty="0">
                <a:solidFill>
                  <a:srgbClr val="9DB2C9"/>
                </a:solidFill>
                <a:latin typeface="Arial" pitchFamily="34" charset="0"/>
                <a:ea typeface="Arial" pitchFamily="34" charset="-122"/>
                <a:cs typeface="Arial" pitchFamily="34" charset="-120"/>
              </a:rPr>
              <a:t>Docker volume provisioning, 5-second scrape, color-coded thresholds</a:t>
            </a:r>
            <a:endParaRPr lang="en-US" sz="1275" dirty="0"/>
          </a:p>
        </p:txBody>
      </p:sp>
      <p:sp>
        <p:nvSpPr>
          <p:cNvPr id="43" name="Shape 41"/>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44" name="Text 42"/>
          <p:cNvSpPr/>
          <p:nvPr/>
        </p:nvSpPr>
        <p:spPr>
          <a:xfrm>
            <a:off x="5334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45" name="Text 43"/>
          <p:cNvSpPr/>
          <p:nvPr/>
        </p:nvSpPr>
        <p:spPr>
          <a:xfrm>
            <a:off x="172593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13 / 18</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a:p>
        </p:txBody>
      </p:sp>
      <p:sp>
        <p:nvSpPr>
          <p:cNvPr id="3" name="Shape 1"/>
          <p:cNvSpPr/>
          <p:nvPr/>
        </p:nvSpPr>
        <p:spPr>
          <a:xfrm>
            <a:off x="609600" y="392113"/>
            <a:ext cx="104775" cy="104775"/>
          </a:xfrm>
          <a:prstGeom prst="roundRect">
            <a:avLst>
              <a:gd name="adj" fmla="val 18182"/>
            </a:avLst>
          </a:prstGeom>
          <a:solidFill>
            <a:srgbClr val="F2A33C"/>
          </a:solidFill>
          <a:ln/>
          <a:effectLst>
            <a:outerShdw blurRad="133350" dist="50800" dir="16200000" algn="bl" rotWithShape="0">
              <a:srgbClr val="F2A33C">
                <a:alpha val="100000"/>
              </a:srgbClr>
            </a:outerShdw>
          </a:effectLst>
        </p:spPr>
        <p:txBody>
          <a:bodyPr/>
          <a:lstStyle/>
          <a:p>
            <a:endParaRPr/>
          </a:p>
        </p:txBody>
      </p:sp>
      <p:sp>
        <p:nvSpPr>
          <p:cNvPr id="4" name="Text 2"/>
          <p:cNvSpPr/>
          <p:nvPr/>
        </p:nvSpPr>
        <p:spPr>
          <a:xfrm>
            <a:off x="828675" y="304800"/>
            <a:ext cx="1854954"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F4B463"/>
                </a:solidFill>
                <a:latin typeface="Arial" pitchFamily="34" charset="0"/>
                <a:ea typeface="Arial" pitchFamily="34" charset="-122"/>
                <a:cs typeface="Arial" pitchFamily="34" charset="-120"/>
              </a:rPr>
              <a:t>BENCHMARK</a:t>
            </a:r>
            <a:endParaRPr lang="en-US" sz="1500" dirty="0"/>
          </a:p>
        </p:txBody>
      </p:sp>
      <p:sp>
        <p:nvSpPr>
          <p:cNvPr id="5" name="Text 3"/>
          <p:cNvSpPr/>
          <p:nvPr/>
        </p:nvSpPr>
        <p:spPr>
          <a:xfrm>
            <a:off x="609600" y="679450"/>
            <a:ext cx="9543693" cy="533400"/>
          </a:xfrm>
          <a:prstGeom prst="rect">
            <a:avLst/>
          </a:prstGeom>
          <a:noFill/>
          <a:ln/>
        </p:spPr>
        <p:txBody>
          <a:bodyPr wrap="square" lIns="25400" tIns="25400" rIns="25400" bIns="25400" rtlCol="0" anchor="t">
            <a:normAutofit/>
          </a:bodyPr>
          <a:lstStyle/>
          <a:p>
            <a:pPr marL="0" indent="0" algn="l">
              <a:lnSpc>
                <a:spcPct val="100000"/>
              </a:lnSpc>
              <a:buNone/>
            </a:pPr>
            <a:r>
              <a:rPr lang="en-US" sz="3900" b="1" kern="0" spc="-37" dirty="0">
                <a:solidFill>
                  <a:srgbClr val="FFFFFF"/>
                </a:solidFill>
                <a:latin typeface="Arial" pitchFamily="34" charset="0"/>
                <a:ea typeface="Arial" pitchFamily="34" charset="-122"/>
                <a:cs typeface="Arial" pitchFamily="34" charset="-120"/>
              </a:rPr>
              <a:t>Comparison with AntiCheatPT</a:t>
            </a:r>
            <a:endParaRPr lang="en-US" sz="3900" dirty="0"/>
          </a:p>
        </p:txBody>
      </p:sp>
      <p:sp>
        <p:nvSpPr>
          <p:cNvPr id="6" name="Text 4"/>
          <p:cNvSpPr/>
          <p:nvPr/>
        </p:nvSpPr>
        <p:spPr>
          <a:xfrm>
            <a:off x="609600" y="1270000"/>
            <a:ext cx="9543693" cy="266700"/>
          </a:xfrm>
          <a:prstGeom prst="rect">
            <a:avLst/>
          </a:prstGeom>
          <a:noFill/>
          <a:ln/>
        </p:spPr>
        <p:txBody>
          <a:bodyPr wrap="square" lIns="25400" tIns="25400" rIns="25400" bIns="25400" rtlCol="0" anchor="t">
            <a:normAutofit/>
          </a:bodyPr>
          <a:lstStyle/>
          <a:p>
            <a:pPr marL="0" indent="0" algn="l">
              <a:buNone/>
            </a:pPr>
            <a:r>
              <a:rPr lang="en-US" sz="1575" dirty="0">
                <a:solidFill>
                  <a:srgbClr val="9DB2C9"/>
                </a:solidFill>
                <a:latin typeface="Arial" pitchFamily="34" charset="0"/>
                <a:ea typeface="Arial" pitchFamily="34" charset="-122"/>
                <a:cs typeface="Arial" pitchFamily="34" charset="-120"/>
              </a:rPr>
              <a:t>AntiCheatPT (Lopes et al., 2025): transformer-based offline classifier on the same CS2CD dataset</a:t>
            </a:r>
            <a:endParaRPr lang="en-US" sz="1575" dirty="0"/>
          </a:p>
        </p:txBody>
      </p:sp>
      <p:sp>
        <p:nvSpPr>
          <p:cNvPr id="7" name="Text 5"/>
          <p:cNvSpPr/>
          <p:nvPr/>
        </p:nvSpPr>
        <p:spPr>
          <a:xfrm>
            <a:off x="16013709" y="304800"/>
            <a:ext cx="1831162" cy="998141"/>
          </a:xfrm>
          <a:prstGeom prst="rect">
            <a:avLst/>
          </a:prstGeom>
          <a:noFill/>
          <a:ln/>
        </p:spPr>
        <p:txBody>
          <a:bodyPr wrap="square" lIns="25400" tIns="25400" rIns="25400" bIns="25400" rtlCol="0" anchor="t">
            <a:normAutofit/>
          </a:bodyPr>
          <a:lstStyle/>
          <a:p>
            <a:pPr marL="0" indent="0" algn="l">
              <a:lnSpc>
                <a:spcPct val="72000"/>
              </a:lnSpc>
              <a:buNone/>
            </a:pPr>
            <a:r>
              <a:rPr lang="en-US" sz="10500" b="1" kern="0" spc="-450" dirty="0">
                <a:solidFill>
                  <a:srgbClr val="FFFFFF">
                    <a:alpha val="5000"/>
                  </a:srgbClr>
                </a:solidFill>
                <a:latin typeface="Arial" pitchFamily="34" charset="0"/>
                <a:ea typeface="Arial" pitchFamily="34" charset="-122"/>
                <a:cs typeface="Arial" pitchFamily="34" charset="-120"/>
              </a:rPr>
              <a:t>14</a:t>
            </a:r>
            <a:endParaRPr lang="en-US" sz="10500" dirty="0"/>
          </a:p>
        </p:txBody>
      </p:sp>
      <p:sp>
        <p:nvSpPr>
          <p:cNvPr id="8" name="Shape 6"/>
          <p:cNvSpPr/>
          <p:nvPr/>
        </p:nvSpPr>
        <p:spPr>
          <a:xfrm>
            <a:off x="609600" y="1631950"/>
            <a:ext cx="17068800" cy="19050"/>
          </a:xfrm>
          <a:prstGeom prst="rect">
            <a:avLst/>
          </a:prstGeom>
          <a:gradFill rotWithShape="1">
            <a:gsLst>
              <a:gs pos="0">
                <a:srgbClr val="F2A33C">
                  <a:alpha val="100000"/>
                </a:srgbClr>
              </a:gs>
              <a:gs pos="60000">
                <a:srgbClr val="FFFFFF">
                  <a:alpha val="4000"/>
                </a:srgbClr>
              </a:gs>
              <a:gs pos="100000">
                <a:srgbClr val="FFFFFF">
                  <a:alpha val="0"/>
                </a:srgbClr>
              </a:gs>
            </a:gsLst>
            <a:lin ang="0" scaled="0"/>
          </a:gradFill>
          <a:ln/>
        </p:spPr>
        <p:txBody>
          <a:bodyPr/>
          <a:lstStyle/>
          <a:p>
            <a:endParaRPr/>
          </a:p>
        </p:txBody>
      </p:sp>
      <p:sp>
        <p:nvSpPr>
          <p:cNvPr id="9" name="Shape 7"/>
          <p:cNvSpPr/>
          <p:nvPr/>
        </p:nvSpPr>
        <p:spPr>
          <a:xfrm>
            <a:off x="609600" y="1860550"/>
            <a:ext cx="17068800" cy="6854428"/>
          </a:xfrm>
          <a:prstGeom prst="roundRect">
            <a:avLst>
              <a:gd name="adj" fmla="val 1668"/>
            </a:avLst>
          </a:prstGeom>
          <a:solidFill>
            <a:srgbClr val="FFFFFF">
              <a:alpha val="10000"/>
            </a:srgbClr>
          </a:solidFill>
          <a:ln w="12700">
            <a:solidFill>
              <a:srgbClr val="FFFFFF">
                <a:alpha val="10000"/>
              </a:srgbClr>
            </a:solidFill>
            <a:prstDash val="solid"/>
          </a:ln>
        </p:spPr>
        <p:txBody>
          <a:bodyPr/>
          <a:lstStyle/>
          <a:p>
            <a:endParaRPr/>
          </a:p>
        </p:txBody>
      </p:sp>
      <p:sp>
        <p:nvSpPr>
          <p:cNvPr id="10" name="Shape 8"/>
          <p:cNvSpPr/>
          <p:nvPr/>
        </p:nvSpPr>
        <p:spPr>
          <a:xfrm>
            <a:off x="622300" y="1873250"/>
            <a:ext cx="4354909" cy="750292"/>
          </a:xfrm>
          <a:prstGeom prst="rect">
            <a:avLst/>
          </a:prstGeom>
          <a:solidFill>
            <a:srgbClr val="13294A"/>
          </a:solidFill>
          <a:ln/>
        </p:spPr>
        <p:txBody>
          <a:bodyPr/>
          <a:lstStyle/>
          <a:p>
            <a:endParaRPr/>
          </a:p>
        </p:txBody>
      </p:sp>
      <p:sp>
        <p:nvSpPr>
          <p:cNvPr id="11" name="Text 9"/>
          <p:cNvSpPr/>
          <p:nvPr/>
        </p:nvSpPr>
        <p:spPr>
          <a:xfrm>
            <a:off x="793750" y="1873250"/>
            <a:ext cx="4142657"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CFE0F2"/>
                </a:solidFill>
                <a:latin typeface="Arial" pitchFamily="34" charset="0"/>
                <a:ea typeface="Arial" pitchFamily="34" charset="-122"/>
                <a:cs typeface="Arial" pitchFamily="34" charset="-120"/>
              </a:rPr>
              <a:t>Dimension</a:t>
            </a:r>
            <a:endParaRPr lang="en-US" sz="1425" dirty="0"/>
          </a:p>
        </p:txBody>
      </p:sp>
      <p:sp>
        <p:nvSpPr>
          <p:cNvPr id="12" name="Shape 10"/>
          <p:cNvSpPr/>
          <p:nvPr/>
        </p:nvSpPr>
        <p:spPr>
          <a:xfrm>
            <a:off x="4986735" y="1873250"/>
            <a:ext cx="5938838" cy="750292"/>
          </a:xfrm>
          <a:prstGeom prst="rect">
            <a:avLst/>
          </a:prstGeom>
          <a:solidFill>
            <a:srgbClr val="2A3344"/>
          </a:solidFill>
          <a:ln/>
        </p:spPr>
        <p:txBody>
          <a:bodyPr/>
          <a:lstStyle/>
          <a:p>
            <a:endParaRPr/>
          </a:p>
        </p:txBody>
      </p:sp>
      <p:sp>
        <p:nvSpPr>
          <p:cNvPr id="13" name="Text 11"/>
          <p:cNvSpPr/>
          <p:nvPr/>
        </p:nvSpPr>
        <p:spPr>
          <a:xfrm>
            <a:off x="5158185" y="1873250"/>
            <a:ext cx="5774103"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C7D2DF"/>
                </a:solidFill>
                <a:latin typeface="Arial" pitchFamily="34" charset="0"/>
                <a:ea typeface="Arial" pitchFamily="34" charset="-122"/>
                <a:cs typeface="Arial" pitchFamily="34" charset="-120"/>
              </a:rPr>
              <a:t>AntiCheatPT</a:t>
            </a:r>
            <a:endParaRPr lang="en-US" sz="1425" dirty="0"/>
          </a:p>
        </p:txBody>
      </p:sp>
      <p:sp>
        <p:nvSpPr>
          <p:cNvPr id="14" name="Shape 12"/>
          <p:cNvSpPr/>
          <p:nvPr/>
        </p:nvSpPr>
        <p:spPr>
          <a:xfrm>
            <a:off x="10935098" y="1873250"/>
            <a:ext cx="6730603" cy="750292"/>
          </a:xfrm>
          <a:prstGeom prst="rect">
            <a:avLst/>
          </a:prstGeom>
          <a:gradFill rotWithShape="1">
            <a:gsLst>
              <a:gs pos="0">
                <a:srgbClr val="D98A28">
                  <a:alpha val="100000"/>
                </a:srgbClr>
              </a:gs>
              <a:gs pos="100000">
                <a:srgbClr val="F2A33C">
                  <a:alpha val="100000"/>
                </a:srgbClr>
              </a:gs>
            </a:gsLst>
            <a:lin ang="600000" scaled="0"/>
          </a:gradFill>
          <a:ln/>
        </p:spPr>
        <p:txBody>
          <a:bodyPr/>
          <a:lstStyle/>
          <a:p>
            <a:endParaRPr/>
          </a:p>
        </p:txBody>
      </p:sp>
      <p:sp>
        <p:nvSpPr>
          <p:cNvPr id="15" name="Text 13"/>
          <p:cNvSpPr/>
          <p:nvPr/>
        </p:nvSpPr>
        <p:spPr>
          <a:xfrm>
            <a:off x="11106548" y="1873250"/>
            <a:ext cx="6589621"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1A1206"/>
                </a:solidFill>
                <a:latin typeface="Arial" pitchFamily="34" charset="0"/>
                <a:ea typeface="Arial" pitchFamily="34" charset="-122"/>
                <a:cs typeface="Arial" pitchFamily="34" charset="-120"/>
              </a:rPr>
              <a:t>Our System</a:t>
            </a:r>
            <a:endParaRPr lang="en-US" sz="1425" dirty="0"/>
          </a:p>
        </p:txBody>
      </p:sp>
      <p:sp>
        <p:nvSpPr>
          <p:cNvPr id="16" name="Shape 14"/>
          <p:cNvSpPr/>
          <p:nvPr/>
        </p:nvSpPr>
        <p:spPr>
          <a:xfrm>
            <a:off x="622300" y="2633067"/>
            <a:ext cx="4354909" cy="750292"/>
          </a:xfrm>
          <a:prstGeom prst="rect">
            <a:avLst/>
          </a:prstGeom>
          <a:solidFill>
            <a:srgbClr val="0B1A30"/>
          </a:solidFill>
          <a:ln/>
        </p:spPr>
        <p:txBody>
          <a:bodyPr/>
          <a:lstStyle/>
          <a:p>
            <a:endParaRPr/>
          </a:p>
        </p:txBody>
      </p:sp>
      <p:sp>
        <p:nvSpPr>
          <p:cNvPr id="17" name="Text 15"/>
          <p:cNvSpPr/>
          <p:nvPr/>
        </p:nvSpPr>
        <p:spPr>
          <a:xfrm>
            <a:off x="793750" y="2633067"/>
            <a:ext cx="4142657"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Detection Timing</a:t>
            </a:r>
            <a:endParaRPr lang="en-US" sz="1425" dirty="0"/>
          </a:p>
        </p:txBody>
      </p:sp>
      <p:sp>
        <p:nvSpPr>
          <p:cNvPr id="18" name="Shape 16"/>
          <p:cNvSpPr/>
          <p:nvPr/>
        </p:nvSpPr>
        <p:spPr>
          <a:xfrm>
            <a:off x="4986735" y="2633067"/>
            <a:ext cx="5938838" cy="750292"/>
          </a:xfrm>
          <a:prstGeom prst="rect">
            <a:avLst/>
          </a:prstGeom>
          <a:solidFill>
            <a:srgbClr val="0B1A30"/>
          </a:solidFill>
          <a:ln/>
        </p:spPr>
        <p:txBody>
          <a:bodyPr/>
          <a:lstStyle/>
          <a:p>
            <a:endParaRPr/>
          </a:p>
        </p:txBody>
      </p:sp>
      <p:sp>
        <p:nvSpPr>
          <p:cNvPr id="19" name="Text 17"/>
          <p:cNvSpPr/>
          <p:nvPr/>
        </p:nvSpPr>
        <p:spPr>
          <a:xfrm>
            <a:off x="5158185" y="2633067"/>
            <a:ext cx="5774103"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Offline, post-match batch</a:t>
            </a:r>
            <a:endParaRPr lang="en-US" sz="1425" dirty="0"/>
          </a:p>
        </p:txBody>
      </p:sp>
      <p:sp>
        <p:nvSpPr>
          <p:cNvPr id="20" name="Shape 18"/>
          <p:cNvSpPr/>
          <p:nvPr/>
        </p:nvSpPr>
        <p:spPr>
          <a:xfrm>
            <a:off x="10935098" y="2633067"/>
            <a:ext cx="6730603" cy="750292"/>
          </a:xfrm>
          <a:prstGeom prst="rect">
            <a:avLst/>
          </a:prstGeom>
          <a:solidFill>
            <a:srgbClr val="F2A33C">
              <a:alpha val="10000"/>
            </a:srgbClr>
          </a:solidFill>
          <a:ln/>
        </p:spPr>
        <p:txBody>
          <a:bodyPr/>
          <a:lstStyle/>
          <a:p>
            <a:endParaRPr/>
          </a:p>
        </p:txBody>
      </p:sp>
      <p:sp>
        <p:nvSpPr>
          <p:cNvPr id="21" name="Text 19"/>
          <p:cNvSpPr/>
          <p:nvPr/>
        </p:nvSpPr>
        <p:spPr>
          <a:xfrm>
            <a:off x="11106548" y="2633067"/>
            <a:ext cx="6589621"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E9EFF6"/>
                </a:solidFill>
                <a:latin typeface="Arial" pitchFamily="34" charset="0"/>
                <a:ea typeface="Arial" pitchFamily="34" charset="-122"/>
                <a:cs typeface="Arial" pitchFamily="34" charset="-120"/>
              </a:rPr>
              <a:t>Real-time: 1–5 s from activation</a:t>
            </a:r>
            <a:endParaRPr lang="en-US" sz="1425" dirty="0"/>
          </a:p>
        </p:txBody>
      </p:sp>
      <p:sp>
        <p:nvSpPr>
          <p:cNvPr id="22" name="Shape 20"/>
          <p:cNvSpPr/>
          <p:nvPr/>
        </p:nvSpPr>
        <p:spPr>
          <a:xfrm>
            <a:off x="622300" y="3392884"/>
            <a:ext cx="4354909" cy="750292"/>
          </a:xfrm>
          <a:prstGeom prst="rect">
            <a:avLst/>
          </a:prstGeom>
          <a:solidFill>
            <a:srgbClr val="0E2139"/>
          </a:solidFill>
          <a:ln/>
        </p:spPr>
        <p:txBody>
          <a:bodyPr/>
          <a:lstStyle/>
          <a:p>
            <a:endParaRPr/>
          </a:p>
        </p:txBody>
      </p:sp>
      <p:sp>
        <p:nvSpPr>
          <p:cNvPr id="23" name="Text 21"/>
          <p:cNvSpPr/>
          <p:nvPr/>
        </p:nvSpPr>
        <p:spPr>
          <a:xfrm>
            <a:off x="793750" y="3392884"/>
            <a:ext cx="4142657"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Detection Approach</a:t>
            </a:r>
            <a:endParaRPr lang="en-US" sz="1425" dirty="0"/>
          </a:p>
        </p:txBody>
      </p:sp>
      <p:sp>
        <p:nvSpPr>
          <p:cNvPr id="24" name="Shape 22"/>
          <p:cNvSpPr/>
          <p:nvPr/>
        </p:nvSpPr>
        <p:spPr>
          <a:xfrm>
            <a:off x="4986735" y="3392884"/>
            <a:ext cx="5938838" cy="750292"/>
          </a:xfrm>
          <a:prstGeom prst="rect">
            <a:avLst/>
          </a:prstGeom>
          <a:solidFill>
            <a:srgbClr val="0E2139"/>
          </a:solidFill>
          <a:ln/>
        </p:spPr>
        <p:txBody>
          <a:bodyPr/>
          <a:lstStyle/>
          <a:p>
            <a:endParaRPr/>
          </a:p>
        </p:txBody>
      </p:sp>
      <p:sp>
        <p:nvSpPr>
          <p:cNvPr id="25" name="Text 23"/>
          <p:cNvSpPr/>
          <p:nvPr/>
        </p:nvSpPr>
        <p:spPr>
          <a:xfrm>
            <a:off x="5158185" y="3392884"/>
            <a:ext cx="5774103"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Single model, 63.13% recall</a:t>
            </a:r>
            <a:endParaRPr lang="en-US" sz="1425" dirty="0"/>
          </a:p>
        </p:txBody>
      </p:sp>
      <p:sp>
        <p:nvSpPr>
          <p:cNvPr id="26" name="Shape 24"/>
          <p:cNvSpPr/>
          <p:nvPr/>
        </p:nvSpPr>
        <p:spPr>
          <a:xfrm>
            <a:off x="10935098" y="3392884"/>
            <a:ext cx="6730603" cy="750292"/>
          </a:xfrm>
          <a:prstGeom prst="rect">
            <a:avLst/>
          </a:prstGeom>
          <a:solidFill>
            <a:srgbClr val="F2A33C">
              <a:alpha val="13000"/>
            </a:srgbClr>
          </a:solidFill>
          <a:ln/>
        </p:spPr>
        <p:txBody>
          <a:bodyPr/>
          <a:lstStyle/>
          <a:p>
            <a:endParaRPr/>
          </a:p>
        </p:txBody>
      </p:sp>
      <p:sp>
        <p:nvSpPr>
          <p:cNvPr id="27" name="Text 25"/>
          <p:cNvSpPr/>
          <p:nvPr/>
        </p:nvSpPr>
        <p:spPr>
          <a:xfrm>
            <a:off x="11106548" y="3392884"/>
            <a:ext cx="6589621"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E9EFF6"/>
                </a:solidFill>
                <a:latin typeface="Arial" pitchFamily="34" charset="0"/>
                <a:ea typeface="Arial" pitchFamily="34" charset="-122"/>
                <a:cs typeface="Arial" pitchFamily="34" charset="-120"/>
              </a:rPr>
              <a:t>Rules (0% FP) + XGBoost + LSTM triple coverage</a:t>
            </a:r>
            <a:endParaRPr lang="en-US" sz="1425" dirty="0"/>
          </a:p>
        </p:txBody>
      </p:sp>
      <p:sp>
        <p:nvSpPr>
          <p:cNvPr id="28" name="Shape 26"/>
          <p:cNvSpPr/>
          <p:nvPr/>
        </p:nvSpPr>
        <p:spPr>
          <a:xfrm>
            <a:off x="622300" y="4152702"/>
            <a:ext cx="4354909" cy="750292"/>
          </a:xfrm>
          <a:prstGeom prst="rect">
            <a:avLst/>
          </a:prstGeom>
          <a:solidFill>
            <a:srgbClr val="0B1A30"/>
          </a:solidFill>
          <a:ln/>
        </p:spPr>
        <p:txBody>
          <a:bodyPr/>
          <a:lstStyle/>
          <a:p>
            <a:endParaRPr/>
          </a:p>
        </p:txBody>
      </p:sp>
      <p:sp>
        <p:nvSpPr>
          <p:cNvPr id="29" name="Text 27"/>
          <p:cNvSpPr/>
          <p:nvPr/>
        </p:nvSpPr>
        <p:spPr>
          <a:xfrm>
            <a:off x="793750" y="4152702"/>
            <a:ext cx="4142657"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Detection Paradigm</a:t>
            </a:r>
            <a:endParaRPr lang="en-US" sz="1425" dirty="0"/>
          </a:p>
        </p:txBody>
      </p:sp>
      <p:sp>
        <p:nvSpPr>
          <p:cNvPr id="30" name="Shape 28"/>
          <p:cNvSpPr/>
          <p:nvPr/>
        </p:nvSpPr>
        <p:spPr>
          <a:xfrm>
            <a:off x="4986735" y="4152702"/>
            <a:ext cx="5938838" cy="750292"/>
          </a:xfrm>
          <a:prstGeom prst="rect">
            <a:avLst/>
          </a:prstGeom>
          <a:solidFill>
            <a:srgbClr val="0B1A30"/>
          </a:solidFill>
          <a:ln/>
        </p:spPr>
        <p:txBody>
          <a:bodyPr/>
          <a:lstStyle/>
          <a:p>
            <a:endParaRPr/>
          </a:p>
        </p:txBody>
      </p:sp>
      <p:sp>
        <p:nvSpPr>
          <p:cNvPr id="31" name="Text 29"/>
          <p:cNvSpPr/>
          <p:nvPr/>
        </p:nvSpPr>
        <p:spPr>
          <a:xfrm>
            <a:off x="5158185" y="4152702"/>
            <a:ext cx="5774103"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Single: supervised transformer</a:t>
            </a:r>
            <a:endParaRPr lang="en-US" sz="1425" dirty="0"/>
          </a:p>
        </p:txBody>
      </p:sp>
      <p:sp>
        <p:nvSpPr>
          <p:cNvPr id="32" name="Shape 30"/>
          <p:cNvSpPr/>
          <p:nvPr/>
        </p:nvSpPr>
        <p:spPr>
          <a:xfrm>
            <a:off x="10935098" y="4152702"/>
            <a:ext cx="6730603" cy="750292"/>
          </a:xfrm>
          <a:prstGeom prst="rect">
            <a:avLst/>
          </a:prstGeom>
          <a:solidFill>
            <a:srgbClr val="F2A33C">
              <a:alpha val="10000"/>
            </a:srgbClr>
          </a:solidFill>
          <a:ln/>
        </p:spPr>
        <p:txBody>
          <a:bodyPr/>
          <a:lstStyle/>
          <a:p>
            <a:endParaRPr/>
          </a:p>
        </p:txBody>
      </p:sp>
      <p:sp>
        <p:nvSpPr>
          <p:cNvPr id="33" name="Text 31"/>
          <p:cNvSpPr/>
          <p:nvPr/>
        </p:nvSpPr>
        <p:spPr>
          <a:xfrm>
            <a:off x="11106548" y="4152702"/>
            <a:ext cx="6589621"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E9EFF6"/>
                </a:solidFill>
                <a:latin typeface="Arial" pitchFamily="34" charset="0"/>
                <a:ea typeface="Arial" pitchFamily="34" charset="-122"/>
                <a:cs typeface="Arial" pitchFamily="34" charset="-120"/>
              </a:rPr>
              <a:t>Three: rules + XGBoost + LSTM autoencoder</a:t>
            </a:r>
            <a:endParaRPr lang="en-US" sz="1425" dirty="0"/>
          </a:p>
        </p:txBody>
      </p:sp>
      <p:sp>
        <p:nvSpPr>
          <p:cNvPr id="34" name="Shape 32"/>
          <p:cNvSpPr/>
          <p:nvPr/>
        </p:nvSpPr>
        <p:spPr>
          <a:xfrm>
            <a:off x="622300" y="4912519"/>
            <a:ext cx="4354909" cy="750292"/>
          </a:xfrm>
          <a:prstGeom prst="rect">
            <a:avLst/>
          </a:prstGeom>
          <a:solidFill>
            <a:srgbClr val="0E2139"/>
          </a:solidFill>
          <a:ln/>
        </p:spPr>
        <p:txBody>
          <a:bodyPr/>
          <a:lstStyle/>
          <a:p>
            <a:endParaRPr/>
          </a:p>
        </p:txBody>
      </p:sp>
      <p:sp>
        <p:nvSpPr>
          <p:cNvPr id="35" name="Text 33"/>
          <p:cNvSpPr/>
          <p:nvPr/>
        </p:nvSpPr>
        <p:spPr>
          <a:xfrm>
            <a:off x="793750" y="4912519"/>
            <a:ext cx="4142657"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Novel Cheat Detection</a:t>
            </a:r>
            <a:endParaRPr lang="en-US" sz="1425" dirty="0"/>
          </a:p>
        </p:txBody>
      </p:sp>
      <p:sp>
        <p:nvSpPr>
          <p:cNvPr id="36" name="Shape 34"/>
          <p:cNvSpPr/>
          <p:nvPr/>
        </p:nvSpPr>
        <p:spPr>
          <a:xfrm>
            <a:off x="4986735" y="4912519"/>
            <a:ext cx="5938838" cy="750292"/>
          </a:xfrm>
          <a:prstGeom prst="rect">
            <a:avLst/>
          </a:prstGeom>
          <a:solidFill>
            <a:srgbClr val="0E2139"/>
          </a:solidFill>
          <a:ln/>
        </p:spPr>
        <p:txBody>
          <a:bodyPr/>
          <a:lstStyle/>
          <a:p>
            <a:endParaRPr/>
          </a:p>
        </p:txBody>
      </p:sp>
      <p:sp>
        <p:nvSpPr>
          <p:cNvPr id="37" name="Text 35"/>
          <p:cNvSpPr/>
          <p:nvPr/>
        </p:nvSpPr>
        <p:spPr>
          <a:xfrm>
            <a:off x="5158185" y="4912519"/>
            <a:ext cx="5774103"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Cannot detect (VAC labels only)</a:t>
            </a:r>
            <a:endParaRPr lang="en-US" sz="1425" dirty="0"/>
          </a:p>
        </p:txBody>
      </p:sp>
      <p:sp>
        <p:nvSpPr>
          <p:cNvPr id="38" name="Shape 36"/>
          <p:cNvSpPr/>
          <p:nvPr/>
        </p:nvSpPr>
        <p:spPr>
          <a:xfrm>
            <a:off x="10935098" y="4912519"/>
            <a:ext cx="6730603" cy="750292"/>
          </a:xfrm>
          <a:prstGeom prst="rect">
            <a:avLst/>
          </a:prstGeom>
          <a:solidFill>
            <a:srgbClr val="F2A33C">
              <a:alpha val="13000"/>
            </a:srgbClr>
          </a:solidFill>
          <a:ln/>
        </p:spPr>
        <p:txBody>
          <a:bodyPr/>
          <a:lstStyle/>
          <a:p>
            <a:endParaRPr/>
          </a:p>
        </p:txBody>
      </p:sp>
      <p:sp>
        <p:nvSpPr>
          <p:cNvPr id="39" name="Text 37"/>
          <p:cNvSpPr/>
          <p:nvPr/>
        </p:nvSpPr>
        <p:spPr>
          <a:xfrm>
            <a:off x="11106548" y="4912519"/>
            <a:ext cx="6589621"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E9EFF6"/>
                </a:solidFill>
                <a:latin typeface="Arial" pitchFamily="34" charset="0"/>
                <a:ea typeface="Arial" pitchFamily="34" charset="-122"/>
                <a:cs typeface="Arial" pitchFamily="34" charset="-120"/>
              </a:rPr>
              <a:t>LSTM detects ANY behavioral deviation</a:t>
            </a:r>
            <a:endParaRPr lang="en-US" sz="1425" dirty="0"/>
          </a:p>
        </p:txBody>
      </p:sp>
      <p:sp>
        <p:nvSpPr>
          <p:cNvPr id="40" name="Shape 38"/>
          <p:cNvSpPr/>
          <p:nvPr/>
        </p:nvSpPr>
        <p:spPr>
          <a:xfrm>
            <a:off x="622300" y="5672336"/>
            <a:ext cx="4354909" cy="750292"/>
          </a:xfrm>
          <a:prstGeom prst="rect">
            <a:avLst/>
          </a:prstGeom>
          <a:solidFill>
            <a:srgbClr val="0B1A30"/>
          </a:solidFill>
          <a:ln/>
        </p:spPr>
        <p:txBody>
          <a:bodyPr/>
          <a:lstStyle/>
          <a:p>
            <a:endParaRPr/>
          </a:p>
        </p:txBody>
      </p:sp>
      <p:sp>
        <p:nvSpPr>
          <p:cNvPr id="41" name="Text 39"/>
          <p:cNvSpPr/>
          <p:nvPr/>
        </p:nvSpPr>
        <p:spPr>
          <a:xfrm>
            <a:off x="793750" y="5672336"/>
            <a:ext cx="4142657"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False Positive Handling</a:t>
            </a:r>
            <a:endParaRPr lang="en-US" sz="1425" dirty="0"/>
          </a:p>
        </p:txBody>
      </p:sp>
      <p:sp>
        <p:nvSpPr>
          <p:cNvPr id="42" name="Shape 40"/>
          <p:cNvSpPr/>
          <p:nvPr/>
        </p:nvSpPr>
        <p:spPr>
          <a:xfrm>
            <a:off x="4986735" y="5672336"/>
            <a:ext cx="5938838" cy="750292"/>
          </a:xfrm>
          <a:prstGeom prst="rect">
            <a:avLst/>
          </a:prstGeom>
          <a:solidFill>
            <a:srgbClr val="0B1A30"/>
          </a:solidFill>
          <a:ln/>
        </p:spPr>
        <p:txBody>
          <a:bodyPr/>
          <a:lstStyle/>
          <a:p>
            <a:endParaRPr/>
          </a:p>
        </p:txBody>
      </p:sp>
      <p:sp>
        <p:nvSpPr>
          <p:cNvPr id="43" name="Text 41"/>
          <p:cNvSpPr/>
          <p:nvPr/>
        </p:nvSpPr>
        <p:spPr>
          <a:xfrm>
            <a:off x="5158185" y="5672336"/>
            <a:ext cx="5774103"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~11% FP rate</a:t>
            </a:r>
            <a:endParaRPr lang="en-US" sz="1425" dirty="0"/>
          </a:p>
        </p:txBody>
      </p:sp>
      <p:sp>
        <p:nvSpPr>
          <p:cNvPr id="44" name="Shape 42"/>
          <p:cNvSpPr/>
          <p:nvPr/>
        </p:nvSpPr>
        <p:spPr>
          <a:xfrm>
            <a:off x="10935098" y="5672336"/>
            <a:ext cx="6730603" cy="750292"/>
          </a:xfrm>
          <a:prstGeom prst="rect">
            <a:avLst/>
          </a:prstGeom>
          <a:solidFill>
            <a:srgbClr val="F2A33C">
              <a:alpha val="10000"/>
            </a:srgbClr>
          </a:solidFill>
          <a:ln/>
        </p:spPr>
        <p:txBody>
          <a:bodyPr/>
          <a:lstStyle/>
          <a:p>
            <a:endParaRPr/>
          </a:p>
        </p:txBody>
      </p:sp>
      <p:sp>
        <p:nvSpPr>
          <p:cNvPr id="45" name="Text 43"/>
          <p:cNvSpPr/>
          <p:nvPr/>
        </p:nvSpPr>
        <p:spPr>
          <a:xfrm>
            <a:off x="11106548" y="5672336"/>
            <a:ext cx="6589621"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E9EFF6"/>
                </a:solidFill>
                <a:latin typeface="Arial" pitchFamily="34" charset="0"/>
                <a:ea typeface="Arial" pitchFamily="34" charset="-122"/>
                <a:cs typeface="Arial" pitchFamily="34" charset="-120"/>
              </a:rPr>
              <a:t>Rules: 0%; XGBoost: 0.95 confidence gate</a:t>
            </a:r>
            <a:endParaRPr lang="en-US" sz="1425" dirty="0"/>
          </a:p>
        </p:txBody>
      </p:sp>
      <p:sp>
        <p:nvSpPr>
          <p:cNvPr id="46" name="Shape 44"/>
          <p:cNvSpPr/>
          <p:nvPr/>
        </p:nvSpPr>
        <p:spPr>
          <a:xfrm>
            <a:off x="622300" y="6432153"/>
            <a:ext cx="4354909" cy="750292"/>
          </a:xfrm>
          <a:prstGeom prst="rect">
            <a:avLst/>
          </a:prstGeom>
          <a:solidFill>
            <a:srgbClr val="0E2139"/>
          </a:solidFill>
          <a:ln/>
        </p:spPr>
        <p:txBody>
          <a:bodyPr/>
          <a:lstStyle/>
          <a:p>
            <a:endParaRPr/>
          </a:p>
        </p:txBody>
      </p:sp>
      <p:sp>
        <p:nvSpPr>
          <p:cNvPr id="47" name="Text 45"/>
          <p:cNvSpPr/>
          <p:nvPr/>
        </p:nvSpPr>
        <p:spPr>
          <a:xfrm>
            <a:off x="793750" y="6432153"/>
            <a:ext cx="4142657"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Cheat Types Tested</a:t>
            </a:r>
            <a:endParaRPr lang="en-US" sz="1425" dirty="0"/>
          </a:p>
        </p:txBody>
      </p:sp>
      <p:sp>
        <p:nvSpPr>
          <p:cNvPr id="48" name="Shape 46"/>
          <p:cNvSpPr/>
          <p:nvPr/>
        </p:nvSpPr>
        <p:spPr>
          <a:xfrm>
            <a:off x="4986735" y="6432153"/>
            <a:ext cx="5938838" cy="750292"/>
          </a:xfrm>
          <a:prstGeom prst="rect">
            <a:avLst/>
          </a:prstGeom>
          <a:solidFill>
            <a:srgbClr val="0E2139"/>
          </a:solidFill>
          <a:ln/>
        </p:spPr>
        <p:txBody>
          <a:bodyPr/>
          <a:lstStyle/>
          <a:p>
            <a:endParaRPr/>
          </a:p>
        </p:txBody>
      </p:sp>
      <p:sp>
        <p:nvSpPr>
          <p:cNvPr id="49" name="Text 47"/>
          <p:cNvSpPr/>
          <p:nvPr/>
        </p:nvSpPr>
        <p:spPr>
          <a:xfrm>
            <a:off x="5158185" y="6432153"/>
            <a:ext cx="5774103"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Unknown (VAC-banned)</a:t>
            </a:r>
            <a:endParaRPr lang="en-US" sz="1425" dirty="0"/>
          </a:p>
        </p:txBody>
      </p:sp>
      <p:sp>
        <p:nvSpPr>
          <p:cNvPr id="50" name="Shape 48"/>
          <p:cNvSpPr/>
          <p:nvPr/>
        </p:nvSpPr>
        <p:spPr>
          <a:xfrm>
            <a:off x="10935098" y="6432153"/>
            <a:ext cx="6730603" cy="750292"/>
          </a:xfrm>
          <a:prstGeom prst="rect">
            <a:avLst/>
          </a:prstGeom>
          <a:solidFill>
            <a:srgbClr val="F2A33C">
              <a:alpha val="13000"/>
            </a:srgbClr>
          </a:solidFill>
          <a:ln/>
        </p:spPr>
        <p:txBody>
          <a:bodyPr/>
          <a:lstStyle/>
          <a:p>
            <a:endParaRPr/>
          </a:p>
        </p:txBody>
      </p:sp>
      <p:sp>
        <p:nvSpPr>
          <p:cNvPr id="51" name="Text 49"/>
          <p:cNvSpPr/>
          <p:nvPr/>
        </p:nvSpPr>
        <p:spPr>
          <a:xfrm>
            <a:off x="11106548" y="6432153"/>
            <a:ext cx="6589621"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E9EFF6"/>
                </a:solidFill>
                <a:latin typeface="Arial" pitchFamily="34" charset="0"/>
                <a:ea typeface="Arial" pitchFamily="34" charset="-122"/>
                <a:cs typeface="Arial" pitchFamily="34" charset="-120"/>
              </a:rPr>
              <a:t>4 explicit: aimbot, speedhack, wallhack, triggerbot</a:t>
            </a:r>
            <a:endParaRPr lang="en-US" sz="1425" dirty="0"/>
          </a:p>
        </p:txBody>
      </p:sp>
      <p:sp>
        <p:nvSpPr>
          <p:cNvPr id="52" name="Shape 50"/>
          <p:cNvSpPr/>
          <p:nvPr/>
        </p:nvSpPr>
        <p:spPr>
          <a:xfrm>
            <a:off x="622300" y="7191970"/>
            <a:ext cx="4354909" cy="750292"/>
          </a:xfrm>
          <a:prstGeom prst="rect">
            <a:avLst/>
          </a:prstGeom>
          <a:solidFill>
            <a:srgbClr val="0B1A30"/>
          </a:solidFill>
          <a:ln/>
        </p:spPr>
        <p:txBody>
          <a:bodyPr/>
          <a:lstStyle/>
          <a:p>
            <a:endParaRPr/>
          </a:p>
        </p:txBody>
      </p:sp>
      <p:sp>
        <p:nvSpPr>
          <p:cNvPr id="53" name="Text 51"/>
          <p:cNvSpPr/>
          <p:nvPr/>
        </p:nvSpPr>
        <p:spPr>
          <a:xfrm>
            <a:off x="793750" y="7191970"/>
            <a:ext cx="4142657"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Observability</a:t>
            </a:r>
            <a:endParaRPr lang="en-US" sz="1425" dirty="0"/>
          </a:p>
        </p:txBody>
      </p:sp>
      <p:sp>
        <p:nvSpPr>
          <p:cNvPr id="54" name="Shape 52"/>
          <p:cNvSpPr/>
          <p:nvPr/>
        </p:nvSpPr>
        <p:spPr>
          <a:xfrm>
            <a:off x="4986735" y="7191970"/>
            <a:ext cx="5938838" cy="750292"/>
          </a:xfrm>
          <a:prstGeom prst="rect">
            <a:avLst/>
          </a:prstGeom>
          <a:solidFill>
            <a:srgbClr val="0B1A30"/>
          </a:solidFill>
          <a:ln/>
        </p:spPr>
        <p:txBody>
          <a:bodyPr/>
          <a:lstStyle/>
          <a:p>
            <a:endParaRPr/>
          </a:p>
        </p:txBody>
      </p:sp>
      <p:sp>
        <p:nvSpPr>
          <p:cNvPr id="55" name="Text 53"/>
          <p:cNvSpPr/>
          <p:nvPr/>
        </p:nvSpPr>
        <p:spPr>
          <a:xfrm>
            <a:off x="5158185" y="7191970"/>
            <a:ext cx="5774103"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None</a:t>
            </a:r>
            <a:endParaRPr lang="en-US" sz="1425" dirty="0"/>
          </a:p>
        </p:txBody>
      </p:sp>
      <p:sp>
        <p:nvSpPr>
          <p:cNvPr id="56" name="Shape 54"/>
          <p:cNvSpPr/>
          <p:nvPr/>
        </p:nvSpPr>
        <p:spPr>
          <a:xfrm>
            <a:off x="10935098" y="7191970"/>
            <a:ext cx="6730603" cy="750292"/>
          </a:xfrm>
          <a:prstGeom prst="rect">
            <a:avLst/>
          </a:prstGeom>
          <a:solidFill>
            <a:srgbClr val="F2A33C">
              <a:alpha val="10000"/>
            </a:srgbClr>
          </a:solidFill>
          <a:ln/>
        </p:spPr>
        <p:txBody>
          <a:bodyPr/>
          <a:lstStyle/>
          <a:p>
            <a:endParaRPr/>
          </a:p>
        </p:txBody>
      </p:sp>
      <p:sp>
        <p:nvSpPr>
          <p:cNvPr id="57" name="Text 55"/>
          <p:cNvSpPr/>
          <p:nvPr/>
        </p:nvSpPr>
        <p:spPr>
          <a:xfrm>
            <a:off x="11106548" y="7191970"/>
            <a:ext cx="6589621"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E9EFF6"/>
                </a:solidFill>
                <a:latin typeface="Arial" pitchFamily="34" charset="0"/>
                <a:ea typeface="Arial" pitchFamily="34" charset="-122"/>
                <a:cs typeface="Arial" pitchFamily="34" charset="-120"/>
              </a:rPr>
              <a:t>Prometheus + Grafana (20+ metrics, 2 dashboards)</a:t>
            </a:r>
            <a:endParaRPr lang="en-US" sz="1425" dirty="0"/>
          </a:p>
        </p:txBody>
      </p:sp>
      <p:sp>
        <p:nvSpPr>
          <p:cNvPr id="58" name="Shape 56"/>
          <p:cNvSpPr/>
          <p:nvPr/>
        </p:nvSpPr>
        <p:spPr>
          <a:xfrm>
            <a:off x="622300" y="7951788"/>
            <a:ext cx="4354909" cy="750292"/>
          </a:xfrm>
          <a:prstGeom prst="rect">
            <a:avLst/>
          </a:prstGeom>
          <a:solidFill>
            <a:srgbClr val="0E2139"/>
          </a:solidFill>
          <a:ln/>
        </p:spPr>
        <p:txBody>
          <a:bodyPr/>
          <a:lstStyle/>
          <a:p>
            <a:endParaRPr/>
          </a:p>
        </p:txBody>
      </p:sp>
      <p:sp>
        <p:nvSpPr>
          <p:cNvPr id="59" name="Text 57"/>
          <p:cNvSpPr/>
          <p:nvPr/>
        </p:nvSpPr>
        <p:spPr>
          <a:xfrm>
            <a:off x="793750" y="7951788"/>
            <a:ext cx="4142657" cy="788392"/>
          </a:xfrm>
          <a:prstGeom prst="rect">
            <a:avLst/>
          </a:prstGeom>
          <a:noFill/>
          <a:ln/>
        </p:spPr>
        <p:txBody>
          <a:bodyPr wrap="square" lIns="25400" tIns="25400" rIns="25400" bIns="25400" rtlCol="0" anchor="ctr">
            <a:normAutofit/>
          </a:bodyPr>
          <a:lstStyle/>
          <a:p>
            <a:pPr marL="0" indent="0" algn="l">
              <a:buNone/>
            </a:pPr>
            <a:r>
              <a:rPr lang="en-US" sz="1425" b="1" dirty="0">
                <a:solidFill>
                  <a:srgbClr val="FFFFFF"/>
                </a:solidFill>
                <a:latin typeface="Arial" pitchFamily="34" charset="0"/>
                <a:ea typeface="Arial" pitchFamily="34" charset="-122"/>
                <a:cs typeface="Arial" pitchFamily="34" charset="-120"/>
              </a:rPr>
              <a:t>Deployment</a:t>
            </a:r>
            <a:endParaRPr lang="en-US" sz="1425" dirty="0"/>
          </a:p>
        </p:txBody>
      </p:sp>
      <p:sp>
        <p:nvSpPr>
          <p:cNvPr id="60" name="Shape 58"/>
          <p:cNvSpPr/>
          <p:nvPr/>
        </p:nvSpPr>
        <p:spPr>
          <a:xfrm>
            <a:off x="4986735" y="7951788"/>
            <a:ext cx="5938838" cy="750292"/>
          </a:xfrm>
          <a:prstGeom prst="rect">
            <a:avLst/>
          </a:prstGeom>
          <a:solidFill>
            <a:srgbClr val="0E2139"/>
          </a:solidFill>
          <a:ln/>
        </p:spPr>
        <p:txBody>
          <a:bodyPr/>
          <a:lstStyle/>
          <a:p>
            <a:endParaRPr/>
          </a:p>
        </p:txBody>
      </p:sp>
      <p:sp>
        <p:nvSpPr>
          <p:cNvPr id="61" name="Text 59"/>
          <p:cNvSpPr/>
          <p:nvPr/>
        </p:nvSpPr>
        <p:spPr>
          <a:xfrm>
            <a:off x="5158185" y="7951788"/>
            <a:ext cx="5774103"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9DB2C9"/>
                </a:solidFill>
                <a:latin typeface="Arial" pitchFamily="34" charset="0"/>
                <a:ea typeface="Arial" pitchFamily="34" charset="-122"/>
                <a:cs typeface="Arial" pitchFamily="34" charset="-120"/>
              </a:rPr>
              <a:t>Research notebook</a:t>
            </a:r>
            <a:endParaRPr lang="en-US" sz="1425" dirty="0"/>
          </a:p>
        </p:txBody>
      </p:sp>
      <p:sp>
        <p:nvSpPr>
          <p:cNvPr id="62" name="Shape 60"/>
          <p:cNvSpPr/>
          <p:nvPr/>
        </p:nvSpPr>
        <p:spPr>
          <a:xfrm>
            <a:off x="10935098" y="7951788"/>
            <a:ext cx="6730603" cy="750292"/>
          </a:xfrm>
          <a:prstGeom prst="rect">
            <a:avLst/>
          </a:prstGeom>
          <a:solidFill>
            <a:srgbClr val="F2A33C">
              <a:alpha val="13000"/>
            </a:srgbClr>
          </a:solidFill>
          <a:ln/>
        </p:spPr>
        <p:txBody>
          <a:bodyPr/>
          <a:lstStyle/>
          <a:p>
            <a:endParaRPr/>
          </a:p>
        </p:txBody>
      </p:sp>
      <p:sp>
        <p:nvSpPr>
          <p:cNvPr id="63" name="Text 61"/>
          <p:cNvSpPr/>
          <p:nvPr/>
        </p:nvSpPr>
        <p:spPr>
          <a:xfrm>
            <a:off x="11106548" y="7951788"/>
            <a:ext cx="6589621" cy="788392"/>
          </a:xfrm>
          <a:prstGeom prst="rect">
            <a:avLst/>
          </a:prstGeom>
          <a:noFill/>
          <a:ln/>
        </p:spPr>
        <p:txBody>
          <a:bodyPr wrap="square" lIns="25400" tIns="25400" rIns="25400" bIns="25400" rtlCol="0" anchor="ctr">
            <a:normAutofit/>
          </a:bodyPr>
          <a:lstStyle/>
          <a:p>
            <a:pPr marL="0" indent="0" algn="l">
              <a:buNone/>
            </a:pPr>
            <a:r>
              <a:rPr lang="en-US" sz="1425" dirty="0">
                <a:solidFill>
                  <a:srgbClr val="E9EFF6"/>
                </a:solidFill>
                <a:latin typeface="Arial" pitchFamily="34" charset="0"/>
                <a:ea typeface="Arial" pitchFamily="34" charset="-122"/>
                <a:cs typeface="Arial" pitchFamily="34" charset="-120"/>
              </a:rPr>
              <a:t>Docker Compose: 1-command, 7 containers</a:t>
            </a:r>
            <a:endParaRPr lang="en-US" sz="1425" dirty="0"/>
          </a:p>
        </p:txBody>
      </p:sp>
      <p:sp>
        <p:nvSpPr>
          <p:cNvPr id="64" name="Shape 62"/>
          <p:cNvSpPr/>
          <p:nvPr/>
        </p:nvSpPr>
        <p:spPr>
          <a:xfrm>
            <a:off x="609600" y="8886429"/>
            <a:ext cx="17068800" cy="702072"/>
          </a:xfrm>
          <a:prstGeom prst="roundRect">
            <a:avLst>
              <a:gd name="adj" fmla="val 16280"/>
            </a:avLst>
          </a:prstGeom>
          <a:gradFill rotWithShape="1">
            <a:gsLst>
              <a:gs pos="0">
                <a:srgbClr val="F2A33C">
                  <a:alpha val="16000"/>
                </a:srgbClr>
              </a:gs>
              <a:gs pos="100000">
                <a:srgbClr val="FFFFFF">
                  <a:alpha val="3000"/>
                </a:srgbClr>
              </a:gs>
            </a:gsLst>
            <a:lin ang="0" scaled="0"/>
          </a:gradFill>
          <a:ln w="12700">
            <a:solidFill>
              <a:srgbClr val="FFFFFF">
                <a:alpha val="10000"/>
              </a:srgbClr>
            </a:solidFill>
            <a:prstDash val="solid"/>
          </a:ln>
        </p:spPr>
        <p:txBody>
          <a:bodyPr/>
          <a:lstStyle/>
          <a:p>
            <a:endParaRPr/>
          </a:p>
        </p:txBody>
      </p:sp>
      <p:sp>
        <p:nvSpPr>
          <p:cNvPr id="65" name="Text 63"/>
          <p:cNvSpPr/>
          <p:nvPr/>
        </p:nvSpPr>
        <p:spPr>
          <a:xfrm>
            <a:off x="908050" y="9097764"/>
            <a:ext cx="1434108" cy="317500"/>
          </a:xfrm>
          <a:prstGeom prst="rect">
            <a:avLst/>
          </a:prstGeom>
          <a:noFill/>
          <a:ln/>
        </p:spPr>
        <p:txBody>
          <a:bodyPr wrap="square" lIns="25400" tIns="25400" rIns="25400" bIns="25400" rtlCol="0" anchor="t">
            <a:normAutofit/>
          </a:bodyPr>
          <a:lstStyle/>
          <a:p>
            <a:pPr marL="0" indent="0" algn="l">
              <a:buNone/>
            </a:pPr>
            <a:r>
              <a:rPr lang="en-US" sz="1500" b="1" kern="0" spc="113" dirty="0">
                <a:solidFill>
                  <a:srgbClr val="F4B463"/>
                </a:solidFill>
                <a:latin typeface="Arial" pitchFamily="34" charset="0"/>
                <a:ea typeface="Arial" pitchFamily="34" charset="-122"/>
                <a:cs typeface="Arial" pitchFamily="34" charset="-120"/>
              </a:rPr>
              <a:t>TAKEAWAY</a:t>
            </a:r>
            <a:endParaRPr lang="en-US" sz="1500" dirty="0"/>
          </a:p>
        </p:txBody>
      </p:sp>
      <p:sp>
        <p:nvSpPr>
          <p:cNvPr id="66" name="Text 64"/>
          <p:cNvSpPr/>
          <p:nvPr/>
        </p:nvSpPr>
        <p:spPr>
          <a:xfrm>
            <a:off x="2440384" y="9089628"/>
            <a:ext cx="15074067" cy="333772"/>
          </a:xfrm>
          <a:prstGeom prst="rect">
            <a:avLst/>
          </a:prstGeom>
          <a:noFill/>
          <a:ln/>
        </p:spPr>
        <p:txBody>
          <a:bodyPr wrap="square" lIns="25400" tIns="25400" rIns="25400" bIns="25400" rtlCol="0" anchor="t">
            <a:normAutofit/>
          </a:bodyPr>
          <a:lstStyle/>
          <a:p>
            <a:pPr marL="0" indent="0" algn="l">
              <a:lnSpc>
                <a:spcPct val="135000"/>
              </a:lnSpc>
              <a:buNone/>
            </a:pPr>
            <a:r>
              <a:rPr lang="en-US" sz="1725" dirty="0">
                <a:solidFill>
                  <a:srgbClr val="D2DEEB"/>
                </a:solidFill>
                <a:latin typeface="Arial" pitchFamily="34" charset="0"/>
                <a:ea typeface="Arial" pitchFamily="34" charset="-122"/>
                <a:cs typeface="Arial" pitchFamily="34" charset="-120"/>
              </a:rPr>
              <a:t>AntiCheatPT asks </a:t>
            </a:r>
            <a:r>
              <a:rPr lang="en-US" sz="1725" i="1" dirty="0">
                <a:solidFill>
                  <a:srgbClr val="D2DEEB"/>
                </a:solidFill>
                <a:latin typeface="Arial" pitchFamily="34" charset="0"/>
                <a:ea typeface="Arial" pitchFamily="34" charset="-122"/>
                <a:cs typeface="Arial" pitchFamily="34" charset="-120"/>
              </a:rPr>
              <a:t>"was this player cheating?" </a:t>
            </a:r>
            <a:r>
              <a:rPr lang="en-US" sz="1725" dirty="0">
                <a:solidFill>
                  <a:srgbClr val="D2DEEB"/>
                </a:solidFill>
                <a:latin typeface="Arial" pitchFamily="34" charset="0"/>
                <a:ea typeface="Arial" pitchFamily="34" charset="-122"/>
                <a:cs typeface="Arial" pitchFamily="34" charset="-120"/>
              </a:rPr>
              <a:t>after the match. Our system asks </a:t>
            </a:r>
            <a:r>
              <a:rPr lang="en-US" sz="1725" b="1" dirty="0">
                <a:solidFill>
                  <a:srgbClr val="FFFFFF"/>
                </a:solidFill>
                <a:latin typeface="Arial" pitchFamily="34" charset="0"/>
                <a:ea typeface="Arial" pitchFamily="34" charset="-122"/>
                <a:cs typeface="Arial" pitchFamily="34" charset="-120"/>
              </a:rPr>
              <a:t>"is this player cheating right now?" </a:t>
            </a:r>
            <a:r>
              <a:rPr lang="en-US" sz="1725" dirty="0">
                <a:solidFill>
                  <a:srgbClr val="D2DEEB"/>
                </a:solidFill>
                <a:latin typeface="Arial" pitchFamily="34" charset="0"/>
                <a:ea typeface="Arial" pitchFamily="34" charset="-122"/>
                <a:cs typeface="Arial" pitchFamily="34" charset="-120"/>
              </a:rPr>
              <a:t>while the match is live.</a:t>
            </a:r>
            <a:endParaRPr lang="en-US" sz="1725" dirty="0"/>
          </a:p>
        </p:txBody>
      </p:sp>
      <p:sp>
        <p:nvSpPr>
          <p:cNvPr id="67" name="Shape 65"/>
          <p:cNvSpPr/>
          <p:nvPr/>
        </p:nvSpPr>
        <p:spPr>
          <a:xfrm>
            <a:off x="0" y="9779001"/>
            <a:ext cx="18288000" cy="12700"/>
          </a:xfrm>
          <a:prstGeom prst="rect">
            <a:avLst/>
          </a:prstGeom>
          <a:solidFill>
            <a:srgbClr val="FFFFFF">
              <a:alpha val="8000"/>
            </a:srgbClr>
          </a:solidFill>
          <a:ln/>
        </p:spPr>
        <p:txBody>
          <a:bodyPr/>
          <a:lstStyle/>
          <a:p>
            <a:endParaRPr/>
          </a:p>
        </p:txBody>
      </p:sp>
      <p:sp>
        <p:nvSpPr>
          <p:cNvPr id="68" name="Text 66"/>
          <p:cNvSpPr/>
          <p:nvPr/>
        </p:nvSpPr>
        <p:spPr>
          <a:xfrm>
            <a:off x="6096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69" name="Text 67"/>
          <p:cNvSpPr/>
          <p:nvPr/>
        </p:nvSpPr>
        <p:spPr>
          <a:xfrm>
            <a:off x="171831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14 / 18</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533400" y="411163"/>
            <a:ext cx="104775" cy="104775"/>
          </a:xfrm>
          <a:prstGeom prst="roundRect">
            <a:avLst>
              <a:gd name="adj" fmla="val 18182"/>
            </a:avLst>
          </a:prstGeom>
          <a:solidFill>
            <a:srgbClr val="F0584E"/>
          </a:solidFill>
          <a:ln/>
          <a:effectLst>
            <a:outerShdw blurRad="133350" dist="50800" dir="16200000" algn="bl" rotWithShape="0">
              <a:srgbClr val="F0584E">
                <a:alpha val="100000"/>
              </a:srgbClr>
            </a:outerShdw>
          </a:effectLst>
        </p:spPr>
        <p:txBody>
          <a:bodyPr/>
          <a:lstStyle/>
          <a:p>
            <a:endParaRPr lang="en-US"/>
          </a:p>
        </p:txBody>
      </p:sp>
      <p:sp>
        <p:nvSpPr>
          <p:cNvPr id="4" name="Text 2"/>
          <p:cNvSpPr/>
          <p:nvPr/>
        </p:nvSpPr>
        <p:spPr>
          <a:xfrm>
            <a:off x="752475" y="323850"/>
            <a:ext cx="1421666"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F47E76"/>
                </a:solidFill>
                <a:latin typeface="Arial" pitchFamily="34" charset="0"/>
                <a:ea typeface="Arial" pitchFamily="34" charset="-122"/>
                <a:cs typeface="Arial" pitchFamily="34" charset="-120"/>
              </a:rPr>
              <a:t>ROADMAP</a:t>
            </a:r>
            <a:endParaRPr lang="en-US" sz="1500" dirty="0"/>
          </a:p>
        </p:txBody>
      </p:sp>
      <p:sp>
        <p:nvSpPr>
          <p:cNvPr id="5" name="Text 3"/>
          <p:cNvSpPr/>
          <p:nvPr/>
        </p:nvSpPr>
        <p:spPr>
          <a:xfrm>
            <a:off x="533400" y="708025"/>
            <a:ext cx="8013542"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Limitations &amp; Future Work</a:t>
            </a:r>
            <a:endParaRPr lang="en-US" sz="4050" dirty="0"/>
          </a:p>
        </p:txBody>
      </p:sp>
      <p:sp>
        <p:nvSpPr>
          <p:cNvPr id="6" name="Text 4"/>
          <p:cNvSpPr/>
          <p:nvPr/>
        </p:nvSpPr>
        <p:spPr>
          <a:xfrm>
            <a:off x="159629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15</a:t>
            </a:r>
            <a:endParaRPr lang="en-US" sz="11250" dirty="0"/>
          </a:p>
        </p:txBody>
      </p:sp>
      <p:sp>
        <p:nvSpPr>
          <p:cNvPr id="7" name="Shape 5"/>
          <p:cNvSpPr/>
          <p:nvPr/>
        </p:nvSpPr>
        <p:spPr>
          <a:xfrm>
            <a:off x="533400" y="1504950"/>
            <a:ext cx="17221200" cy="19050"/>
          </a:xfrm>
          <a:prstGeom prst="rect">
            <a:avLst/>
          </a:prstGeom>
          <a:gradFill rotWithShape="1">
            <a:gsLst>
              <a:gs pos="0">
                <a:srgbClr val="F0584E">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Shape 6"/>
          <p:cNvSpPr/>
          <p:nvPr/>
        </p:nvSpPr>
        <p:spPr>
          <a:xfrm>
            <a:off x="533400" y="1752600"/>
            <a:ext cx="8496300" cy="6264275"/>
          </a:xfrm>
          <a:prstGeom prst="roundRect">
            <a:avLst>
              <a:gd name="adj" fmla="val 2129"/>
            </a:avLst>
          </a:prstGeom>
          <a:solidFill>
            <a:srgbClr val="FFFFFF">
              <a:alpha val="4000"/>
            </a:srgbClr>
          </a:solidFill>
          <a:ln w="12700">
            <a:solidFill>
              <a:srgbClr val="FFFFFF">
                <a:alpha val="10000"/>
              </a:srgbClr>
            </a:solidFill>
            <a:prstDash val="solid"/>
          </a:ln>
        </p:spPr>
        <p:txBody>
          <a:bodyPr/>
          <a:lstStyle/>
          <a:p>
            <a:endParaRPr lang="en-US"/>
          </a:p>
        </p:txBody>
      </p:sp>
      <p:sp>
        <p:nvSpPr>
          <p:cNvPr id="9" name="Text 7"/>
          <p:cNvSpPr/>
          <p:nvPr/>
        </p:nvSpPr>
        <p:spPr>
          <a:xfrm>
            <a:off x="812800" y="1993900"/>
            <a:ext cx="8731250" cy="393700"/>
          </a:xfrm>
          <a:prstGeom prst="rect">
            <a:avLst/>
          </a:prstGeom>
          <a:noFill/>
          <a:ln/>
        </p:spPr>
        <p:txBody>
          <a:bodyPr wrap="square" lIns="25400" tIns="25400" rIns="25400" bIns="25400" rtlCol="0" anchor="t">
            <a:normAutofit/>
          </a:bodyPr>
          <a:lstStyle/>
          <a:p>
            <a:pPr marL="0" indent="0" algn="l">
              <a:buNone/>
            </a:pPr>
            <a:r>
              <a:rPr lang="en-US" sz="2025" b="1" dirty="0">
                <a:solidFill>
                  <a:srgbClr val="F47E76"/>
                </a:solidFill>
                <a:latin typeface="Arial" pitchFamily="34" charset="0"/>
                <a:ea typeface="Arial" pitchFamily="34" charset="-122"/>
                <a:cs typeface="Arial" pitchFamily="34" charset="-120"/>
              </a:rPr>
              <a:t>Current Limitations</a:t>
            </a:r>
            <a:endParaRPr lang="en-US" sz="2025" dirty="0"/>
          </a:p>
        </p:txBody>
      </p:sp>
      <p:sp>
        <p:nvSpPr>
          <p:cNvPr id="10" name="Shape 8"/>
          <p:cNvSpPr/>
          <p:nvPr/>
        </p:nvSpPr>
        <p:spPr>
          <a:xfrm>
            <a:off x="812800" y="2587625"/>
            <a:ext cx="76200" cy="76200"/>
          </a:xfrm>
          <a:prstGeom prst="roundRect">
            <a:avLst>
              <a:gd name="adj" fmla="val 25000"/>
            </a:avLst>
          </a:prstGeom>
          <a:solidFill>
            <a:srgbClr val="F0584E"/>
          </a:solidFill>
          <a:ln/>
        </p:spPr>
        <p:txBody>
          <a:bodyPr/>
          <a:lstStyle/>
          <a:p>
            <a:endParaRPr lang="en-US"/>
          </a:p>
        </p:txBody>
      </p:sp>
      <p:sp>
        <p:nvSpPr>
          <p:cNvPr id="11" name="Text 9"/>
          <p:cNvSpPr/>
          <p:nvPr/>
        </p:nvSpPr>
        <p:spPr>
          <a:xfrm>
            <a:off x="1012825" y="2501900"/>
            <a:ext cx="7435096"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Feature distribution gap: CS2 (3D) vs our game (2D) cross-domain accuracy</a:t>
            </a:r>
            <a:endParaRPr lang="en-US" sz="1575" dirty="0"/>
          </a:p>
        </p:txBody>
      </p:sp>
      <p:sp>
        <p:nvSpPr>
          <p:cNvPr id="12" name="Shape 10"/>
          <p:cNvSpPr/>
          <p:nvPr/>
        </p:nvSpPr>
        <p:spPr>
          <a:xfrm>
            <a:off x="812800" y="2990850"/>
            <a:ext cx="76200" cy="76200"/>
          </a:xfrm>
          <a:prstGeom prst="roundRect">
            <a:avLst>
              <a:gd name="adj" fmla="val 25000"/>
            </a:avLst>
          </a:prstGeom>
          <a:solidFill>
            <a:srgbClr val="F0584E"/>
          </a:solidFill>
          <a:ln/>
        </p:spPr>
        <p:txBody>
          <a:bodyPr/>
          <a:lstStyle/>
          <a:p>
            <a:endParaRPr lang="en-US"/>
          </a:p>
        </p:txBody>
      </p:sp>
      <p:sp>
        <p:nvSpPr>
          <p:cNvPr id="13" name="Text 11"/>
          <p:cNvSpPr/>
          <p:nvPr/>
        </p:nvSpPr>
        <p:spPr>
          <a:xfrm>
            <a:off x="1012825" y="2905125"/>
            <a:ext cx="6090920"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Scale: tested 9 players; horizontal scaling not yet implemented</a:t>
            </a:r>
            <a:endParaRPr lang="en-US" sz="1575" dirty="0"/>
          </a:p>
        </p:txBody>
      </p:sp>
      <p:sp>
        <p:nvSpPr>
          <p:cNvPr id="14" name="Shape 12"/>
          <p:cNvSpPr/>
          <p:nvPr/>
        </p:nvSpPr>
        <p:spPr>
          <a:xfrm>
            <a:off x="812800" y="3394075"/>
            <a:ext cx="76200" cy="76200"/>
          </a:xfrm>
          <a:prstGeom prst="roundRect">
            <a:avLst>
              <a:gd name="adj" fmla="val 25000"/>
            </a:avLst>
          </a:prstGeom>
          <a:solidFill>
            <a:srgbClr val="F0584E"/>
          </a:solidFill>
          <a:ln/>
        </p:spPr>
        <p:txBody>
          <a:bodyPr/>
          <a:lstStyle/>
          <a:p>
            <a:endParaRPr lang="en-US"/>
          </a:p>
        </p:txBody>
      </p:sp>
      <p:sp>
        <p:nvSpPr>
          <p:cNvPr id="15" name="Text 13"/>
          <p:cNvSpPr/>
          <p:nvPr/>
        </p:nvSpPr>
        <p:spPr>
          <a:xfrm>
            <a:off x="1012825" y="3308350"/>
            <a:ext cx="6742708"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Wallhack without active aim produces subtle, harder-to-detect signals</a:t>
            </a:r>
            <a:endParaRPr lang="en-US" sz="1575" dirty="0"/>
          </a:p>
        </p:txBody>
      </p:sp>
      <p:sp>
        <p:nvSpPr>
          <p:cNvPr id="16" name="Shape 14"/>
          <p:cNvSpPr/>
          <p:nvPr/>
        </p:nvSpPr>
        <p:spPr>
          <a:xfrm>
            <a:off x="812800" y="3797300"/>
            <a:ext cx="76200" cy="76200"/>
          </a:xfrm>
          <a:prstGeom prst="roundRect">
            <a:avLst>
              <a:gd name="adj" fmla="val 25000"/>
            </a:avLst>
          </a:prstGeom>
          <a:solidFill>
            <a:srgbClr val="F0584E"/>
          </a:solidFill>
          <a:ln/>
        </p:spPr>
        <p:txBody>
          <a:bodyPr/>
          <a:lstStyle/>
          <a:p>
            <a:endParaRPr lang="en-US"/>
          </a:p>
        </p:txBody>
      </p:sp>
      <p:sp>
        <p:nvSpPr>
          <p:cNvPr id="17" name="Text 15"/>
          <p:cNvSpPr/>
          <p:nvPr/>
        </p:nvSpPr>
        <p:spPr>
          <a:xfrm>
            <a:off x="1012825" y="3711575"/>
            <a:ext cx="6262489"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No online learning: models need manual retrain on behavior drift</a:t>
            </a:r>
            <a:endParaRPr lang="en-US" sz="1575" dirty="0"/>
          </a:p>
        </p:txBody>
      </p:sp>
      <p:sp>
        <p:nvSpPr>
          <p:cNvPr id="18" name="Shape 16"/>
          <p:cNvSpPr/>
          <p:nvPr/>
        </p:nvSpPr>
        <p:spPr>
          <a:xfrm>
            <a:off x="812800" y="4200525"/>
            <a:ext cx="76200" cy="76200"/>
          </a:xfrm>
          <a:prstGeom prst="roundRect">
            <a:avLst>
              <a:gd name="adj" fmla="val 25000"/>
            </a:avLst>
          </a:prstGeom>
          <a:solidFill>
            <a:srgbClr val="F0584E"/>
          </a:solidFill>
          <a:ln/>
        </p:spPr>
        <p:txBody>
          <a:bodyPr/>
          <a:lstStyle/>
          <a:p>
            <a:endParaRPr lang="en-US"/>
          </a:p>
        </p:txBody>
      </p:sp>
      <p:sp>
        <p:nvSpPr>
          <p:cNvPr id="19" name="Text 17"/>
          <p:cNvSpPr/>
          <p:nvPr/>
        </p:nvSpPr>
        <p:spPr>
          <a:xfrm>
            <a:off x="1012825" y="4114800"/>
            <a:ext cx="5710892"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CPU-only LSTM inference limits throughput without a GPU</a:t>
            </a:r>
            <a:endParaRPr lang="en-US" sz="1575" dirty="0"/>
          </a:p>
        </p:txBody>
      </p:sp>
      <p:sp>
        <p:nvSpPr>
          <p:cNvPr id="20" name="Shape 18"/>
          <p:cNvSpPr/>
          <p:nvPr/>
        </p:nvSpPr>
        <p:spPr>
          <a:xfrm>
            <a:off x="9258300" y="1752600"/>
            <a:ext cx="8496300" cy="6264275"/>
          </a:xfrm>
          <a:prstGeom prst="roundRect">
            <a:avLst>
              <a:gd name="adj" fmla="val 2129"/>
            </a:avLst>
          </a:prstGeom>
          <a:solidFill>
            <a:srgbClr val="FFFFFF">
              <a:alpha val="4000"/>
            </a:srgbClr>
          </a:solidFill>
          <a:ln w="12700">
            <a:solidFill>
              <a:srgbClr val="FFFFFF">
                <a:alpha val="10000"/>
              </a:srgbClr>
            </a:solidFill>
            <a:prstDash val="solid"/>
          </a:ln>
        </p:spPr>
        <p:txBody>
          <a:bodyPr/>
          <a:lstStyle/>
          <a:p>
            <a:endParaRPr lang="en-US"/>
          </a:p>
        </p:txBody>
      </p:sp>
      <p:sp>
        <p:nvSpPr>
          <p:cNvPr id="21" name="Text 19"/>
          <p:cNvSpPr/>
          <p:nvPr/>
        </p:nvSpPr>
        <p:spPr>
          <a:xfrm>
            <a:off x="9537700" y="1993900"/>
            <a:ext cx="8731250" cy="393700"/>
          </a:xfrm>
          <a:prstGeom prst="rect">
            <a:avLst/>
          </a:prstGeom>
          <a:noFill/>
          <a:ln/>
        </p:spPr>
        <p:txBody>
          <a:bodyPr wrap="square" lIns="25400" tIns="25400" rIns="25400" bIns="25400" rtlCol="0" anchor="t">
            <a:normAutofit/>
          </a:bodyPr>
          <a:lstStyle/>
          <a:p>
            <a:pPr marL="0" indent="0" algn="l">
              <a:buNone/>
            </a:pPr>
            <a:r>
              <a:rPr lang="en-US" sz="2025" b="1" dirty="0">
                <a:solidFill>
                  <a:srgbClr val="6FB3F2"/>
                </a:solidFill>
                <a:latin typeface="Arial" pitchFamily="34" charset="0"/>
                <a:ea typeface="Arial" pitchFamily="34" charset="-122"/>
                <a:cs typeface="Arial" pitchFamily="34" charset="-120"/>
              </a:rPr>
              <a:t>Future Improvements</a:t>
            </a:r>
            <a:endParaRPr lang="en-US" sz="2025" dirty="0"/>
          </a:p>
        </p:txBody>
      </p:sp>
      <p:sp>
        <p:nvSpPr>
          <p:cNvPr id="22" name="Shape 20"/>
          <p:cNvSpPr/>
          <p:nvPr/>
        </p:nvSpPr>
        <p:spPr>
          <a:xfrm>
            <a:off x="9537700" y="2587625"/>
            <a:ext cx="76200" cy="76200"/>
          </a:xfrm>
          <a:prstGeom prst="roundRect">
            <a:avLst>
              <a:gd name="adj" fmla="val 25000"/>
            </a:avLst>
          </a:prstGeom>
          <a:solidFill>
            <a:srgbClr val="3B8EE6"/>
          </a:solidFill>
          <a:ln/>
        </p:spPr>
        <p:txBody>
          <a:bodyPr/>
          <a:lstStyle/>
          <a:p>
            <a:endParaRPr lang="en-US"/>
          </a:p>
        </p:txBody>
      </p:sp>
      <p:sp>
        <p:nvSpPr>
          <p:cNvPr id="23" name="Text 21"/>
          <p:cNvSpPr/>
          <p:nvPr/>
        </p:nvSpPr>
        <p:spPr>
          <a:xfrm>
            <a:off x="9737725" y="2501900"/>
            <a:ext cx="6726555"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Temporal transformer: better long-range pattern detection than LSTM</a:t>
            </a:r>
            <a:endParaRPr lang="en-US" sz="1575" dirty="0"/>
          </a:p>
        </p:txBody>
      </p:sp>
      <p:sp>
        <p:nvSpPr>
          <p:cNvPr id="24" name="Shape 22"/>
          <p:cNvSpPr/>
          <p:nvPr/>
        </p:nvSpPr>
        <p:spPr>
          <a:xfrm>
            <a:off x="9537700" y="2990850"/>
            <a:ext cx="76200" cy="76200"/>
          </a:xfrm>
          <a:prstGeom prst="roundRect">
            <a:avLst>
              <a:gd name="adj" fmla="val 25000"/>
            </a:avLst>
          </a:prstGeom>
          <a:solidFill>
            <a:srgbClr val="3B8EE6"/>
          </a:solidFill>
          <a:ln/>
        </p:spPr>
        <p:txBody>
          <a:bodyPr/>
          <a:lstStyle/>
          <a:p>
            <a:endParaRPr lang="en-US"/>
          </a:p>
        </p:txBody>
      </p:sp>
      <p:sp>
        <p:nvSpPr>
          <p:cNvPr id="25" name="Text 23"/>
          <p:cNvSpPr/>
          <p:nvPr/>
        </p:nvSpPr>
        <p:spPr>
          <a:xfrm>
            <a:off x="9737725" y="2905125"/>
            <a:ext cx="5588873"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Graph neural network: multi-player collusion via kill-graph</a:t>
            </a:r>
            <a:endParaRPr lang="en-US" sz="1575" dirty="0"/>
          </a:p>
        </p:txBody>
      </p:sp>
      <p:sp>
        <p:nvSpPr>
          <p:cNvPr id="26" name="Shape 24"/>
          <p:cNvSpPr/>
          <p:nvPr/>
        </p:nvSpPr>
        <p:spPr>
          <a:xfrm>
            <a:off x="9537700" y="3394075"/>
            <a:ext cx="76200" cy="76200"/>
          </a:xfrm>
          <a:prstGeom prst="roundRect">
            <a:avLst>
              <a:gd name="adj" fmla="val 25000"/>
            </a:avLst>
          </a:prstGeom>
          <a:solidFill>
            <a:srgbClr val="3B8EE6"/>
          </a:solidFill>
          <a:ln/>
        </p:spPr>
        <p:txBody>
          <a:bodyPr/>
          <a:lstStyle/>
          <a:p>
            <a:endParaRPr lang="en-US"/>
          </a:p>
        </p:txBody>
      </p:sp>
      <p:sp>
        <p:nvSpPr>
          <p:cNvPr id="27" name="Text 25"/>
          <p:cNvSpPr/>
          <p:nvPr/>
        </p:nvSpPr>
        <p:spPr>
          <a:xfrm>
            <a:off x="9737725" y="3308350"/>
            <a:ext cx="6836787"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Adversarial training: generator creates stealthy cheats, detector learns</a:t>
            </a:r>
            <a:endParaRPr lang="en-US" sz="1575" dirty="0"/>
          </a:p>
        </p:txBody>
      </p:sp>
      <p:sp>
        <p:nvSpPr>
          <p:cNvPr id="28" name="Shape 26"/>
          <p:cNvSpPr/>
          <p:nvPr/>
        </p:nvSpPr>
        <p:spPr>
          <a:xfrm>
            <a:off x="9537700" y="3797300"/>
            <a:ext cx="76200" cy="76200"/>
          </a:xfrm>
          <a:prstGeom prst="roundRect">
            <a:avLst>
              <a:gd name="adj" fmla="val 25000"/>
            </a:avLst>
          </a:prstGeom>
          <a:solidFill>
            <a:srgbClr val="3B8EE6"/>
          </a:solidFill>
          <a:ln/>
        </p:spPr>
        <p:txBody>
          <a:bodyPr/>
          <a:lstStyle/>
          <a:p>
            <a:endParaRPr lang="en-US"/>
          </a:p>
        </p:txBody>
      </p:sp>
      <p:sp>
        <p:nvSpPr>
          <p:cNvPr id="29" name="Text 27"/>
          <p:cNvSpPr/>
          <p:nvPr/>
        </p:nvSpPr>
        <p:spPr>
          <a:xfrm>
            <a:off x="9737725" y="3711575"/>
            <a:ext cx="6066254"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Federated learning: train across titles without sharing raw data</a:t>
            </a:r>
            <a:endParaRPr lang="en-US" sz="1575" dirty="0"/>
          </a:p>
        </p:txBody>
      </p:sp>
      <p:sp>
        <p:nvSpPr>
          <p:cNvPr id="30" name="Shape 28"/>
          <p:cNvSpPr/>
          <p:nvPr/>
        </p:nvSpPr>
        <p:spPr>
          <a:xfrm>
            <a:off x="9537700" y="4200525"/>
            <a:ext cx="76200" cy="76200"/>
          </a:xfrm>
          <a:prstGeom prst="roundRect">
            <a:avLst>
              <a:gd name="adj" fmla="val 25000"/>
            </a:avLst>
          </a:prstGeom>
          <a:solidFill>
            <a:srgbClr val="3B8EE6"/>
          </a:solidFill>
          <a:ln/>
        </p:spPr>
        <p:txBody>
          <a:bodyPr/>
          <a:lstStyle/>
          <a:p>
            <a:endParaRPr lang="en-US"/>
          </a:p>
        </p:txBody>
      </p:sp>
      <p:sp>
        <p:nvSpPr>
          <p:cNvPr id="31" name="Text 29"/>
          <p:cNvSpPr/>
          <p:nvPr/>
        </p:nvSpPr>
        <p:spPr>
          <a:xfrm>
            <a:off x="9737725" y="4114800"/>
            <a:ext cx="6057960" cy="307975"/>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D2DEEB"/>
                </a:solidFill>
                <a:latin typeface="Arial" pitchFamily="34" charset="0"/>
                <a:ea typeface="Arial" pitchFamily="34" charset="-122"/>
                <a:cs typeface="Arial" pitchFamily="34" charset="-120"/>
              </a:rPr>
              <a:t>Tiered inference: run expensive LSTM only for flagged players</a:t>
            </a:r>
            <a:endParaRPr lang="en-US" sz="1575" dirty="0"/>
          </a:p>
        </p:txBody>
      </p:sp>
      <p:sp>
        <p:nvSpPr>
          <p:cNvPr id="32" name="Shape 30"/>
          <p:cNvSpPr/>
          <p:nvPr/>
        </p:nvSpPr>
        <p:spPr>
          <a:xfrm>
            <a:off x="533400" y="8188325"/>
            <a:ext cx="17221200" cy="1400175"/>
          </a:xfrm>
          <a:prstGeom prst="roundRect">
            <a:avLst>
              <a:gd name="adj" fmla="val 8163"/>
            </a:avLst>
          </a:prstGeom>
          <a:gradFill rotWithShape="1">
            <a:gsLst>
              <a:gs pos="0">
                <a:srgbClr val="34C27E">
                  <a:alpha val="14000"/>
                </a:srgbClr>
              </a:gs>
              <a:gs pos="100000">
                <a:srgbClr val="FFFFFF">
                  <a:alpha val="3000"/>
                </a:srgbClr>
              </a:gs>
            </a:gsLst>
            <a:lin ang="0" scaled="0"/>
          </a:gradFill>
          <a:ln w="12700">
            <a:solidFill>
              <a:srgbClr val="FFFFFF">
                <a:alpha val="10000"/>
              </a:srgbClr>
            </a:solidFill>
            <a:prstDash val="solid"/>
          </a:ln>
        </p:spPr>
        <p:txBody>
          <a:bodyPr/>
          <a:lstStyle/>
          <a:p>
            <a:endParaRPr lang="en-US"/>
          </a:p>
        </p:txBody>
      </p:sp>
      <p:sp>
        <p:nvSpPr>
          <p:cNvPr id="33" name="Text 31"/>
          <p:cNvSpPr/>
          <p:nvPr/>
        </p:nvSpPr>
        <p:spPr>
          <a:xfrm>
            <a:off x="812800" y="8391525"/>
            <a:ext cx="18328640" cy="317500"/>
          </a:xfrm>
          <a:prstGeom prst="rect">
            <a:avLst/>
          </a:prstGeom>
          <a:noFill/>
          <a:ln/>
        </p:spPr>
        <p:txBody>
          <a:bodyPr wrap="square" lIns="25400" tIns="25400" rIns="25400" bIns="25400" rtlCol="0" anchor="t">
            <a:normAutofit/>
          </a:bodyPr>
          <a:lstStyle/>
          <a:p>
            <a:pPr marL="0" indent="0" algn="l">
              <a:buNone/>
            </a:pPr>
            <a:r>
              <a:rPr lang="en-US" sz="1575" b="1" kern="0" spc="75" dirty="0">
                <a:solidFill>
                  <a:srgbClr val="5BD39A"/>
                </a:solidFill>
                <a:latin typeface="Arial" pitchFamily="34" charset="0"/>
                <a:ea typeface="Arial" pitchFamily="34" charset="-122"/>
                <a:cs typeface="Arial" pitchFamily="34" charset="-120"/>
              </a:rPr>
              <a:t>KEY CONTRIBUTIONS</a:t>
            </a:r>
            <a:endParaRPr lang="en-US" sz="1575" dirty="0"/>
          </a:p>
        </p:txBody>
      </p:sp>
      <p:sp>
        <p:nvSpPr>
          <p:cNvPr id="34" name="Text 32"/>
          <p:cNvSpPr/>
          <p:nvPr/>
        </p:nvSpPr>
        <p:spPr>
          <a:xfrm>
            <a:off x="812800" y="8810625"/>
            <a:ext cx="227409" cy="254000"/>
          </a:xfrm>
          <a:prstGeom prst="rect">
            <a:avLst/>
          </a:prstGeom>
          <a:noFill/>
          <a:ln/>
        </p:spPr>
        <p:txBody>
          <a:bodyPr wrap="square" lIns="25400" tIns="25400" rIns="25400" bIns="25400" rtlCol="0" anchor="t">
            <a:normAutofit/>
          </a:bodyPr>
          <a:lstStyle/>
          <a:p>
            <a:pPr marL="0" indent="0" algn="l">
              <a:buNone/>
            </a:pPr>
            <a:r>
              <a:rPr lang="en-US" sz="1425" dirty="0">
                <a:solidFill>
                  <a:srgbClr val="5BD39A"/>
                </a:solidFill>
                <a:latin typeface="Arial" pitchFamily="34" charset="0"/>
                <a:ea typeface="Arial" pitchFamily="34" charset="-122"/>
                <a:cs typeface="Arial" pitchFamily="34" charset="-120"/>
              </a:rPr>
              <a:t>▸</a:t>
            </a:r>
            <a:endParaRPr lang="en-US" sz="1425" dirty="0"/>
          </a:p>
        </p:txBody>
      </p:sp>
      <p:sp>
        <p:nvSpPr>
          <p:cNvPr id="35" name="Text 33"/>
          <p:cNvSpPr/>
          <p:nvPr/>
        </p:nvSpPr>
        <p:spPr>
          <a:xfrm>
            <a:off x="1078309" y="8785225"/>
            <a:ext cx="6505000"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End-to-end real-time pipeline: 60Hz telemetry → Grafana alert in &lt; 5 s</a:t>
            </a:r>
            <a:endParaRPr lang="en-US" sz="1500" dirty="0"/>
          </a:p>
        </p:txBody>
      </p:sp>
      <p:sp>
        <p:nvSpPr>
          <p:cNvPr id="36" name="Text 34"/>
          <p:cNvSpPr/>
          <p:nvPr/>
        </p:nvSpPr>
        <p:spPr>
          <a:xfrm>
            <a:off x="9296400" y="8810625"/>
            <a:ext cx="227409" cy="254000"/>
          </a:xfrm>
          <a:prstGeom prst="rect">
            <a:avLst/>
          </a:prstGeom>
          <a:noFill/>
          <a:ln/>
        </p:spPr>
        <p:txBody>
          <a:bodyPr wrap="square" lIns="25400" tIns="25400" rIns="25400" bIns="25400" rtlCol="0" anchor="t">
            <a:normAutofit/>
          </a:bodyPr>
          <a:lstStyle/>
          <a:p>
            <a:pPr marL="0" indent="0" algn="l">
              <a:buNone/>
            </a:pPr>
            <a:r>
              <a:rPr lang="en-US" sz="1425" dirty="0">
                <a:solidFill>
                  <a:srgbClr val="5BD39A"/>
                </a:solidFill>
                <a:latin typeface="Arial" pitchFamily="34" charset="0"/>
                <a:ea typeface="Arial" pitchFamily="34" charset="-122"/>
                <a:cs typeface="Arial" pitchFamily="34" charset="-120"/>
              </a:rPr>
              <a:t>▸</a:t>
            </a:r>
            <a:endParaRPr lang="en-US" sz="1425" dirty="0"/>
          </a:p>
        </p:txBody>
      </p:sp>
      <p:sp>
        <p:nvSpPr>
          <p:cNvPr id="37" name="Text 35"/>
          <p:cNvSpPr/>
          <p:nvPr/>
        </p:nvSpPr>
        <p:spPr>
          <a:xfrm>
            <a:off x="9561909" y="8785225"/>
            <a:ext cx="7354987"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Dual-paradigm ML: supervised XGBoost (known) + unsupervised LSTM (novel)</a:t>
            </a:r>
            <a:endParaRPr lang="en-US" sz="1500" dirty="0"/>
          </a:p>
        </p:txBody>
      </p:sp>
      <p:sp>
        <p:nvSpPr>
          <p:cNvPr id="38" name="Text 36"/>
          <p:cNvSpPr/>
          <p:nvPr/>
        </p:nvSpPr>
        <p:spPr>
          <a:xfrm>
            <a:off x="812800" y="9163050"/>
            <a:ext cx="227409" cy="254000"/>
          </a:xfrm>
          <a:prstGeom prst="rect">
            <a:avLst/>
          </a:prstGeom>
          <a:noFill/>
          <a:ln/>
        </p:spPr>
        <p:txBody>
          <a:bodyPr wrap="square" lIns="25400" tIns="25400" rIns="25400" bIns="25400" rtlCol="0" anchor="t">
            <a:normAutofit/>
          </a:bodyPr>
          <a:lstStyle/>
          <a:p>
            <a:pPr marL="0" indent="0" algn="l">
              <a:buNone/>
            </a:pPr>
            <a:r>
              <a:rPr lang="en-US" sz="1425" dirty="0">
                <a:solidFill>
                  <a:srgbClr val="5BD39A"/>
                </a:solidFill>
                <a:latin typeface="Arial" pitchFamily="34" charset="0"/>
                <a:ea typeface="Arial" pitchFamily="34" charset="-122"/>
                <a:cs typeface="Arial" pitchFamily="34" charset="-120"/>
              </a:rPr>
              <a:t>▸</a:t>
            </a:r>
            <a:endParaRPr lang="en-US" sz="1425" dirty="0"/>
          </a:p>
        </p:txBody>
      </p:sp>
      <p:sp>
        <p:nvSpPr>
          <p:cNvPr id="39" name="Text 37"/>
          <p:cNvSpPr/>
          <p:nvPr/>
        </p:nvSpPr>
        <p:spPr>
          <a:xfrm>
            <a:off x="1078309" y="9137650"/>
            <a:ext cx="6569174"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Physics-derived rule engine: 0% false positives, deterministic detection</a:t>
            </a:r>
            <a:endParaRPr lang="en-US" sz="1500" dirty="0"/>
          </a:p>
        </p:txBody>
      </p:sp>
      <p:sp>
        <p:nvSpPr>
          <p:cNvPr id="40" name="Text 38"/>
          <p:cNvSpPr/>
          <p:nvPr/>
        </p:nvSpPr>
        <p:spPr>
          <a:xfrm>
            <a:off x="9296400" y="9163050"/>
            <a:ext cx="227409" cy="254000"/>
          </a:xfrm>
          <a:prstGeom prst="rect">
            <a:avLst/>
          </a:prstGeom>
          <a:noFill/>
          <a:ln/>
        </p:spPr>
        <p:txBody>
          <a:bodyPr wrap="square" lIns="25400" tIns="25400" rIns="25400" bIns="25400" rtlCol="0" anchor="t">
            <a:normAutofit/>
          </a:bodyPr>
          <a:lstStyle/>
          <a:p>
            <a:pPr marL="0" indent="0" algn="l">
              <a:buNone/>
            </a:pPr>
            <a:r>
              <a:rPr lang="en-US" sz="1425" dirty="0">
                <a:solidFill>
                  <a:srgbClr val="5BD39A"/>
                </a:solidFill>
                <a:latin typeface="Arial" pitchFamily="34" charset="0"/>
                <a:ea typeface="Arial" pitchFamily="34" charset="-122"/>
                <a:cs typeface="Arial" pitchFamily="34" charset="-120"/>
              </a:rPr>
              <a:t>▸</a:t>
            </a:r>
            <a:endParaRPr lang="en-US" sz="1425" dirty="0"/>
          </a:p>
        </p:txBody>
      </p:sp>
      <p:sp>
        <p:nvSpPr>
          <p:cNvPr id="41" name="Text 39"/>
          <p:cNvSpPr/>
          <p:nvPr/>
        </p:nvSpPr>
        <p:spPr>
          <a:xfrm>
            <a:off x="9561909" y="9137650"/>
            <a:ext cx="6573103" cy="2857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D2DEEB"/>
                </a:solidFill>
                <a:latin typeface="Arial" pitchFamily="34" charset="0"/>
                <a:ea typeface="Arial" pitchFamily="34" charset="-122"/>
                <a:cs typeface="Arial" pitchFamily="34" charset="-120"/>
              </a:rPr>
              <a:t>Trained on public CS2CD dataset (795 real matches) for reproducibility</a:t>
            </a:r>
            <a:endParaRPr lang="en-US" sz="1500" dirty="0"/>
          </a:p>
        </p:txBody>
      </p:sp>
      <p:sp>
        <p:nvSpPr>
          <p:cNvPr id="42" name="Shape 40"/>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43" name="Text 41"/>
          <p:cNvSpPr/>
          <p:nvPr/>
        </p:nvSpPr>
        <p:spPr>
          <a:xfrm>
            <a:off x="5334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44" name="Text 42"/>
          <p:cNvSpPr/>
          <p:nvPr/>
        </p:nvSpPr>
        <p:spPr>
          <a:xfrm>
            <a:off x="172593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15 / 18</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B8EE6">
                  <a:alpha val="22000"/>
                </a:srgbClr>
              </a:gs>
              <a:gs pos="46000">
                <a:srgbClr val="3B8EE6">
                  <a:alpha val="0"/>
                </a:srgbClr>
              </a:gs>
            </a:gsLst>
            <a:path path="circle">
              <a:fillToRect l="16000" t="16000" r="84000" b="84000"/>
            </a:path>
          </a:gradFill>
          <a:ln/>
        </p:spPr>
        <p:txBody>
          <a:bodyPr/>
          <a:lstStyle/>
          <a:p>
            <a:endParaRPr lang="en-US"/>
          </a:p>
        </p:txBody>
      </p:sp>
      <p:sp>
        <p:nvSpPr>
          <p:cNvPr id="3" name="Shape 1"/>
          <p:cNvSpPr/>
          <p:nvPr/>
        </p:nvSpPr>
        <p:spPr>
          <a:xfrm>
            <a:off x="8791575" y="1984375"/>
            <a:ext cx="704850" cy="704850"/>
          </a:xfrm>
          <a:prstGeom prst="roundRect">
            <a:avLst>
              <a:gd name="adj" fmla="val 21622"/>
            </a:avLst>
          </a:prstGeom>
          <a:gradFill rotWithShape="1">
            <a:gsLst>
              <a:gs pos="0">
                <a:srgbClr val="3B8EE6">
                  <a:alpha val="100000"/>
                </a:srgbClr>
              </a:gs>
              <a:gs pos="100000">
                <a:srgbClr val="F2A33C">
                  <a:alpha val="100000"/>
                </a:srgbClr>
              </a:gs>
            </a:gsLst>
            <a:lin ang="2700000" scaled="0"/>
          </a:gradFill>
          <a:ln/>
          <a:effectLst>
            <a:outerShdw blurRad="419100" dist="50800" dir="16200000" algn="bl" rotWithShape="0">
              <a:srgbClr val="3B8EE6">
                <a:alpha val="55000"/>
              </a:srgbClr>
            </a:outerShdw>
          </a:effectLst>
        </p:spPr>
        <p:txBody>
          <a:bodyPr/>
          <a:lstStyle/>
          <a:p>
            <a:endParaRPr lang="en-US"/>
          </a:p>
        </p:txBody>
      </p:sp>
      <p:sp>
        <p:nvSpPr>
          <p:cNvPr id="4" name="Text 2"/>
          <p:cNvSpPr/>
          <p:nvPr/>
        </p:nvSpPr>
        <p:spPr>
          <a:xfrm>
            <a:off x="8753475" y="1984375"/>
            <a:ext cx="781050" cy="742950"/>
          </a:xfrm>
          <a:prstGeom prst="rect">
            <a:avLst/>
          </a:prstGeom>
          <a:noFill/>
          <a:ln/>
        </p:spPr>
        <p:txBody>
          <a:bodyPr wrap="square" lIns="25400" tIns="25400" rIns="25400" bIns="25400" rtlCol="0" anchor="ctr">
            <a:normAutofit/>
          </a:bodyPr>
          <a:lstStyle/>
          <a:p>
            <a:pPr marL="0" indent="0" algn="ctr">
              <a:buNone/>
            </a:pPr>
            <a:r>
              <a:rPr lang="en-US" sz="3000" b="1" dirty="0">
                <a:solidFill>
                  <a:srgbClr val="06101F"/>
                </a:solidFill>
                <a:latin typeface="Arial" pitchFamily="34" charset="0"/>
                <a:ea typeface="Arial" pitchFamily="34" charset="-122"/>
                <a:cs typeface="Arial" pitchFamily="34" charset="-120"/>
              </a:rPr>
              <a:t>⌖</a:t>
            </a:r>
            <a:endParaRPr lang="en-US" sz="3000" dirty="0"/>
          </a:p>
        </p:txBody>
      </p:sp>
      <p:sp>
        <p:nvSpPr>
          <p:cNvPr id="5" name="Text 3"/>
          <p:cNvSpPr/>
          <p:nvPr/>
        </p:nvSpPr>
        <p:spPr>
          <a:xfrm>
            <a:off x="5666790" y="2936875"/>
            <a:ext cx="6954223" cy="1162050"/>
          </a:xfrm>
          <a:prstGeom prst="rect">
            <a:avLst/>
          </a:prstGeom>
          <a:noFill/>
          <a:ln/>
          <a:effectLst>
            <a:outerShdw blurRad="571500" dist="50800" dir="16200000" algn="bl" rotWithShape="0">
              <a:srgbClr val="3B8EE6">
                <a:alpha val="35000"/>
              </a:srgbClr>
            </a:outerShdw>
          </a:effectLst>
        </p:spPr>
        <p:txBody>
          <a:bodyPr wrap="square" lIns="25400" tIns="25400" rIns="25400" bIns="25400" rtlCol="0" anchor="t">
            <a:normAutofit/>
          </a:bodyPr>
          <a:lstStyle/>
          <a:p>
            <a:pPr marL="0" indent="0" algn="ctr">
              <a:lnSpc>
                <a:spcPct val="100000"/>
              </a:lnSpc>
              <a:buNone/>
            </a:pPr>
            <a:r>
              <a:rPr lang="en-US" sz="8850" b="1" kern="0" spc="-150" dirty="0">
                <a:solidFill>
                  <a:srgbClr val="FFFFFF"/>
                </a:solidFill>
                <a:latin typeface="Arial" pitchFamily="34" charset="0"/>
                <a:ea typeface="Arial" pitchFamily="34" charset="-122"/>
                <a:cs typeface="Arial" pitchFamily="34" charset="-120"/>
              </a:rPr>
              <a:t>Thank You</a:t>
            </a:r>
            <a:endParaRPr lang="en-US" sz="8850" dirty="0"/>
          </a:p>
        </p:txBody>
      </p:sp>
      <p:sp>
        <p:nvSpPr>
          <p:cNvPr id="6" name="Text 4"/>
          <p:cNvSpPr/>
          <p:nvPr/>
        </p:nvSpPr>
        <p:spPr>
          <a:xfrm>
            <a:off x="8030776" y="4308475"/>
            <a:ext cx="2226251" cy="508000"/>
          </a:xfrm>
          <a:prstGeom prst="rect">
            <a:avLst/>
          </a:prstGeom>
          <a:noFill/>
          <a:ln/>
        </p:spPr>
        <p:txBody>
          <a:bodyPr wrap="square" lIns="25400" tIns="25400" rIns="25400" bIns="25400" rtlCol="0" anchor="t">
            <a:normAutofit/>
          </a:bodyPr>
          <a:lstStyle/>
          <a:p>
            <a:pPr marL="0" indent="0" algn="ctr">
              <a:buNone/>
            </a:pPr>
            <a:r>
              <a:rPr lang="en-US" sz="3150" dirty="0">
                <a:solidFill>
                  <a:srgbClr val="AFC6DE"/>
                </a:solidFill>
                <a:latin typeface="Arial" pitchFamily="34" charset="0"/>
                <a:ea typeface="Arial" pitchFamily="34" charset="-122"/>
                <a:cs typeface="Arial" pitchFamily="34" charset="-120"/>
              </a:rPr>
              <a:t>Questions?</a:t>
            </a:r>
            <a:endParaRPr lang="en-US" sz="3150" dirty="0"/>
          </a:p>
        </p:txBody>
      </p:sp>
      <p:sp>
        <p:nvSpPr>
          <p:cNvPr id="7" name="Shape 5"/>
          <p:cNvSpPr/>
          <p:nvPr/>
        </p:nvSpPr>
        <p:spPr>
          <a:xfrm>
            <a:off x="4286250" y="5178425"/>
            <a:ext cx="9715500" cy="850900"/>
          </a:xfrm>
          <a:prstGeom prst="roundRect">
            <a:avLst>
              <a:gd name="adj" fmla="val 13433"/>
            </a:avLst>
          </a:prstGeom>
          <a:solidFill>
            <a:srgbClr val="FFFFFF">
              <a:alpha val="5000"/>
            </a:srgbClr>
          </a:solidFill>
          <a:ln w="12700">
            <a:solidFill>
              <a:srgbClr val="7FB6EE">
                <a:alpha val="30000"/>
              </a:srgbClr>
            </a:solidFill>
            <a:prstDash val="solid"/>
          </a:ln>
        </p:spPr>
        <p:txBody>
          <a:bodyPr/>
          <a:lstStyle/>
          <a:p>
            <a:endParaRPr lang="en-US"/>
          </a:p>
        </p:txBody>
      </p:sp>
      <p:sp>
        <p:nvSpPr>
          <p:cNvPr id="8" name="Text 6"/>
          <p:cNvSpPr/>
          <p:nvPr/>
        </p:nvSpPr>
        <p:spPr>
          <a:xfrm>
            <a:off x="4565650" y="5362575"/>
            <a:ext cx="1504950" cy="520700"/>
          </a:xfrm>
          <a:prstGeom prst="rect">
            <a:avLst/>
          </a:prstGeom>
          <a:noFill/>
          <a:ln/>
        </p:spPr>
        <p:txBody>
          <a:bodyPr wrap="square" lIns="25400" tIns="25400" rIns="25400" bIns="25400" rtlCol="0" anchor="t">
            <a:normAutofit/>
          </a:bodyPr>
          <a:lstStyle/>
          <a:p>
            <a:pPr marL="0" indent="0" algn="l">
              <a:buNone/>
            </a:pPr>
            <a:r>
              <a:rPr lang="en-US" sz="1350" b="1" kern="0" spc="38" dirty="0">
                <a:solidFill>
                  <a:srgbClr val="F4B463"/>
                </a:solidFill>
                <a:latin typeface="Arial" pitchFamily="34" charset="0"/>
                <a:ea typeface="Arial" pitchFamily="34" charset="-122"/>
                <a:cs typeface="Arial" pitchFamily="34" charset="-120"/>
              </a:rPr>
              <a:t>SOURCE CODE</a:t>
            </a:r>
            <a:endParaRPr lang="en-US" sz="1350" dirty="0"/>
          </a:p>
        </p:txBody>
      </p:sp>
      <p:sp>
        <p:nvSpPr>
          <p:cNvPr id="9" name="Text 7"/>
          <p:cNvSpPr/>
          <p:nvPr/>
        </p:nvSpPr>
        <p:spPr>
          <a:xfrm>
            <a:off x="6184900" y="5470525"/>
            <a:ext cx="5156676" cy="304800"/>
          </a:xfrm>
          <a:prstGeom prst="rect">
            <a:avLst/>
          </a:prstGeom>
          <a:noFill/>
          <a:ln/>
        </p:spPr>
        <p:txBody>
          <a:bodyPr wrap="square" lIns="25400" tIns="25400" rIns="25400" bIns="25400" rtlCol="0" anchor="t">
            <a:normAutofit/>
          </a:bodyPr>
          <a:lstStyle/>
          <a:p>
            <a:pPr marL="0" indent="0" algn="l">
              <a:buNone/>
            </a:pPr>
            <a:r>
              <a:rPr lang="en-US" sz="1725" dirty="0">
                <a:solidFill>
                  <a:srgbClr val="D2DEEB"/>
                </a:solidFill>
                <a:latin typeface="Arial" pitchFamily="34" charset="0"/>
                <a:ea typeface="Arial" pitchFamily="34" charset="-122"/>
                <a:cs typeface="Arial" pitchFamily="34" charset="-120"/>
              </a:rPr>
              <a:t>Docker Compose - single-command deployment</a:t>
            </a:r>
            <a:endParaRPr lang="en-US" sz="1725" dirty="0"/>
          </a:p>
        </p:txBody>
      </p:sp>
      <p:sp>
        <p:nvSpPr>
          <p:cNvPr id="10" name="Shape 8"/>
          <p:cNvSpPr/>
          <p:nvPr/>
        </p:nvSpPr>
        <p:spPr>
          <a:xfrm>
            <a:off x="4286250" y="6181725"/>
            <a:ext cx="9715500" cy="635000"/>
          </a:xfrm>
          <a:prstGeom prst="roundRect">
            <a:avLst>
              <a:gd name="adj" fmla="val 18000"/>
            </a:avLst>
          </a:prstGeom>
          <a:solidFill>
            <a:srgbClr val="FFFFFF">
              <a:alpha val="5000"/>
            </a:srgbClr>
          </a:solidFill>
          <a:ln w="12700">
            <a:solidFill>
              <a:srgbClr val="7FB6EE">
                <a:alpha val="30000"/>
              </a:srgbClr>
            </a:solidFill>
            <a:prstDash val="solid"/>
          </a:ln>
        </p:spPr>
        <p:txBody>
          <a:bodyPr/>
          <a:lstStyle/>
          <a:p>
            <a:endParaRPr lang="en-US"/>
          </a:p>
        </p:txBody>
      </p:sp>
      <p:sp>
        <p:nvSpPr>
          <p:cNvPr id="11" name="Text 9"/>
          <p:cNvSpPr/>
          <p:nvPr/>
        </p:nvSpPr>
        <p:spPr>
          <a:xfrm>
            <a:off x="4565650" y="6378575"/>
            <a:ext cx="1571625" cy="279400"/>
          </a:xfrm>
          <a:prstGeom prst="rect">
            <a:avLst/>
          </a:prstGeom>
          <a:noFill/>
          <a:ln/>
        </p:spPr>
        <p:txBody>
          <a:bodyPr wrap="square" lIns="25400" tIns="25400" rIns="25400" bIns="25400" rtlCol="0" anchor="t">
            <a:normAutofit/>
          </a:bodyPr>
          <a:lstStyle/>
          <a:p>
            <a:pPr marL="0" indent="0" algn="l">
              <a:buNone/>
            </a:pPr>
            <a:r>
              <a:rPr lang="en-US" sz="1350" b="1" kern="0" spc="38" dirty="0">
                <a:solidFill>
                  <a:srgbClr val="F4B463"/>
                </a:solidFill>
                <a:latin typeface="Arial" pitchFamily="34" charset="0"/>
                <a:ea typeface="Arial" pitchFamily="34" charset="-122"/>
                <a:cs typeface="Arial" pitchFamily="34" charset="-120"/>
              </a:rPr>
              <a:t>TECH STACK</a:t>
            </a:r>
            <a:endParaRPr lang="en-US" sz="1350" dirty="0"/>
          </a:p>
        </p:txBody>
      </p:sp>
      <p:sp>
        <p:nvSpPr>
          <p:cNvPr id="12" name="Text 10"/>
          <p:cNvSpPr/>
          <p:nvPr/>
        </p:nvSpPr>
        <p:spPr>
          <a:xfrm>
            <a:off x="6184900" y="6365875"/>
            <a:ext cx="7804210" cy="304800"/>
          </a:xfrm>
          <a:prstGeom prst="rect">
            <a:avLst/>
          </a:prstGeom>
          <a:noFill/>
          <a:ln/>
        </p:spPr>
        <p:txBody>
          <a:bodyPr wrap="square" lIns="25400" tIns="25400" rIns="25400" bIns="25400" rtlCol="0" anchor="t">
            <a:normAutofit/>
          </a:bodyPr>
          <a:lstStyle/>
          <a:p>
            <a:pPr marL="0" indent="0" algn="l">
              <a:buNone/>
            </a:pPr>
            <a:r>
              <a:rPr lang="en-US" sz="1725" dirty="0">
                <a:solidFill>
                  <a:srgbClr val="D2DEEB"/>
                </a:solidFill>
                <a:latin typeface="Arial" pitchFamily="34" charset="0"/>
                <a:ea typeface="Arial" pitchFamily="34" charset="-122"/>
                <a:cs typeface="Arial" pitchFamily="34" charset="-120"/>
              </a:rPr>
              <a:t>Go 1.22 · Python 3.11 · Kafka · XGBoost · LSTM · Prometheus · Grafana</a:t>
            </a:r>
            <a:endParaRPr lang="en-US" sz="1725" dirty="0"/>
          </a:p>
        </p:txBody>
      </p:sp>
      <p:sp>
        <p:nvSpPr>
          <p:cNvPr id="13" name="Shape 11"/>
          <p:cNvSpPr/>
          <p:nvPr/>
        </p:nvSpPr>
        <p:spPr>
          <a:xfrm>
            <a:off x="4286250" y="6969125"/>
            <a:ext cx="9715500" cy="635000"/>
          </a:xfrm>
          <a:prstGeom prst="roundRect">
            <a:avLst>
              <a:gd name="adj" fmla="val 18000"/>
            </a:avLst>
          </a:prstGeom>
          <a:solidFill>
            <a:srgbClr val="FFFFFF">
              <a:alpha val="5000"/>
            </a:srgbClr>
          </a:solidFill>
          <a:ln w="12700">
            <a:solidFill>
              <a:srgbClr val="7FB6EE">
                <a:alpha val="30000"/>
              </a:srgbClr>
            </a:solidFill>
            <a:prstDash val="solid"/>
          </a:ln>
        </p:spPr>
        <p:txBody>
          <a:bodyPr/>
          <a:lstStyle/>
          <a:p>
            <a:endParaRPr lang="en-US"/>
          </a:p>
        </p:txBody>
      </p:sp>
      <p:sp>
        <p:nvSpPr>
          <p:cNvPr id="14" name="Text 12"/>
          <p:cNvSpPr/>
          <p:nvPr/>
        </p:nvSpPr>
        <p:spPr>
          <a:xfrm>
            <a:off x="4565650" y="7165975"/>
            <a:ext cx="1571625" cy="279400"/>
          </a:xfrm>
          <a:prstGeom prst="rect">
            <a:avLst/>
          </a:prstGeom>
          <a:noFill/>
          <a:ln/>
        </p:spPr>
        <p:txBody>
          <a:bodyPr wrap="square" lIns="25400" tIns="25400" rIns="25400" bIns="25400" rtlCol="0" anchor="t">
            <a:normAutofit/>
          </a:bodyPr>
          <a:lstStyle/>
          <a:p>
            <a:pPr marL="0" indent="0" algn="l">
              <a:buNone/>
            </a:pPr>
            <a:r>
              <a:rPr lang="en-US" sz="1350" b="1" kern="0" spc="38" dirty="0">
                <a:solidFill>
                  <a:srgbClr val="F4B463"/>
                </a:solidFill>
                <a:latin typeface="Arial" pitchFamily="34" charset="0"/>
                <a:ea typeface="Arial" pitchFamily="34" charset="-122"/>
                <a:cs typeface="Arial" pitchFamily="34" charset="-120"/>
              </a:rPr>
              <a:t>COURSE</a:t>
            </a:r>
            <a:endParaRPr lang="en-US" sz="1350" dirty="0"/>
          </a:p>
        </p:txBody>
      </p:sp>
      <p:sp>
        <p:nvSpPr>
          <p:cNvPr id="15" name="Text 13"/>
          <p:cNvSpPr/>
          <p:nvPr/>
        </p:nvSpPr>
        <p:spPr>
          <a:xfrm>
            <a:off x="6184900" y="7153275"/>
            <a:ext cx="5701506" cy="304800"/>
          </a:xfrm>
          <a:prstGeom prst="rect">
            <a:avLst/>
          </a:prstGeom>
          <a:noFill/>
          <a:ln/>
        </p:spPr>
        <p:txBody>
          <a:bodyPr wrap="square" lIns="25400" tIns="25400" rIns="25400" bIns="25400" rtlCol="0" anchor="t">
            <a:normAutofit/>
          </a:bodyPr>
          <a:lstStyle/>
          <a:p>
            <a:pPr marL="0" indent="0" algn="l">
              <a:buNone/>
            </a:pPr>
            <a:r>
              <a:rPr lang="en-US" sz="1725" dirty="0">
                <a:solidFill>
                  <a:srgbClr val="D2DEEB"/>
                </a:solidFill>
                <a:latin typeface="Arial" pitchFamily="34" charset="0"/>
                <a:ea typeface="Arial" pitchFamily="34" charset="-122"/>
                <a:cs typeface="Arial" pitchFamily="34" charset="-120"/>
              </a:rPr>
              <a:t>ENGR 5785G · Ontario Tech University · Spring 2026</a:t>
            </a:r>
            <a:endParaRPr lang="en-US" sz="1725" dirty="0"/>
          </a:p>
        </p:txBody>
      </p:sp>
      <p:sp>
        <p:nvSpPr>
          <p:cNvPr id="16" name="Shape 14"/>
          <p:cNvSpPr/>
          <p:nvPr/>
        </p:nvSpPr>
        <p:spPr>
          <a:xfrm>
            <a:off x="0" y="9588500"/>
            <a:ext cx="18288000" cy="12700"/>
          </a:xfrm>
          <a:prstGeom prst="rect">
            <a:avLst/>
          </a:prstGeom>
          <a:solidFill>
            <a:srgbClr val="FFFFFF">
              <a:alpha val="10000"/>
            </a:srgbClr>
          </a:solidFill>
          <a:ln/>
        </p:spPr>
        <p:txBody>
          <a:bodyPr/>
          <a:lstStyle/>
          <a:p>
            <a:endParaRPr lang="en-US"/>
          </a:p>
        </p:txBody>
      </p:sp>
      <p:sp>
        <p:nvSpPr>
          <p:cNvPr id="17" name="Text 15"/>
          <p:cNvSpPr/>
          <p:nvPr/>
        </p:nvSpPr>
        <p:spPr>
          <a:xfrm>
            <a:off x="857250" y="9829800"/>
            <a:ext cx="5155803" cy="266700"/>
          </a:xfrm>
          <a:prstGeom prst="rect">
            <a:avLst/>
          </a:prstGeom>
          <a:noFill/>
          <a:ln/>
        </p:spPr>
        <p:txBody>
          <a:bodyPr wrap="square" lIns="25400" tIns="25400" rIns="25400" bIns="25400" rtlCol="0" anchor="t">
            <a:normAutofit/>
          </a:bodyPr>
          <a:lstStyle/>
          <a:p>
            <a:pPr marL="0" indent="0" algn="l">
              <a:buNone/>
            </a:pPr>
            <a:r>
              <a:rPr lang="en-US" sz="1575" b="1" dirty="0">
                <a:solidFill>
                  <a:srgbClr val="C6D7E8"/>
                </a:solidFill>
                <a:latin typeface="Arial" pitchFamily="34" charset="0"/>
                <a:ea typeface="Arial" pitchFamily="34" charset="-122"/>
                <a:cs typeface="Arial" pitchFamily="34" charset="-120"/>
              </a:rPr>
              <a:t>Real-Time Cheat Detection for Multiplayer Games</a:t>
            </a:r>
            <a:endParaRPr lang="en-US" sz="1575" dirty="0"/>
          </a:p>
        </p:txBody>
      </p:sp>
      <p:sp>
        <p:nvSpPr>
          <p:cNvPr id="18" name="Text 16"/>
          <p:cNvSpPr/>
          <p:nvPr/>
        </p:nvSpPr>
        <p:spPr>
          <a:xfrm>
            <a:off x="16818968" y="9829800"/>
            <a:ext cx="687983" cy="266700"/>
          </a:xfrm>
          <a:prstGeom prst="rect">
            <a:avLst/>
          </a:prstGeom>
          <a:noFill/>
          <a:ln/>
        </p:spPr>
        <p:txBody>
          <a:bodyPr wrap="square" lIns="25400" tIns="25400" rIns="25400" bIns="25400" rtlCol="0" anchor="t">
            <a:normAutofit/>
          </a:bodyPr>
          <a:lstStyle/>
          <a:p>
            <a:pPr marL="0" indent="0" algn="l">
              <a:buNone/>
            </a:pPr>
            <a:r>
              <a:rPr lang="en-US" sz="1575" dirty="0">
                <a:solidFill>
                  <a:srgbClr val="9DB2C9"/>
                </a:solidFill>
                <a:latin typeface="Arial" pitchFamily="34" charset="0"/>
                <a:ea typeface="Arial" pitchFamily="34" charset="-122"/>
                <a:cs typeface="Arial" pitchFamily="34" charset="-120"/>
              </a:rPr>
              <a:t>16 / 18</a:t>
            </a:r>
            <a:endParaRPr lang="en-US" sz="15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lang="en-US"/>
          </a:p>
        </p:txBody>
      </p:sp>
      <p:sp>
        <p:nvSpPr>
          <p:cNvPr id="3" name="Shape 1"/>
          <p:cNvSpPr/>
          <p:nvPr/>
        </p:nvSpPr>
        <p:spPr>
          <a:xfrm>
            <a:off x="609600" y="411163"/>
            <a:ext cx="104775" cy="104775"/>
          </a:xfrm>
          <a:prstGeom prst="roundRect">
            <a:avLst>
              <a:gd name="adj" fmla="val 18182"/>
            </a:avLst>
          </a:prstGeom>
          <a:solidFill>
            <a:srgbClr val="F2A33C"/>
          </a:solidFill>
          <a:ln/>
          <a:effectLst>
            <a:outerShdw blurRad="133350" dist="50800" dir="16200000" algn="bl" rotWithShape="0">
              <a:srgbClr val="F2A33C">
                <a:alpha val="100000"/>
              </a:srgbClr>
            </a:outerShdw>
          </a:effectLst>
        </p:spPr>
        <p:txBody>
          <a:bodyPr/>
          <a:lstStyle/>
          <a:p>
            <a:endParaRPr lang="en-US"/>
          </a:p>
        </p:txBody>
      </p:sp>
      <p:sp>
        <p:nvSpPr>
          <p:cNvPr id="4" name="Text 2"/>
          <p:cNvSpPr/>
          <p:nvPr/>
        </p:nvSpPr>
        <p:spPr>
          <a:xfrm>
            <a:off x="828675" y="323850"/>
            <a:ext cx="2970371"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F4B463"/>
                </a:solidFill>
                <a:latin typeface="Arial" pitchFamily="34" charset="0"/>
                <a:ea typeface="Arial" pitchFamily="34" charset="-122"/>
                <a:cs typeface="Arial" pitchFamily="34" charset="-120"/>
              </a:rPr>
              <a:t>CONFUSION MATRIX</a:t>
            </a:r>
            <a:endParaRPr lang="en-US" sz="1500" dirty="0"/>
          </a:p>
        </p:txBody>
      </p:sp>
      <p:sp>
        <p:nvSpPr>
          <p:cNvPr id="5" name="Text 3"/>
          <p:cNvSpPr/>
          <p:nvPr/>
        </p:nvSpPr>
        <p:spPr>
          <a:xfrm>
            <a:off x="609600" y="708025"/>
            <a:ext cx="8445957"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Appendix: Model Evaluation</a:t>
            </a:r>
            <a:endParaRPr lang="en-US" sz="4050" dirty="0"/>
          </a:p>
        </p:txBody>
      </p:sp>
      <p:sp>
        <p:nvSpPr>
          <p:cNvPr id="6" name="Text 4"/>
          <p:cNvSpPr/>
          <p:nvPr/>
        </p:nvSpPr>
        <p:spPr>
          <a:xfrm>
            <a:off x="158867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17</a:t>
            </a:r>
            <a:endParaRPr lang="en-US" sz="11250" dirty="0"/>
          </a:p>
        </p:txBody>
      </p:sp>
      <p:sp>
        <p:nvSpPr>
          <p:cNvPr id="7" name="Shape 5"/>
          <p:cNvSpPr/>
          <p:nvPr/>
        </p:nvSpPr>
        <p:spPr>
          <a:xfrm>
            <a:off x="609600" y="1504950"/>
            <a:ext cx="17068800" cy="19050"/>
          </a:xfrm>
          <a:prstGeom prst="rect">
            <a:avLst/>
          </a:prstGeom>
          <a:gradFill rotWithShape="1">
            <a:gsLst>
              <a:gs pos="0">
                <a:srgbClr val="F2A33C">
                  <a:alpha val="100000"/>
                </a:srgbClr>
              </a:gs>
              <a:gs pos="60000">
                <a:srgbClr val="FFFFFF">
                  <a:alpha val="4000"/>
                </a:srgbClr>
              </a:gs>
              <a:gs pos="100000">
                <a:srgbClr val="FFFFFF">
                  <a:alpha val="0"/>
                </a:srgbClr>
              </a:gs>
            </a:gsLst>
            <a:lin ang="0" scaled="0"/>
          </a:gradFill>
          <a:ln/>
        </p:spPr>
        <p:txBody>
          <a:bodyPr/>
          <a:lstStyle/>
          <a:p>
            <a:endParaRPr lang="en-US"/>
          </a:p>
        </p:txBody>
      </p:sp>
      <p:sp>
        <p:nvSpPr>
          <p:cNvPr id="8" name="Text 6"/>
          <p:cNvSpPr/>
          <p:nvPr/>
        </p:nvSpPr>
        <p:spPr>
          <a:xfrm>
            <a:off x="609600" y="3076575"/>
            <a:ext cx="11174254"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DB2C9"/>
                </a:solidFill>
                <a:latin typeface="Arial" pitchFamily="34" charset="0"/>
                <a:ea typeface="Arial" pitchFamily="34" charset="-122"/>
                <a:cs typeface="Arial" pitchFamily="34" charset="-120"/>
              </a:rPr>
              <a:t>XGBoost binary classifier · held-out test set (player-ID split)</a:t>
            </a:r>
            <a:endParaRPr lang="en-US" sz="1500" dirty="0"/>
          </a:p>
        </p:txBody>
      </p:sp>
      <p:sp>
        <p:nvSpPr>
          <p:cNvPr id="9" name="Text 7"/>
          <p:cNvSpPr/>
          <p:nvPr/>
        </p:nvSpPr>
        <p:spPr>
          <a:xfrm>
            <a:off x="2204192" y="3444875"/>
            <a:ext cx="4309372" cy="533400"/>
          </a:xfrm>
          <a:prstGeom prst="rect">
            <a:avLst/>
          </a:prstGeom>
          <a:noFill/>
          <a:ln/>
        </p:spPr>
        <p:txBody>
          <a:bodyPr wrap="square" lIns="25400" tIns="25400" rIns="25400" bIns="25400" rtlCol="0" anchor="ctr">
            <a:normAutofit/>
          </a:bodyPr>
          <a:lstStyle/>
          <a:p>
            <a:pPr marL="0" indent="0" algn="ctr">
              <a:buNone/>
            </a:pPr>
            <a:r>
              <a:rPr lang="en-US" sz="1575" b="1" dirty="0">
                <a:solidFill>
                  <a:srgbClr val="FFFFFF"/>
                </a:solidFill>
                <a:latin typeface="Arial" pitchFamily="34" charset="0"/>
                <a:ea typeface="Arial" pitchFamily="34" charset="-122"/>
                <a:cs typeface="Arial" pitchFamily="34" charset="-120"/>
              </a:rPr>
              <a:t>Predicted Clean</a:t>
            </a:r>
            <a:endParaRPr lang="en-US" sz="1575" dirty="0"/>
          </a:p>
        </p:txBody>
      </p:sp>
      <p:sp>
        <p:nvSpPr>
          <p:cNvPr id="10" name="Text 8"/>
          <p:cNvSpPr/>
          <p:nvPr/>
        </p:nvSpPr>
        <p:spPr>
          <a:xfrm>
            <a:off x="6521398" y="3444875"/>
            <a:ext cx="4309372" cy="533400"/>
          </a:xfrm>
          <a:prstGeom prst="rect">
            <a:avLst/>
          </a:prstGeom>
          <a:noFill/>
          <a:ln/>
        </p:spPr>
        <p:txBody>
          <a:bodyPr wrap="square" lIns="25400" tIns="25400" rIns="25400" bIns="25400" rtlCol="0" anchor="ctr">
            <a:normAutofit/>
          </a:bodyPr>
          <a:lstStyle/>
          <a:p>
            <a:pPr marL="0" indent="0" algn="ctr">
              <a:buNone/>
            </a:pPr>
            <a:r>
              <a:rPr lang="en-US" sz="1575" b="1" dirty="0">
                <a:solidFill>
                  <a:srgbClr val="FFFFFF"/>
                </a:solidFill>
                <a:latin typeface="Arial" pitchFamily="34" charset="0"/>
                <a:ea typeface="Arial" pitchFamily="34" charset="-122"/>
                <a:cs typeface="Arial" pitchFamily="34" charset="-120"/>
              </a:rPr>
              <a:t>Predicted Cheater</a:t>
            </a:r>
            <a:endParaRPr lang="en-US" sz="1575" dirty="0"/>
          </a:p>
        </p:txBody>
      </p:sp>
      <p:sp>
        <p:nvSpPr>
          <p:cNvPr id="11" name="Text 9"/>
          <p:cNvSpPr/>
          <p:nvPr/>
        </p:nvSpPr>
        <p:spPr>
          <a:xfrm>
            <a:off x="533400" y="4073525"/>
            <a:ext cx="1447800" cy="2038350"/>
          </a:xfrm>
          <a:prstGeom prst="rect">
            <a:avLst/>
          </a:prstGeom>
          <a:noFill/>
          <a:ln/>
        </p:spPr>
        <p:txBody>
          <a:bodyPr wrap="square" lIns="25400" tIns="25400" rIns="25400" bIns="25400" rtlCol="0" anchor="ctr">
            <a:normAutofit/>
          </a:bodyPr>
          <a:lstStyle/>
          <a:p>
            <a:pPr marL="0" indent="0" algn="r">
              <a:buNone/>
            </a:pPr>
            <a:r>
              <a:rPr lang="en-US" sz="1575" b="1" dirty="0">
                <a:solidFill>
                  <a:srgbClr val="FFFFFF"/>
                </a:solidFill>
                <a:latin typeface="Arial" pitchFamily="34" charset="0"/>
                <a:ea typeface="Arial" pitchFamily="34" charset="-122"/>
                <a:cs typeface="Arial" pitchFamily="34" charset="-120"/>
              </a:rPr>
              <a:t>Actual Clean</a:t>
            </a:r>
            <a:endParaRPr lang="en-US" sz="1575" dirty="0"/>
          </a:p>
        </p:txBody>
      </p:sp>
      <p:sp>
        <p:nvSpPr>
          <p:cNvPr id="12" name="Shape 10"/>
          <p:cNvSpPr/>
          <p:nvPr/>
        </p:nvSpPr>
        <p:spPr>
          <a:xfrm>
            <a:off x="2266950" y="4073525"/>
            <a:ext cx="4183856" cy="2000250"/>
          </a:xfrm>
          <a:prstGeom prst="roundRect">
            <a:avLst>
              <a:gd name="adj" fmla="val 5714"/>
            </a:avLst>
          </a:prstGeom>
          <a:solidFill>
            <a:srgbClr val="1A3A5C"/>
          </a:solidFill>
          <a:ln/>
        </p:spPr>
        <p:txBody>
          <a:bodyPr/>
          <a:lstStyle/>
          <a:p>
            <a:endParaRPr lang="en-US"/>
          </a:p>
        </p:txBody>
      </p:sp>
      <p:sp>
        <p:nvSpPr>
          <p:cNvPr id="13" name="Text 11"/>
          <p:cNvSpPr/>
          <p:nvPr/>
        </p:nvSpPr>
        <p:spPr>
          <a:xfrm>
            <a:off x="3415506" y="4687888"/>
            <a:ext cx="2075418"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dirty="0">
                <a:solidFill>
                  <a:srgbClr val="FFFFFF"/>
                </a:solidFill>
                <a:latin typeface="Arial" pitchFamily="34" charset="0"/>
                <a:ea typeface="Arial" pitchFamily="34" charset="-122"/>
                <a:cs typeface="Arial" pitchFamily="34" charset="-120"/>
              </a:rPr>
              <a:t>14,230</a:t>
            </a:r>
            <a:endParaRPr lang="en-US" sz="4050" dirty="0"/>
          </a:p>
        </p:txBody>
      </p:sp>
      <p:sp>
        <p:nvSpPr>
          <p:cNvPr id="14" name="Text 12"/>
          <p:cNvSpPr/>
          <p:nvPr/>
        </p:nvSpPr>
        <p:spPr>
          <a:xfrm>
            <a:off x="3823494" y="5268913"/>
            <a:ext cx="1146770" cy="228600"/>
          </a:xfrm>
          <a:prstGeom prst="rect">
            <a:avLst/>
          </a:prstGeom>
          <a:noFill/>
          <a:ln/>
        </p:spPr>
        <p:txBody>
          <a:bodyPr wrap="square" lIns="25400" tIns="25400" rIns="25400" bIns="25400" rtlCol="0" anchor="t">
            <a:normAutofit/>
          </a:bodyPr>
          <a:lstStyle/>
          <a:p>
            <a:pPr marL="0" indent="0" algn="l">
              <a:buNone/>
            </a:pPr>
            <a:r>
              <a:rPr lang="en-US" sz="1350" dirty="0">
                <a:solidFill>
                  <a:srgbClr val="FFFFFF">
                    <a:alpha val="80000"/>
                  </a:srgbClr>
                </a:solidFill>
                <a:latin typeface="Arial" pitchFamily="34" charset="0"/>
                <a:ea typeface="Arial" pitchFamily="34" charset="-122"/>
                <a:cs typeface="Arial" pitchFamily="34" charset="-120"/>
              </a:rPr>
              <a:t>True Negative</a:t>
            </a:r>
            <a:endParaRPr lang="en-US" sz="1350" dirty="0"/>
          </a:p>
        </p:txBody>
      </p:sp>
      <p:sp>
        <p:nvSpPr>
          <p:cNvPr id="15" name="Shape 13"/>
          <p:cNvSpPr/>
          <p:nvPr/>
        </p:nvSpPr>
        <p:spPr>
          <a:xfrm>
            <a:off x="6584156" y="4073525"/>
            <a:ext cx="4183856" cy="2000250"/>
          </a:xfrm>
          <a:prstGeom prst="roundRect">
            <a:avLst>
              <a:gd name="adj" fmla="val 5714"/>
            </a:avLst>
          </a:prstGeom>
          <a:solidFill>
            <a:srgbClr val="5C1A1A"/>
          </a:solidFill>
          <a:ln/>
        </p:spPr>
        <p:txBody>
          <a:bodyPr/>
          <a:lstStyle/>
          <a:p>
            <a:endParaRPr lang="en-US"/>
          </a:p>
        </p:txBody>
      </p:sp>
      <p:sp>
        <p:nvSpPr>
          <p:cNvPr id="16" name="Text 14"/>
          <p:cNvSpPr/>
          <p:nvPr/>
        </p:nvSpPr>
        <p:spPr>
          <a:xfrm>
            <a:off x="7904163" y="4687888"/>
            <a:ext cx="1698010"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dirty="0">
                <a:solidFill>
                  <a:srgbClr val="FFFFFF"/>
                </a:solidFill>
                <a:latin typeface="Arial" pitchFamily="34" charset="0"/>
                <a:ea typeface="Arial" pitchFamily="34" charset="-122"/>
                <a:cs typeface="Arial" pitchFamily="34" charset="-120"/>
              </a:rPr>
              <a:t>2,847</a:t>
            </a:r>
            <a:endParaRPr lang="en-US" sz="4050" dirty="0"/>
          </a:p>
        </p:txBody>
      </p:sp>
      <p:sp>
        <p:nvSpPr>
          <p:cNvPr id="17" name="Text 15"/>
          <p:cNvSpPr/>
          <p:nvPr/>
        </p:nvSpPr>
        <p:spPr>
          <a:xfrm>
            <a:off x="8142288" y="5268913"/>
            <a:ext cx="1143595" cy="228600"/>
          </a:xfrm>
          <a:prstGeom prst="rect">
            <a:avLst/>
          </a:prstGeom>
          <a:noFill/>
          <a:ln/>
        </p:spPr>
        <p:txBody>
          <a:bodyPr wrap="square" lIns="25400" tIns="25400" rIns="25400" bIns="25400" rtlCol="0" anchor="t">
            <a:normAutofit/>
          </a:bodyPr>
          <a:lstStyle/>
          <a:p>
            <a:pPr marL="0" indent="0" algn="l">
              <a:buNone/>
            </a:pPr>
            <a:r>
              <a:rPr lang="en-US" sz="1350" dirty="0">
                <a:solidFill>
                  <a:srgbClr val="FFFFFF">
                    <a:alpha val="80000"/>
                  </a:srgbClr>
                </a:solidFill>
                <a:latin typeface="Arial" pitchFamily="34" charset="0"/>
                <a:ea typeface="Arial" pitchFamily="34" charset="-122"/>
                <a:cs typeface="Arial" pitchFamily="34" charset="-120"/>
              </a:rPr>
              <a:t>False Positive</a:t>
            </a:r>
            <a:endParaRPr lang="en-US" sz="1350" dirty="0"/>
          </a:p>
        </p:txBody>
      </p:sp>
      <p:sp>
        <p:nvSpPr>
          <p:cNvPr id="18" name="Text 16"/>
          <p:cNvSpPr/>
          <p:nvPr/>
        </p:nvSpPr>
        <p:spPr>
          <a:xfrm>
            <a:off x="533400" y="6207125"/>
            <a:ext cx="1447800" cy="2038350"/>
          </a:xfrm>
          <a:prstGeom prst="rect">
            <a:avLst/>
          </a:prstGeom>
          <a:noFill/>
          <a:ln/>
        </p:spPr>
        <p:txBody>
          <a:bodyPr wrap="square" lIns="25400" tIns="25400" rIns="25400" bIns="25400" rtlCol="0" anchor="ctr">
            <a:normAutofit/>
          </a:bodyPr>
          <a:lstStyle/>
          <a:p>
            <a:pPr marL="0" indent="0" algn="r">
              <a:buNone/>
            </a:pPr>
            <a:r>
              <a:rPr lang="en-US" sz="1575" b="1" dirty="0">
                <a:solidFill>
                  <a:srgbClr val="FFFFFF"/>
                </a:solidFill>
                <a:latin typeface="Arial" pitchFamily="34" charset="0"/>
                <a:ea typeface="Arial" pitchFamily="34" charset="-122"/>
                <a:cs typeface="Arial" pitchFamily="34" charset="-120"/>
              </a:rPr>
              <a:t>Actual Cheater</a:t>
            </a:r>
            <a:endParaRPr lang="en-US" sz="1575" dirty="0"/>
          </a:p>
        </p:txBody>
      </p:sp>
      <p:sp>
        <p:nvSpPr>
          <p:cNvPr id="19" name="Shape 17"/>
          <p:cNvSpPr/>
          <p:nvPr/>
        </p:nvSpPr>
        <p:spPr>
          <a:xfrm>
            <a:off x="2266950" y="6207125"/>
            <a:ext cx="4183856" cy="2000250"/>
          </a:xfrm>
          <a:prstGeom prst="roundRect">
            <a:avLst>
              <a:gd name="adj" fmla="val 5714"/>
            </a:avLst>
          </a:prstGeom>
          <a:solidFill>
            <a:srgbClr val="5C1A1A"/>
          </a:solidFill>
          <a:ln/>
        </p:spPr>
        <p:txBody>
          <a:bodyPr/>
          <a:lstStyle/>
          <a:p>
            <a:endParaRPr lang="en-US"/>
          </a:p>
        </p:txBody>
      </p:sp>
      <p:sp>
        <p:nvSpPr>
          <p:cNvPr id="20" name="Text 18"/>
          <p:cNvSpPr/>
          <p:nvPr/>
        </p:nvSpPr>
        <p:spPr>
          <a:xfrm>
            <a:off x="3586956" y="6821488"/>
            <a:ext cx="1698010"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dirty="0">
                <a:solidFill>
                  <a:srgbClr val="FFFFFF"/>
                </a:solidFill>
                <a:latin typeface="Arial" pitchFamily="34" charset="0"/>
                <a:ea typeface="Arial" pitchFamily="34" charset="-122"/>
                <a:cs typeface="Arial" pitchFamily="34" charset="-120"/>
              </a:rPr>
              <a:t>2,105</a:t>
            </a:r>
            <a:endParaRPr lang="en-US" sz="4050" dirty="0"/>
          </a:p>
        </p:txBody>
      </p:sp>
      <p:sp>
        <p:nvSpPr>
          <p:cNvPr id="21" name="Text 19"/>
          <p:cNvSpPr/>
          <p:nvPr/>
        </p:nvSpPr>
        <p:spPr>
          <a:xfrm>
            <a:off x="3786981" y="7402513"/>
            <a:ext cx="1219795" cy="228600"/>
          </a:xfrm>
          <a:prstGeom prst="rect">
            <a:avLst/>
          </a:prstGeom>
          <a:noFill/>
          <a:ln/>
        </p:spPr>
        <p:txBody>
          <a:bodyPr wrap="square" lIns="25400" tIns="25400" rIns="25400" bIns="25400" rtlCol="0" anchor="t">
            <a:normAutofit/>
          </a:bodyPr>
          <a:lstStyle/>
          <a:p>
            <a:pPr marL="0" indent="0" algn="l">
              <a:buNone/>
            </a:pPr>
            <a:r>
              <a:rPr lang="en-US" sz="1350" dirty="0">
                <a:solidFill>
                  <a:srgbClr val="FFFFFF">
                    <a:alpha val="80000"/>
                  </a:srgbClr>
                </a:solidFill>
                <a:latin typeface="Arial" pitchFamily="34" charset="0"/>
                <a:ea typeface="Arial" pitchFamily="34" charset="-122"/>
                <a:cs typeface="Arial" pitchFamily="34" charset="-120"/>
              </a:rPr>
              <a:t>False Negative</a:t>
            </a:r>
            <a:endParaRPr lang="en-US" sz="1350" dirty="0"/>
          </a:p>
        </p:txBody>
      </p:sp>
      <p:sp>
        <p:nvSpPr>
          <p:cNvPr id="22" name="Shape 20"/>
          <p:cNvSpPr/>
          <p:nvPr/>
        </p:nvSpPr>
        <p:spPr>
          <a:xfrm>
            <a:off x="6584156" y="6207125"/>
            <a:ext cx="4183856" cy="2000250"/>
          </a:xfrm>
          <a:prstGeom prst="roundRect">
            <a:avLst>
              <a:gd name="adj" fmla="val 5714"/>
            </a:avLst>
          </a:prstGeom>
          <a:solidFill>
            <a:srgbClr val="1A5C3A"/>
          </a:solidFill>
          <a:ln/>
        </p:spPr>
        <p:txBody>
          <a:bodyPr/>
          <a:lstStyle/>
          <a:p>
            <a:endParaRPr lang="en-US"/>
          </a:p>
        </p:txBody>
      </p:sp>
      <p:sp>
        <p:nvSpPr>
          <p:cNvPr id="23" name="Text 21"/>
          <p:cNvSpPr/>
          <p:nvPr/>
        </p:nvSpPr>
        <p:spPr>
          <a:xfrm>
            <a:off x="7732713" y="6821488"/>
            <a:ext cx="2075418"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dirty="0">
                <a:solidFill>
                  <a:srgbClr val="FFFFFF"/>
                </a:solidFill>
                <a:latin typeface="Arial" pitchFamily="34" charset="0"/>
                <a:ea typeface="Arial" pitchFamily="34" charset="-122"/>
                <a:cs typeface="Arial" pitchFamily="34" charset="-120"/>
              </a:rPr>
              <a:t>15,818</a:t>
            </a:r>
            <a:endParaRPr lang="en-US" sz="4050" dirty="0"/>
          </a:p>
        </p:txBody>
      </p:sp>
      <p:sp>
        <p:nvSpPr>
          <p:cNvPr id="24" name="Text 22"/>
          <p:cNvSpPr/>
          <p:nvPr/>
        </p:nvSpPr>
        <p:spPr>
          <a:xfrm>
            <a:off x="8178998" y="7402513"/>
            <a:ext cx="1070372" cy="228600"/>
          </a:xfrm>
          <a:prstGeom prst="rect">
            <a:avLst/>
          </a:prstGeom>
          <a:noFill/>
          <a:ln/>
        </p:spPr>
        <p:txBody>
          <a:bodyPr wrap="square" lIns="25400" tIns="25400" rIns="25400" bIns="25400" rtlCol="0" anchor="t">
            <a:normAutofit/>
          </a:bodyPr>
          <a:lstStyle/>
          <a:p>
            <a:pPr marL="0" indent="0" algn="l">
              <a:buNone/>
            </a:pPr>
            <a:r>
              <a:rPr lang="en-US" sz="1350" dirty="0">
                <a:solidFill>
                  <a:srgbClr val="FFFFFF">
                    <a:alpha val="80000"/>
                  </a:srgbClr>
                </a:solidFill>
                <a:latin typeface="Arial" pitchFamily="34" charset="0"/>
                <a:ea typeface="Arial" pitchFamily="34" charset="-122"/>
                <a:cs typeface="Arial" pitchFamily="34" charset="-120"/>
              </a:rPr>
              <a:t>True Positive</a:t>
            </a:r>
            <a:endParaRPr lang="en-US" sz="1350" dirty="0"/>
          </a:p>
        </p:txBody>
      </p:sp>
      <p:sp>
        <p:nvSpPr>
          <p:cNvPr id="25" name="Text 23"/>
          <p:cNvSpPr/>
          <p:nvPr/>
        </p:nvSpPr>
        <p:spPr>
          <a:xfrm>
            <a:off x="11339513" y="3287713"/>
            <a:ext cx="6972776"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dirty="0">
                <a:solidFill>
                  <a:srgbClr val="FFFFFF"/>
                </a:solidFill>
                <a:latin typeface="Arial" pitchFamily="34" charset="0"/>
                <a:ea typeface="Arial" pitchFamily="34" charset="-122"/>
                <a:cs typeface="Arial" pitchFamily="34" charset="-120"/>
              </a:rPr>
              <a:t>85.9%</a:t>
            </a:r>
            <a:endParaRPr lang="en-US" sz="4050" dirty="0"/>
          </a:p>
        </p:txBody>
      </p:sp>
      <p:sp>
        <p:nvSpPr>
          <p:cNvPr id="26" name="Text 24"/>
          <p:cNvSpPr/>
          <p:nvPr/>
        </p:nvSpPr>
        <p:spPr>
          <a:xfrm>
            <a:off x="11339513" y="3830638"/>
            <a:ext cx="6972776"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DB2C9"/>
                </a:solidFill>
                <a:latin typeface="Arial" pitchFamily="34" charset="0"/>
                <a:ea typeface="Arial" pitchFamily="34" charset="-122"/>
                <a:cs typeface="Arial" pitchFamily="34" charset="-120"/>
              </a:rPr>
              <a:t>XGBoost Accuracy</a:t>
            </a:r>
            <a:endParaRPr lang="en-US" sz="1500" dirty="0"/>
          </a:p>
        </p:txBody>
      </p:sp>
      <p:sp>
        <p:nvSpPr>
          <p:cNvPr id="27" name="Text 25"/>
          <p:cNvSpPr/>
          <p:nvPr/>
        </p:nvSpPr>
        <p:spPr>
          <a:xfrm>
            <a:off x="11339513" y="4275138"/>
            <a:ext cx="6972776"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dirty="0">
                <a:solidFill>
                  <a:srgbClr val="FFFFFF"/>
                </a:solidFill>
                <a:latin typeface="Arial" pitchFamily="34" charset="0"/>
                <a:ea typeface="Arial" pitchFamily="34" charset="-122"/>
                <a:cs typeface="Arial" pitchFamily="34" charset="-120"/>
              </a:rPr>
              <a:t>85.1%</a:t>
            </a:r>
            <a:endParaRPr lang="en-US" sz="4050" dirty="0"/>
          </a:p>
        </p:txBody>
      </p:sp>
      <p:sp>
        <p:nvSpPr>
          <p:cNvPr id="28" name="Text 26"/>
          <p:cNvSpPr/>
          <p:nvPr/>
        </p:nvSpPr>
        <p:spPr>
          <a:xfrm>
            <a:off x="11339513" y="4818063"/>
            <a:ext cx="6972776"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DB2C9"/>
                </a:solidFill>
                <a:latin typeface="Arial" pitchFamily="34" charset="0"/>
                <a:ea typeface="Arial" pitchFamily="34" charset="-122"/>
                <a:cs typeface="Arial" pitchFamily="34" charset="-120"/>
              </a:rPr>
              <a:t>Weighted F1 Score</a:t>
            </a:r>
            <a:endParaRPr lang="en-US" sz="1500" dirty="0"/>
          </a:p>
        </p:txBody>
      </p:sp>
      <p:sp>
        <p:nvSpPr>
          <p:cNvPr id="29" name="Text 27"/>
          <p:cNvSpPr/>
          <p:nvPr/>
        </p:nvSpPr>
        <p:spPr>
          <a:xfrm>
            <a:off x="11339513" y="5262563"/>
            <a:ext cx="6972776"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dirty="0">
                <a:solidFill>
                  <a:srgbClr val="FFFFFF"/>
                </a:solidFill>
                <a:latin typeface="Arial" pitchFamily="34" charset="0"/>
                <a:ea typeface="Arial" pitchFamily="34" charset="-122"/>
                <a:cs typeface="Arial" pitchFamily="34" charset="-120"/>
              </a:rPr>
              <a:t>88.3%</a:t>
            </a:r>
            <a:endParaRPr lang="en-US" sz="4050" dirty="0"/>
          </a:p>
        </p:txBody>
      </p:sp>
      <p:sp>
        <p:nvSpPr>
          <p:cNvPr id="30" name="Text 28"/>
          <p:cNvSpPr/>
          <p:nvPr/>
        </p:nvSpPr>
        <p:spPr>
          <a:xfrm>
            <a:off x="11339513" y="5805488"/>
            <a:ext cx="6972776"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DB2C9"/>
                </a:solidFill>
                <a:latin typeface="Arial" pitchFamily="34" charset="0"/>
                <a:ea typeface="Arial" pitchFamily="34" charset="-122"/>
                <a:cs typeface="Arial" pitchFamily="34" charset="-120"/>
              </a:rPr>
              <a:t>Cheater Recall</a:t>
            </a:r>
            <a:endParaRPr lang="en-US" sz="1500" dirty="0"/>
          </a:p>
        </p:txBody>
      </p:sp>
      <p:sp>
        <p:nvSpPr>
          <p:cNvPr id="31" name="Text 29"/>
          <p:cNvSpPr/>
          <p:nvPr/>
        </p:nvSpPr>
        <p:spPr>
          <a:xfrm>
            <a:off x="11339513" y="6249988"/>
            <a:ext cx="6972776"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dirty="0">
                <a:solidFill>
                  <a:srgbClr val="FFFFFF"/>
                </a:solidFill>
                <a:latin typeface="Arial" pitchFamily="34" charset="0"/>
                <a:ea typeface="Arial" pitchFamily="34" charset="-122"/>
                <a:cs typeface="Arial" pitchFamily="34" charset="-120"/>
              </a:rPr>
              <a:t>83.3%</a:t>
            </a:r>
            <a:endParaRPr lang="en-US" sz="4050" dirty="0"/>
          </a:p>
        </p:txBody>
      </p:sp>
      <p:sp>
        <p:nvSpPr>
          <p:cNvPr id="32" name="Text 30"/>
          <p:cNvSpPr/>
          <p:nvPr/>
        </p:nvSpPr>
        <p:spPr>
          <a:xfrm>
            <a:off x="11339513" y="6792913"/>
            <a:ext cx="6972776"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DB2C9"/>
                </a:solidFill>
                <a:latin typeface="Arial" pitchFamily="34" charset="0"/>
                <a:ea typeface="Arial" pitchFamily="34" charset="-122"/>
                <a:cs typeface="Arial" pitchFamily="34" charset="-120"/>
              </a:rPr>
              <a:t>Clean Precision</a:t>
            </a:r>
            <a:endParaRPr lang="en-US" sz="1500" dirty="0"/>
          </a:p>
        </p:txBody>
      </p:sp>
      <p:sp>
        <p:nvSpPr>
          <p:cNvPr id="33" name="Text 31"/>
          <p:cNvSpPr/>
          <p:nvPr/>
        </p:nvSpPr>
        <p:spPr>
          <a:xfrm>
            <a:off x="11339513" y="7237413"/>
            <a:ext cx="6972776"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dirty="0">
                <a:solidFill>
                  <a:srgbClr val="5BD39A"/>
                </a:solidFill>
                <a:latin typeface="Arial" pitchFamily="34" charset="0"/>
                <a:ea typeface="Arial" pitchFamily="34" charset="-122"/>
                <a:cs typeface="Arial" pitchFamily="34" charset="-120"/>
              </a:rPr>
              <a:t>0%</a:t>
            </a:r>
            <a:endParaRPr lang="en-US" sz="4050" dirty="0"/>
          </a:p>
        </p:txBody>
      </p:sp>
      <p:sp>
        <p:nvSpPr>
          <p:cNvPr id="34" name="Text 32"/>
          <p:cNvSpPr/>
          <p:nvPr/>
        </p:nvSpPr>
        <p:spPr>
          <a:xfrm>
            <a:off x="11339513" y="7780338"/>
            <a:ext cx="6972776"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DB2C9"/>
                </a:solidFill>
                <a:latin typeface="Arial" pitchFamily="34" charset="0"/>
                <a:ea typeface="Arial" pitchFamily="34" charset="-122"/>
                <a:cs typeface="Arial" pitchFamily="34" charset="-120"/>
              </a:rPr>
              <a:t>Rule Engine FP Rate</a:t>
            </a:r>
            <a:endParaRPr lang="en-US" sz="1500" dirty="0"/>
          </a:p>
        </p:txBody>
      </p:sp>
      <p:sp>
        <p:nvSpPr>
          <p:cNvPr id="35" name="Shape 33"/>
          <p:cNvSpPr/>
          <p:nvPr/>
        </p:nvSpPr>
        <p:spPr>
          <a:xfrm>
            <a:off x="0" y="9779001"/>
            <a:ext cx="18288000" cy="12700"/>
          </a:xfrm>
          <a:prstGeom prst="rect">
            <a:avLst/>
          </a:prstGeom>
          <a:solidFill>
            <a:srgbClr val="FFFFFF">
              <a:alpha val="8000"/>
            </a:srgbClr>
          </a:solidFill>
          <a:ln/>
        </p:spPr>
        <p:txBody>
          <a:bodyPr/>
          <a:lstStyle/>
          <a:p>
            <a:endParaRPr lang="en-US"/>
          </a:p>
        </p:txBody>
      </p:sp>
      <p:sp>
        <p:nvSpPr>
          <p:cNvPr id="36" name="Text 34"/>
          <p:cNvSpPr/>
          <p:nvPr/>
        </p:nvSpPr>
        <p:spPr>
          <a:xfrm>
            <a:off x="6096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37" name="Text 35"/>
          <p:cNvSpPr/>
          <p:nvPr/>
        </p:nvSpPr>
        <p:spPr>
          <a:xfrm>
            <a:off x="171831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17 / 18</a:t>
            </a:r>
            <a:endParaRPr lang="en-US" sz="12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10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FFFF">
                  <a:alpha val="2000"/>
                </a:srgbClr>
              </a:gs>
              <a:gs pos="100000">
                <a:srgbClr val="FFFFFF">
                  <a:alpha val="0"/>
                </a:srgbClr>
              </a:gs>
            </a:gsLst>
            <a:lin ang="5400000" scaled="0"/>
          </a:gradFill>
          <a:ln/>
        </p:spPr>
        <p:txBody>
          <a:bodyPr/>
          <a:lstStyle/>
          <a:p>
            <a:endParaRPr/>
          </a:p>
        </p:txBody>
      </p:sp>
      <p:sp>
        <p:nvSpPr>
          <p:cNvPr id="3" name="Shape 1"/>
          <p:cNvSpPr/>
          <p:nvPr/>
        </p:nvSpPr>
        <p:spPr>
          <a:xfrm>
            <a:off x="609600" y="411163"/>
            <a:ext cx="104775" cy="104775"/>
          </a:xfrm>
          <a:prstGeom prst="roundRect">
            <a:avLst>
              <a:gd name="adj" fmla="val 18182"/>
            </a:avLst>
          </a:prstGeom>
          <a:solidFill>
            <a:srgbClr val="3B8EE6"/>
          </a:solidFill>
          <a:ln/>
          <a:effectLst>
            <a:outerShdw blurRad="133350" dist="50800" dir="16200000" algn="bl" rotWithShape="0">
              <a:srgbClr val="3B8EE6">
                <a:alpha val="100000"/>
              </a:srgbClr>
            </a:outerShdw>
          </a:effectLst>
        </p:spPr>
        <p:txBody>
          <a:bodyPr/>
          <a:lstStyle/>
          <a:p>
            <a:endParaRPr/>
          </a:p>
        </p:txBody>
      </p:sp>
      <p:sp>
        <p:nvSpPr>
          <p:cNvPr id="4" name="Text 2"/>
          <p:cNvSpPr/>
          <p:nvPr/>
        </p:nvSpPr>
        <p:spPr>
          <a:xfrm>
            <a:off x="828675" y="323850"/>
            <a:ext cx="1492607" cy="317500"/>
          </a:xfrm>
          <a:prstGeom prst="rect">
            <a:avLst/>
          </a:prstGeom>
          <a:noFill/>
          <a:ln/>
        </p:spPr>
        <p:txBody>
          <a:bodyPr wrap="square" lIns="25400" tIns="25400" rIns="25400" bIns="25400" rtlCol="0" anchor="t">
            <a:normAutofit/>
          </a:bodyPr>
          <a:lstStyle/>
          <a:p>
            <a:pPr marL="0" indent="0" algn="l">
              <a:buNone/>
            </a:pPr>
            <a:r>
              <a:rPr lang="en-US" sz="1500" b="1" kern="0" spc="263" dirty="0">
                <a:solidFill>
                  <a:srgbClr val="6FB3F2"/>
                </a:solidFill>
                <a:latin typeface="Arial" pitchFamily="34" charset="0"/>
                <a:ea typeface="Arial" pitchFamily="34" charset="-122"/>
                <a:cs typeface="Arial" pitchFamily="34" charset="-120"/>
              </a:rPr>
              <a:t>APPENDIX</a:t>
            </a:r>
            <a:endParaRPr lang="en-US" sz="1500" dirty="0"/>
          </a:p>
        </p:txBody>
      </p:sp>
      <p:sp>
        <p:nvSpPr>
          <p:cNvPr id="5" name="Text 3"/>
          <p:cNvSpPr/>
          <p:nvPr/>
        </p:nvSpPr>
        <p:spPr>
          <a:xfrm>
            <a:off x="609600" y="708025"/>
            <a:ext cx="3454301" cy="552450"/>
          </a:xfrm>
          <a:prstGeom prst="rect">
            <a:avLst/>
          </a:prstGeom>
          <a:noFill/>
          <a:ln/>
        </p:spPr>
        <p:txBody>
          <a:bodyPr wrap="square" lIns="25400" tIns="25400" rIns="25400" bIns="25400" rtlCol="0" anchor="t">
            <a:normAutofit/>
          </a:bodyPr>
          <a:lstStyle/>
          <a:p>
            <a:pPr marL="0" indent="0" algn="l">
              <a:lnSpc>
                <a:spcPct val="100000"/>
              </a:lnSpc>
              <a:buNone/>
            </a:pPr>
            <a:r>
              <a:rPr lang="en-US" sz="4050" b="1" kern="0" spc="-37" dirty="0">
                <a:solidFill>
                  <a:srgbClr val="FFFFFF"/>
                </a:solidFill>
                <a:latin typeface="Arial" pitchFamily="34" charset="0"/>
                <a:ea typeface="Arial" pitchFamily="34" charset="-122"/>
                <a:cs typeface="Arial" pitchFamily="34" charset="-120"/>
              </a:rPr>
              <a:t>References</a:t>
            </a:r>
            <a:endParaRPr lang="en-US" sz="4050" dirty="0"/>
          </a:p>
        </p:txBody>
      </p:sp>
      <p:sp>
        <p:nvSpPr>
          <p:cNvPr id="6" name="Text 4"/>
          <p:cNvSpPr/>
          <p:nvPr/>
        </p:nvSpPr>
        <p:spPr>
          <a:xfrm>
            <a:off x="15886708" y="323850"/>
            <a:ext cx="1970861" cy="1066800"/>
          </a:xfrm>
          <a:prstGeom prst="rect">
            <a:avLst/>
          </a:prstGeom>
          <a:noFill/>
          <a:ln/>
        </p:spPr>
        <p:txBody>
          <a:bodyPr wrap="square" lIns="25400" tIns="25400" rIns="25400" bIns="25400" rtlCol="0" anchor="t">
            <a:normAutofit/>
          </a:bodyPr>
          <a:lstStyle/>
          <a:p>
            <a:pPr marL="0" indent="0" algn="l">
              <a:lnSpc>
                <a:spcPct val="72000"/>
              </a:lnSpc>
              <a:buNone/>
            </a:pPr>
            <a:r>
              <a:rPr lang="en-US" sz="11250" b="1" kern="0" spc="-450" dirty="0">
                <a:solidFill>
                  <a:srgbClr val="FFFFFF">
                    <a:alpha val="5000"/>
                  </a:srgbClr>
                </a:solidFill>
                <a:latin typeface="Arial" pitchFamily="34" charset="0"/>
                <a:ea typeface="Arial" pitchFamily="34" charset="-122"/>
                <a:cs typeface="Arial" pitchFamily="34" charset="-120"/>
              </a:rPr>
              <a:t>18</a:t>
            </a:r>
            <a:endParaRPr lang="en-US" sz="11250" dirty="0"/>
          </a:p>
        </p:txBody>
      </p:sp>
      <p:sp>
        <p:nvSpPr>
          <p:cNvPr id="7" name="Shape 5"/>
          <p:cNvSpPr/>
          <p:nvPr/>
        </p:nvSpPr>
        <p:spPr>
          <a:xfrm>
            <a:off x="609600" y="1504950"/>
            <a:ext cx="17068800" cy="19050"/>
          </a:xfrm>
          <a:prstGeom prst="rect">
            <a:avLst/>
          </a:prstGeom>
          <a:gradFill rotWithShape="1">
            <a:gsLst>
              <a:gs pos="0">
                <a:srgbClr val="3B8EE6">
                  <a:alpha val="100000"/>
                </a:srgbClr>
              </a:gs>
              <a:gs pos="60000">
                <a:srgbClr val="FFFFFF">
                  <a:alpha val="4000"/>
                </a:srgbClr>
              </a:gs>
              <a:gs pos="100000">
                <a:srgbClr val="FFFFFF">
                  <a:alpha val="0"/>
                </a:srgbClr>
              </a:gs>
            </a:gsLst>
            <a:lin ang="0" scaled="0"/>
          </a:gradFill>
          <a:ln/>
        </p:spPr>
        <p:txBody>
          <a:bodyPr/>
          <a:lstStyle/>
          <a:p>
            <a:endParaRPr/>
          </a:p>
        </p:txBody>
      </p:sp>
      <p:sp>
        <p:nvSpPr>
          <p:cNvPr id="8" name="Text 6"/>
          <p:cNvSpPr/>
          <p:nvPr/>
        </p:nvSpPr>
        <p:spPr>
          <a:xfrm>
            <a:off x="914400" y="1645920"/>
            <a:ext cx="16459200" cy="7772400"/>
          </a:xfrm>
          <a:prstGeom prst="rect">
            <a:avLst/>
          </a:prstGeom>
          <a:noFill/>
          <a:ln/>
        </p:spPr>
        <p:txBody>
          <a:bodyPr wrap="square" lIns="25400" tIns="25400" rIns="25400" bIns="25400" rtlCol="0" anchor="t">
            <a:normAutofit/>
          </a:bodyPr>
          <a:lstStyle/>
          <a:p>
            <a:pPr>
              <a:spcAft>
                <a:spcPts val="600"/>
              </a:spcAft>
            </a:pPr>
            <a:r>
              <a:rPr sz="1600" b="1">
                <a:solidFill>
                  <a:srgbClr val="4A9EFF"/>
                </a:solidFill>
              </a:rPr>
              <a:t>[1]  </a:t>
            </a:r>
            <a:r>
              <a:rPr sz="1600">
                <a:solidFill>
                  <a:srgbClr val="CCCCCC"/>
                </a:solidFill>
              </a:rPr>
              <a:t>Valve Corporation, "Valve Anti-Cheat (VAC) System," Valve Developer Community, 2023.</a:t>
            </a:r>
          </a:p>
          <a:p>
            <a:pPr>
              <a:spcAft>
                <a:spcPts val="600"/>
              </a:spcAft>
            </a:pPr>
            <a:r>
              <a:rPr sz="1600" b="1">
                <a:solidFill>
                  <a:srgbClr val="4A9EFF"/>
                </a:solidFill>
              </a:rPr>
              <a:t>[2]  </a:t>
            </a:r>
            <a:r>
              <a:rPr sz="1600">
                <a:solidFill>
                  <a:srgbClr val="CCCCCC"/>
                </a:solidFill>
              </a:rPr>
              <a:t>Dorner et al., "CS2CD: A Large-Scale Dataset for CS2 Cheat Detection," HuggingFace, 2024.</a:t>
            </a:r>
          </a:p>
          <a:p>
            <a:pPr>
              <a:spcAft>
                <a:spcPts val="600"/>
              </a:spcAft>
            </a:pPr>
            <a:r>
              <a:rPr sz="1600" b="1">
                <a:solidFill>
                  <a:srgbClr val="4A9EFF"/>
                </a:solidFill>
              </a:rPr>
              <a:t>[3]  </a:t>
            </a:r>
            <a:r>
              <a:rPr sz="1600">
                <a:solidFill>
                  <a:srgbClr val="CCCCCC"/>
                </a:solidFill>
              </a:rPr>
              <a:t>Bhatt et al., "Cheat Detection in Competitive Online Games Using ML," Proc. IEEE ICMLA, 2021.</a:t>
            </a:r>
          </a:p>
          <a:p>
            <a:pPr>
              <a:spcAft>
                <a:spcPts val="600"/>
              </a:spcAft>
            </a:pPr>
            <a:r>
              <a:rPr sz="1600" b="1">
                <a:solidFill>
                  <a:srgbClr val="4A9EFF"/>
                </a:solidFill>
              </a:rPr>
              <a:t>[4]  </a:t>
            </a:r>
            <a:r>
              <a:rPr sz="1600">
                <a:solidFill>
                  <a:srgbClr val="CCCCCC"/>
                </a:solidFill>
              </a:rPr>
              <a:t>Sifa et al., "The Playtime Principle," Proc. IEEE CIG, 2014.</a:t>
            </a:r>
          </a:p>
          <a:p>
            <a:pPr>
              <a:spcAft>
                <a:spcPts val="600"/>
              </a:spcAft>
            </a:pPr>
            <a:r>
              <a:rPr sz="1600" b="1">
                <a:solidFill>
                  <a:srgbClr val="4A9EFF"/>
                </a:solidFill>
              </a:rPr>
              <a:t>[5]  </a:t>
            </a:r>
            <a:r>
              <a:rPr sz="1600">
                <a:solidFill>
                  <a:srgbClr val="CCCCCC"/>
                </a:solidFill>
              </a:rPr>
              <a:t>Lopes et al., "AntiCheatPT: Transformer-Based Cheat Detection for CS2," IEEE Big Data, 2025.</a:t>
            </a:r>
          </a:p>
          <a:p>
            <a:pPr>
              <a:spcAft>
                <a:spcPts val="600"/>
              </a:spcAft>
            </a:pPr>
            <a:r>
              <a:rPr sz="1600" b="1">
                <a:solidFill>
                  <a:srgbClr val="4A9EFF"/>
                </a:solidFill>
              </a:rPr>
              <a:t>[6]  </a:t>
            </a:r>
            <a:r>
              <a:rPr sz="1600">
                <a:solidFill>
                  <a:srgbClr val="CCCCCC"/>
                </a:solidFill>
              </a:rPr>
              <a:t>Malhotra et al., "LSTM Networks for Anomaly Detection in Time Series," ESANN, 2015.</a:t>
            </a:r>
          </a:p>
          <a:p>
            <a:pPr>
              <a:spcAft>
                <a:spcPts val="600"/>
              </a:spcAft>
            </a:pPr>
            <a:r>
              <a:rPr sz="1600" b="1">
                <a:solidFill>
                  <a:srgbClr val="4A9EFF"/>
                </a:solidFill>
              </a:rPr>
              <a:t>[7]  </a:t>
            </a:r>
            <a:r>
              <a:rPr sz="1600">
                <a:solidFill>
                  <a:srgbClr val="CCCCCC"/>
                </a:solidFill>
              </a:rPr>
              <a:t>Chen &amp; Guestrin, "XGBoost: A Scalable Tree Boosting System," ACM KDD, 2016.</a:t>
            </a:r>
          </a:p>
          <a:p>
            <a:pPr>
              <a:spcAft>
                <a:spcPts val="600"/>
              </a:spcAft>
            </a:pPr>
            <a:r>
              <a:rPr sz="1600" b="1">
                <a:solidFill>
                  <a:srgbClr val="4A9EFF"/>
                </a:solidFill>
              </a:rPr>
              <a:t>[8]  </a:t>
            </a:r>
            <a:r>
              <a:rPr sz="1600">
                <a:solidFill>
                  <a:srgbClr val="CCCCCC"/>
                </a:solidFill>
              </a:rPr>
              <a:t>Apache Software Foundation, "Apache Kafka 3.7 Documentation," 2024.</a:t>
            </a:r>
          </a:p>
          <a:p>
            <a:pPr>
              <a:spcAft>
                <a:spcPts val="600"/>
              </a:spcAft>
            </a:pPr>
            <a:r>
              <a:rPr sz="1600" b="1">
                <a:solidFill>
                  <a:srgbClr val="4A9EFF"/>
                </a:solidFill>
              </a:rPr>
              <a:t>[9]  </a:t>
            </a:r>
            <a:r>
              <a:rPr sz="1600">
                <a:solidFill>
                  <a:srgbClr val="CCCCCC"/>
                </a:solidFill>
              </a:rPr>
              <a:t>Grinsztajn et al., "Why Tree-Based Models Outperform Deep Learning on Tabular Data," NeurIPS, 2022.</a:t>
            </a:r>
          </a:p>
          <a:p>
            <a:pPr>
              <a:spcAft>
                <a:spcPts val="600"/>
              </a:spcAft>
            </a:pPr>
            <a:r>
              <a:rPr sz="1600" b="1">
                <a:solidFill>
                  <a:srgbClr val="4A9EFF"/>
                </a:solidFill>
              </a:rPr>
              <a:t>[10]  </a:t>
            </a:r>
            <a:r>
              <a:rPr sz="1600">
                <a:solidFill>
                  <a:srgbClr val="CCCCCC"/>
                </a:solidFill>
              </a:rPr>
              <a:t>Pham et al., "Real-Time IoT Stream Processing with Kafka," IEEE IoT Journal, 2023.</a:t>
            </a:r>
          </a:p>
          <a:p>
            <a:pPr>
              <a:spcAft>
                <a:spcPts val="600"/>
              </a:spcAft>
            </a:pPr>
            <a:r>
              <a:rPr sz="1600" b="1">
                <a:solidFill>
                  <a:srgbClr val="4A9EFF"/>
                </a:solidFill>
              </a:rPr>
              <a:t>[11]  </a:t>
            </a:r>
            <a:r>
              <a:rPr sz="1600">
                <a:solidFill>
                  <a:srgbClr val="CCCCCC"/>
                </a:solidFill>
              </a:rPr>
              <a:t>Karpathy, "The Unreasonable Effectiveness of Recurrent Neural Networks," 2015.</a:t>
            </a:r>
          </a:p>
          <a:p>
            <a:pPr>
              <a:spcAft>
                <a:spcPts val="600"/>
              </a:spcAft>
            </a:pPr>
            <a:r>
              <a:rPr sz="1600" b="1">
                <a:solidFill>
                  <a:srgbClr val="4A9EFF"/>
                </a:solidFill>
              </a:rPr>
              <a:t>[12]  </a:t>
            </a:r>
            <a:r>
              <a:rPr sz="1600">
                <a:solidFill>
                  <a:srgbClr val="CCCCCC"/>
                </a:solidFill>
              </a:rPr>
              <a:t>Hochreiter &amp; Schmidhuber, "Long Short-Term Memory," Neural Computation, 1997.</a:t>
            </a:r>
          </a:p>
          <a:p>
            <a:pPr>
              <a:spcAft>
                <a:spcPts val="600"/>
              </a:spcAft>
            </a:pPr>
            <a:r>
              <a:rPr sz="1600" b="1">
                <a:solidFill>
                  <a:srgbClr val="4A9EFF"/>
                </a:solidFill>
              </a:rPr>
              <a:t>[13]  </a:t>
            </a:r>
            <a:r>
              <a:rPr sz="1600">
                <a:solidFill>
                  <a:srgbClr val="CCCCCC"/>
                </a:solidFill>
              </a:rPr>
              <a:t>Prometheus Authors, "Prometheus Monitoring System," prometheus.io, 2024.</a:t>
            </a:r>
          </a:p>
          <a:p>
            <a:pPr>
              <a:spcAft>
                <a:spcPts val="600"/>
              </a:spcAft>
            </a:pPr>
            <a:r>
              <a:rPr sz="1600" b="1">
                <a:solidFill>
                  <a:srgbClr val="4A9EFF"/>
                </a:solidFill>
              </a:rPr>
              <a:t>[14]  </a:t>
            </a:r>
            <a:r>
              <a:rPr sz="1600">
                <a:solidFill>
                  <a:srgbClr val="CCCCCC"/>
                </a:solidFill>
              </a:rPr>
              <a:t>Bonner &amp; Kureshi, "Game Telemetry as IoT Data Streams," IEEE Access, 2024.</a:t>
            </a:r>
          </a:p>
          <a:p>
            <a:pPr>
              <a:spcAft>
                <a:spcPts val="600"/>
              </a:spcAft>
            </a:pPr>
            <a:r>
              <a:rPr sz="1600" b="1">
                <a:solidFill>
                  <a:srgbClr val="4A9EFF"/>
                </a:solidFill>
              </a:rPr>
              <a:t>[15]  </a:t>
            </a:r>
            <a:r>
              <a:rPr sz="1600">
                <a:solidFill>
                  <a:srgbClr val="CCCCCC"/>
                </a:solidFill>
              </a:rPr>
              <a:t>Brownlee, "XGBoost With Python," Machine Learning Mastery, 2020.</a:t>
            </a:r>
          </a:p>
        </p:txBody>
      </p:sp>
      <p:sp>
        <p:nvSpPr>
          <p:cNvPr id="22" name="Shape 20"/>
          <p:cNvSpPr/>
          <p:nvPr/>
        </p:nvSpPr>
        <p:spPr>
          <a:xfrm>
            <a:off x="0" y="9779001"/>
            <a:ext cx="18288000" cy="12700"/>
          </a:xfrm>
          <a:prstGeom prst="rect">
            <a:avLst/>
          </a:prstGeom>
          <a:solidFill>
            <a:srgbClr val="FFFFFF">
              <a:alpha val="8000"/>
            </a:srgbClr>
          </a:solidFill>
          <a:ln/>
        </p:spPr>
        <p:txBody>
          <a:bodyPr/>
          <a:lstStyle/>
          <a:p>
            <a:endParaRPr/>
          </a:p>
        </p:txBody>
      </p:sp>
      <p:sp>
        <p:nvSpPr>
          <p:cNvPr id="23" name="Text 21"/>
          <p:cNvSpPr/>
          <p:nvPr/>
        </p:nvSpPr>
        <p:spPr>
          <a:xfrm>
            <a:off x="609600" y="9944100"/>
            <a:ext cx="3398857" cy="228600"/>
          </a:xfrm>
          <a:prstGeom prst="rect">
            <a:avLst/>
          </a:prstGeom>
          <a:noFill/>
          <a:ln/>
        </p:spPr>
        <p:txBody>
          <a:bodyPr wrap="square" lIns="25400" tIns="25400" rIns="25400" bIns="25400" rtlCol="0" anchor="t">
            <a:normAutofit/>
          </a:bodyPr>
          <a:lstStyle/>
          <a:p>
            <a:pPr marL="0" indent="0" algn="l">
              <a:buNone/>
            </a:pPr>
            <a:r>
              <a:rPr lang="en-US" sz="1275" dirty="0">
                <a:solidFill>
                  <a:srgbClr val="6C8199"/>
                </a:solidFill>
                <a:latin typeface="Arial" pitchFamily="34" charset="0"/>
                <a:ea typeface="Arial" pitchFamily="34" charset="-122"/>
                <a:cs typeface="Arial" pitchFamily="34" charset="-120"/>
              </a:rPr>
              <a:t>Real-Time Cheat Detection · ENGR 5785G</a:t>
            </a:r>
            <a:endParaRPr lang="en-US" sz="1275" dirty="0"/>
          </a:p>
        </p:txBody>
      </p:sp>
      <p:sp>
        <p:nvSpPr>
          <p:cNvPr id="24" name="Text 22"/>
          <p:cNvSpPr/>
          <p:nvPr/>
        </p:nvSpPr>
        <p:spPr>
          <a:xfrm>
            <a:off x="17183100" y="9944100"/>
            <a:ext cx="571500" cy="228600"/>
          </a:xfrm>
          <a:prstGeom prst="rect">
            <a:avLst/>
          </a:prstGeom>
          <a:noFill/>
          <a:ln/>
        </p:spPr>
        <p:txBody>
          <a:bodyPr wrap="square" lIns="25400" tIns="25400" rIns="25400" bIns="25400" rtlCol="0" anchor="t">
            <a:normAutofit/>
          </a:bodyPr>
          <a:lstStyle/>
          <a:p>
            <a:pPr marL="0" indent="0" algn="l">
              <a:buNone/>
            </a:pPr>
            <a:r>
              <a:rPr lang="en-US" sz="1275" dirty="0">
                <a:solidFill>
                  <a:srgbClr val="8FA6BD"/>
                </a:solidFill>
                <a:latin typeface="Arial" pitchFamily="34" charset="0"/>
                <a:ea typeface="Arial" pitchFamily="34" charset="-122"/>
                <a:cs typeface="Arial" pitchFamily="34" charset="-120"/>
              </a:rPr>
              <a:t>18 / 18</a:t>
            </a:r>
            <a:endParaRPr lang="en-US" sz="12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3641</Words>
  <Application>Microsoft Office PowerPoint</Application>
  <PresentationFormat>Custom</PresentationFormat>
  <Paragraphs>580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Rohan Muslekar</cp:lastModifiedBy>
  <cp:revision>2</cp:revision>
  <dcterms:created xsi:type="dcterms:W3CDTF">2026-06-23T22:02:55Z</dcterms:created>
  <dcterms:modified xsi:type="dcterms:W3CDTF">2026-06-23T22:12:34Z</dcterms:modified>
</cp:coreProperties>
</file>