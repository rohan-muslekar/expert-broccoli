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114800" cy="2743200"/>
          </a:xfrm>
          <a:prstGeom prst="rect">
            <a:avLst/>
          </a:prstGeom>
          <a:solidFill>
            <a:srgbClr val="0072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772400" y="2651760"/>
            <a:ext cx="2286000" cy="2286000"/>
          </a:xfrm>
          <a:prstGeom prst="ellipse">
            <a:avLst/>
          </a:prstGeom>
          <a:solidFill>
            <a:srgbClr val="00C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320040"/>
            <a:ext cx="3200400" cy="347472"/>
          </a:xfrm>
          <a:prstGeom prst="roundRect">
            <a:avLst>
              <a:gd name="adj" fmla="val 13158"/>
            </a:avLst>
          </a:prstGeom>
          <a:solidFill>
            <a:srgbClr val="00C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32004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ENGR 5785G · Real-Time Data Analytics for IoT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Cheat Detection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Multiplayer Games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server-side streaming analytics pipeline using Kafka, Go, XGBoost,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LSTM Autoencoder to detect cheats in under 5 seconds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full Grafana observability.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93008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28D8A0">
              <a:alpha val="25000"/>
            </a:srgbClr>
          </a:solidFill>
          <a:ln w="12700">
            <a:solidFill>
              <a:srgbClr val="28D8A0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57200" y="34930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 1.22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23160" y="3493008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28D8A0">
              <a:alpha val="25000"/>
            </a:srgbClr>
          </a:solidFill>
          <a:ln w="12700">
            <a:solidFill>
              <a:srgbClr val="28D8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23160" y="34930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Python 3.11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3493008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FFD166">
              <a:alpha val="2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0" y="3493008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Apache Kafka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913632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00C6FF">
              <a:alpha val="25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7200" y="39136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XGBoost + LSTM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913632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FF6B35">
              <a:alpha val="2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423160" y="39136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60Hz Real-Time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89120" y="3913632"/>
            <a:ext cx="1828800" cy="301752"/>
          </a:xfrm>
          <a:prstGeom prst="roundRect">
            <a:avLst>
              <a:gd name="adj" fmla="val 15152"/>
            </a:avLst>
          </a:prstGeom>
          <a:solidFill>
            <a:srgbClr val="0072FF">
              <a:alpha val="25000"/>
            </a:srgbClr>
          </a:solidFill>
          <a:ln w="12700">
            <a:solidFill>
              <a:srgbClr val="0072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89120" y="3913632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Compose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Ontario Tech University  |  Summer 2026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32320" y="1005840"/>
            <a:ext cx="1554480" cy="1554480"/>
          </a:xfrm>
          <a:prstGeom prst="ellipse">
            <a:avLst/>
          </a:prstGeom>
          <a:solidFill>
            <a:srgbClr val="00C6FF">
              <a:alpha val="20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2320" y="1005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🛡</a:t>
            </a:r>
            <a:endParaRPr lang="en-US" sz="5200" dirty="0"/>
          </a:p>
        </p:txBody>
      </p:sp>
      <p:sp>
        <p:nvSpPr>
          <p:cNvPr id="24" name="TextBox 2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7315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Problem Definition &amp; IoT Context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498080" y="164592"/>
            <a:ext cx="1417320" cy="411480"/>
          </a:xfrm>
          <a:prstGeom prst="roundRect">
            <a:avLst>
              <a:gd name="adj" fmla="val 11111"/>
            </a:avLst>
          </a:prstGeom>
          <a:solidFill>
            <a:srgbClr val="00C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0" y="1645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IoT Focus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20040" y="86868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868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The Challenge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4630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Cheating costs billions annually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1031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anti-cheat (VAC, EAC) is bypassable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7432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Post-match analysis takes hours to days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3832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drivers raise privacy concerns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5468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154680" y="86868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246120" y="868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🎯  Project Objectives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14630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behavioral detection  -  no client trust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264408" y="21031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pipeline via Apache Kafka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64408" y="27432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Dual-paradigm ML: supervised + unsupervised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64408" y="33832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engine: deterministic, zero false positives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64408" y="402336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in under 5 seconds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89320" y="868680"/>
            <a:ext cx="2651760" cy="397764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989320" y="868680"/>
            <a:ext cx="2651760" cy="502920"/>
          </a:xfrm>
          <a:prstGeom prst="roundRect">
            <a:avLst>
              <a:gd name="adj" fmla="val 18182"/>
            </a:avLst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080760" y="868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 IoT Parallels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9048" y="146304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Sensors: 60Hz telemetry ↔ industrial IoT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099048" y="210312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Processing: sliding-window aggregation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099048" y="274320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Processing: Kafka (~540 events/sec)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48" y="3383280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LSTM autoencoder (same as IoT sensor anomaly detection)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4681728"/>
            <a:ext cx="8503920" cy="320040"/>
          </a:xfrm>
          <a:prstGeom prst="roundRect">
            <a:avLst>
              <a:gd name="adj" fmla="val 14286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Related Work   -   Client-Side Kernel (VAC/EAC): fast but bypassable  |  Statistical Post-Match: low FP but hours of delay  |  ML Behavioral (CS2CD): patterns, usually offline</a:t>
            </a:r>
            <a:endParaRPr lang="en-US" sz="900" dirty="0"/>
          </a:p>
        </p:txBody>
      </p:sp>
      <p:sp>
        <p:nvSpPr>
          <p:cNvPr id="30" name="TextBox 29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C6FF"/>
                </a:solidFill>
              </a:rPr>
              <a:t>7 Docker containers · 4 Kafka topics · 3 detection layers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28D8A0">
              <a:alpha val="85000"/>
            </a:srgbClr>
          </a:solidFill>
          <a:ln w="12700">
            <a:solidFill>
              <a:srgbClr val="28D8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1078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BROWSER CLIENT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325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HTML5 Canvas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WASD + Mouse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F5-F8 Toggles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645920" y="1664208"/>
            <a:ext cx="201168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682496" y="15544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</a:rPr>
              <a:t>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0" y="105156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0072FF">
              <a:alpha val="85000"/>
            </a:srgbClr>
          </a:solidFill>
          <a:ln w="12700">
            <a:solidFill>
              <a:srgbClr val="0072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74520" y="1078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GAME SERVER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1389888"/>
            <a:ext cx="1325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Go 1.22 · 60Hz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 Bots + Players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Physics + Raycast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46120" y="1664208"/>
            <a:ext cx="201168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82696" y="15544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05156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474720" y="1078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APACHE KAFKA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0" y="1389888"/>
            <a:ext cx="1325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KRaft · 4 Topics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4 Partitions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Keyed by player_id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1664208"/>
            <a:ext cx="201168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882896" y="15544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105156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74920" y="1078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RULES ENGINE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74920" y="1389888"/>
            <a:ext cx="1325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18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6 Rule Detectors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1s / 5s / 30s windows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1664208"/>
            <a:ext cx="201168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83096" y="1554480"/>
            <a:ext cx="164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6FF"/>
                </a:solidFill>
              </a:rPr>
              <a:t>→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105156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00C6FF">
              <a:alpha val="85000"/>
            </a:srgbClr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675120" y="10789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ML SERVICE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75120" y="1389888"/>
            <a:ext cx="13258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XGBoost &lt;1ms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LSTM Autoencoder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:8000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2468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636E72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0" y="2487168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PROMETHEUS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:9091 · Scrapes 5s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629400" y="246888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636E72">
              <a:alpha val="7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29400" y="2487168"/>
            <a:ext cx="1417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GRAFANA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:3000 · Dashboards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28600" y="2423160"/>
            <a:ext cx="4572000" cy="2423160"/>
          </a:xfrm>
          <a:prstGeom prst="roundRect">
            <a:avLst>
              <a:gd name="adj" fmla="val 3774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20040" y="24688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Kafka Topics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28346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47472" y="28346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telemetry.raw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28346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Raw player state/tick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2918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47472" y="32918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events.kills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468880" y="3291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Kill events + context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7490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47472" y="37490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features.computed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468880" y="37490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18-feature vectors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42062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FFD166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47472" y="420624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alerts.detections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468880" y="4206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Rule + ML alerts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28600" y="481888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6FF"/>
                </a:solidFill>
              </a:rPr>
              <a:t>End-to-End:  Input → Game Server → Kafka → ML → Alerts → Prometheus → Grafana  ·  ≤5 seconds</a:t>
            </a:r>
            <a:endParaRPr lang="en-US" sz="950" dirty="0"/>
          </a:p>
        </p:txBody>
      </p:sp>
      <p:sp>
        <p:nvSpPr>
          <p:cNvPr id="46" name="TextBox 4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Pipeline &amp;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86868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4048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Telemetry Generation · 60Hz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sends raw input (keys, mouse) via WebSocket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6550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computes position, velocity, aim, hit detection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context: nearest enemy distance, angle, LOS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3134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raw fields per player per tick → Kafka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818888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 Engineering · Go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32588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sliding windows: 1s (60 ticks), 5s (300), 30s (1800)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65506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computed features: aim dynamics, combat, movement, spatial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9842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per player · 60s cleanup for inactive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231343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vectors sent to ML on every tick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432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274320" y="274320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4048" y="2743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Cheat Simulation (Server-Side)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" y="32004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Aimbot (F5): snaps aim via atan2() · aim_delta &gt; 2.0 rad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35295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Speedhack (F6): 2.5× velocity · speed &gt; 7.0 (cap=5.0)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38587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Wallhack (F7): aim through walls · prefire_ratio &gt; 60%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1879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Triggerbot (F8): auto-fire · reaction_time &lt; 3 ticks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74320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709160" y="2743200"/>
            <a:ext cx="4160520" cy="384048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818888" y="27432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Kafka Topics · KRaft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200400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telemetry.raw  -  Raw state per tick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46320" y="3529584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events.kills  -  Kill events with context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85876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features.computed  -  18-feature vectors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418795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alerts.detections  -  Rule + ML alerts</a:t>
            </a:r>
            <a:endParaRPr lang="en-US" sz="1000" dirty="0"/>
          </a:p>
        </p:txBody>
      </p:sp>
      <p:sp>
        <p:nvSpPr>
          <p:cNvPr id="32" name="TextBox 31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Detection Layer 1: Rule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8D8A0"/>
                </a:solidFill>
              </a:rPr>
              <a:t>Physics-derived thresholds · Zero false positive rate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28600" y="987552"/>
            <a:ext cx="86868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74320" y="9875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Rule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691640" y="9875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Condition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297680" y="9875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Detects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40680" y="9875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Normal Range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812280" y="98755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Cheat Range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" y="1371600"/>
            <a:ext cx="86868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7432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⚡  speed_cap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91640" y="13716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speed_max_1s &gt; 7.0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51960" y="146304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251960" y="146304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Speedhack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440680" y="13716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0 - 5.0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12280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~12.5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28600" y="1901952"/>
            <a:ext cx="8686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274320" y="190195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🎯  aim_snap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91640" y="190195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aim_delta_max_1s &gt; 2.0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51960" y="1993392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51960" y="199339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Aimbot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40680" y="1901952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0 - 0.5 rad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190195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~3.14 rad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432304"/>
            <a:ext cx="86868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74320" y="243230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🎯  inhuman_accuracy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91640" y="243230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hit_rate_5s &gt; 85% (30+ shots)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51960" y="2523744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51960" y="2523744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Aimbot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40680" y="2432304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20 - 50%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2280" y="2432304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~100%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2962656"/>
            <a:ext cx="8686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274320" y="296265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🔒  aim_lock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91640" y="29626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aim_lock_ratio &gt; 90%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51960" y="3054096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251960" y="3054096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Aimbot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40680" y="2962656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5 - 30%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812280" y="2962656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~100%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28600" y="3493008"/>
            <a:ext cx="8686800" cy="502920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274320" y="34930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👁  prefire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91640" y="3493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prefire_ratio &gt; 60% (20+ shots)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251960" y="3584448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251960" y="3584448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Wallhack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440680" y="3493008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0 - 15%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12280" y="3493008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&gt; 60%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28600" y="4023360"/>
            <a:ext cx="86868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274320" y="40233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⚙  triggerbot_react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691640" y="40233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reaction_time &lt; 3 ticks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251960" y="4114800"/>
            <a:ext cx="1051560" cy="320040"/>
          </a:xfrm>
          <a:prstGeom prst="roundRect">
            <a:avLst>
              <a:gd name="adj" fmla="val 14286"/>
            </a:avLst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4251960" y="411480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Triggerbot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440680" y="40233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9 - 15 ticks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812280" y="402336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1 - 2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" y="4572000"/>
            <a:ext cx="8686800" cy="457200"/>
          </a:xfrm>
          <a:prstGeom prst="roundRect">
            <a:avLst>
              <a:gd name="adj" fmla="val 16000"/>
            </a:avLst>
          </a:prstGeom>
          <a:solidFill>
            <a:srgbClr val="28D8A0">
              <a:alpha val="20000"/>
            </a:srgbClr>
          </a:solidFill>
          <a:ln w="12700">
            <a:solidFill>
              <a:srgbClr val="28D8A0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2004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💡  Key Insight: Every threshold sits in a dead zone between what's physically possible for a human and what the cheat produces. Derived directly from game physics. No statistical tuning needed.</a:t>
            </a:r>
            <a:endParaRPr lang="en-US" sz="950" dirty="0"/>
          </a:p>
        </p:txBody>
      </p:sp>
      <p:sp>
        <p:nvSpPr>
          <p:cNvPr id="54" name="TextBox 5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XGBoost + LSTM Autoencoder?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86868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4048" y="86868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XGBoost  -  Supervised Classification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Alternatives Considered: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7200" y="16550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Random Forest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755648" y="1655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Slower inference  -  trees traversed sequentially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20756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57200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SVM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55648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Scales poorly beyond 10K samples; no native prob output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250545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720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Deep Neural Net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55648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Overfits on small tabular data; XGBoost wins here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84048" y="293522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57200" y="2944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Logistic Regression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5564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Cannot capture non-linear interactions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84048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2FF"/>
                </a:solidFill>
              </a:rPr>
              <a:t>Why It Wins: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4048" y="3639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&lt; 1ms inference per tick (real-time at 60Hz)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4048" y="3941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Built-in feature importance: top-3 per alert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4048" y="4242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Handles missing values + class imbalance natively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544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Params: max_depth=6, lr=0.1, n_est=200, sub=0.8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868680"/>
            <a:ext cx="420624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663440" y="868680"/>
            <a:ext cx="4206240" cy="411480"/>
          </a:xfrm>
          <a:prstGeom prst="roundRect">
            <a:avLst>
              <a:gd name="adj" fmla="val 22222"/>
            </a:avLst>
          </a:prstGeom>
          <a:solidFill>
            <a:srgbClr val="00C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773168" y="86868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🧠  LSTM Autoencoder  -  Anomaly Detection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8"/>
                </a:solidFill>
              </a:rPr>
              <a:t>Alternatives Considered: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73168" y="1645920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846320" y="165506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Isolation Forest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44768" y="16550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Treats each tick independently; misses temporal patterns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73168" y="2075688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846320" y="2084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1D CNN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44768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Fixed receptive field; LSTM captures variable-length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73168" y="2505456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4846320" y="25146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Transformer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144768" y="25146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Quadratic memory; overkill for 60-step seqs; high latency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2935224"/>
            <a:ext cx="3931920" cy="384048"/>
          </a:xfrm>
          <a:prstGeom prst="roundRect">
            <a:avLst>
              <a:gd name="adj" fmla="val 14286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846320" y="29443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76F"/>
                </a:solidFill>
              </a:rPr>
              <a:t>✗  Dense Autoencoder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144768" y="2944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No temporal modeling; loses sequential structure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73168" y="3383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Why It Wins: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73168" y="36393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Captures order: aim-snap THEN hit = aimbot; reversed = skill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73168" y="394106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Encoder: LSTM(64)→LSTM(32); Decoder: LSTM(32)→LSTM(64)→Dense(18)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73168" y="4242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Trained on clean data only: detects ANY deviation incl. novel cheats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73168" y="45445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Anomaly score = MSE reconstruction error; threshold = mean + 4σ</a:t>
            </a:r>
            <a:endParaRPr lang="en-US" sz="900" dirty="0"/>
          </a:p>
        </p:txBody>
      </p:sp>
      <p:sp>
        <p:nvSpPr>
          <p:cNvPr id="46" name="TextBox 4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Training: Dataset, Features &amp; Target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5603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868680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84048" y="868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CS2CD Dataset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84048" y="129844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795 real CS2 competitive matches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61848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451 with VAC-banned cheaters, 344 clean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93852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Parquet format · 225 raw columns per tick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258568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332"/>
                </a:solidFill>
              </a:rPr>
              <a:t>Augmented with bot-generated synthetic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2560320" cy="1664208"/>
          </a:xfrm>
          <a:prstGeom prst="roundRect">
            <a:avLst>
              <a:gd name="adj" fmla="val 54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4320" y="2761488"/>
            <a:ext cx="2560320" cy="365760"/>
          </a:xfrm>
          <a:prstGeom prst="roundRect">
            <a:avLst>
              <a:gd name="adj" fmla="val 25000"/>
            </a:avLst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84048" y="2761488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Target Variable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3182112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cheat_label: binary  -  "none" or "cheater"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4048" y="3529584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Source: VAC ban status in match JSON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877056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332"/>
                </a:solidFill>
              </a:rPr>
              <a:t>Per-player label: every tick from VAC-banned = cheater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17520" y="868680"/>
            <a:ext cx="585216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017520" y="868680"/>
            <a:ext cx="5852160" cy="384048"/>
          </a:xfrm>
          <a:prstGeom prst="roundRect">
            <a:avLst>
              <a:gd name="adj" fmla="val 23810"/>
            </a:avLst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27248" y="868680"/>
            <a:ext cx="5650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18 Computed Features  -  Input to XGBoost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17520" y="1280160"/>
            <a:ext cx="5852160" cy="274320"/>
          </a:xfrm>
          <a:prstGeom prst="rect">
            <a:avLst/>
          </a:prstGeom>
          <a:solidFill>
            <a:srgbClr val="F4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090672" y="1280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Feature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86400" y="1280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Window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263640" y="12801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5568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017520" y="1572768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090672" y="157276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aim_delta_mean_1s / 5s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86400" y="157276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1s, 5s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63640" y="15727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Average aim angle change/tick (radians)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90672" y="181051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aim_delta_max_1s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81051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1s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6263640" y="18105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Peak aim snap magnitude in last second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017520" y="2048256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090672" y="204825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aim_snap_count_5s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0" y="20482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63640" y="204825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Number of large aim jumps (&gt; 0.5 rad)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090672" y="228600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aim_to_enemy_offset_mean_5s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486400" y="228600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63640" y="228600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Angle between crosshair and nearest enemy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017520" y="2523744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090672" y="25237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hit_rate_5s / 30s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86400" y="252374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5s, 30s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263640" y="252374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Shots hit / shots fired (short + long term)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090672" y="27614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shots_fired_5s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0" y="276148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263640" y="27614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Shooting frequency (shots per 5 seconds)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017520" y="2999232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3090672" y="299923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kills_per_30s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86400" y="2999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30s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263640" y="299923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Kill rate over 30-second window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090672" y="323697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speed_mean_1s / 5s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486400" y="32369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1s, 5s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6263640" y="323697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Average movement speed (units/tick)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017520" y="3474720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090672" y="34747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speed_max_1s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486400" y="3474720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1s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263640" y="347472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Peak speed in last second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3090672" y="371246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aim_lock_ratio_5s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486400" y="371246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6263640" y="371246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% ticks with crosshair &lt; 0.1 rad of enemy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017520" y="3950208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3090672" y="395020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prefire_ratio_5s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395020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263640" y="39502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% shots fired while enemy not visible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3090672" y="41879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reaction_time_mean_5s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486400" y="418795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6263640" y="41879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Ticks between enemy visible and first shot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017520" y="4425696"/>
            <a:ext cx="5852160" cy="237744"/>
          </a:xfrm>
          <a:prstGeom prst="rect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7" name="Text 65"/>
          <p:cNvSpPr/>
          <p:nvPr/>
        </p:nvSpPr>
        <p:spPr>
          <a:xfrm>
            <a:off x="3090672" y="442569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enemy_tracking_score_5s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486400" y="442569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72FF"/>
                </a:solidFill>
              </a:rPr>
              <a:t>5s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6263640" y="44256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Correlation: aim movement vs enemy movement</a:t>
            </a:r>
            <a:endParaRPr lang="en-US" sz="750" dirty="0"/>
          </a:p>
        </p:txBody>
      </p:sp>
      <p:sp>
        <p:nvSpPr>
          <p:cNvPr id="70" name="TextBox 69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Inside the CS2CD Dataset Files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6FF"/>
                </a:solidFill>
              </a:rPr>
              <a:t>Each match = 1 Parquet file (225 columns, ~60K ticks) + 1 JSON metadata file (cheater labels)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5120640" cy="3657600"/>
          </a:xfrm>
          <a:prstGeom prst="roundRect">
            <a:avLst>
              <a:gd name="adj" fmla="val 2500"/>
            </a:avLst>
          </a:prstGeom>
          <a:solidFill>
            <a:srgbClr val="1B2A3B"/>
          </a:solidFill>
          <a:ln w="12700">
            <a:solidFill>
              <a:srgbClr val="0072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47472" y="1005840"/>
            <a:ext cx="4846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FF"/>
                </a:solidFill>
              </a:rPr>
              <a:t>Parquet File: Selected Columns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" y="13075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E"/>
                </a:solidFill>
              </a:rPr>
              <a:t>We use 12 of 225 columns for behavioral detection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4904" y="15361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6FF"/>
                </a:solidFill>
              </a:rPr>
              <a:t>Column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444752" y="153619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6FF"/>
                </a:solidFill>
              </a:rPr>
              <a:t>Type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176272" y="1536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C6FF"/>
                </a:solidFill>
              </a:rPr>
              <a:t>What It Captures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5029200" cy="256032"/>
          </a:xfrm>
          <a:prstGeom prst="rect">
            <a:avLst/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74904" y="1810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tick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44752" y="181051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int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76272" y="18105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Game tick (time index)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4904" y="206654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steamid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444752" y="206654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string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76272" y="20665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Unique player identifier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2322576"/>
            <a:ext cx="5029200" cy="256032"/>
          </a:xfrm>
          <a:prstGeom prst="rect">
            <a:avLst/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74904" y="23225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X, Y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444752" y="23225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float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76272" y="23225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3D position (drop Z for 2D)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74904" y="2578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yaw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44752" y="257860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float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76272" y="25786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Aim direction in degrees (horizontal)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5029200" cy="256032"/>
          </a:xfrm>
          <a:prstGeom prst="rect">
            <a:avLst/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74904" y="2834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velocity_X/Y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444752" y="28346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float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76272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Movement speed per axis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4904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health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444752" y="30906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float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76272" y="30906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Player HP (0-100)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346704"/>
            <a:ext cx="5029200" cy="256032"/>
          </a:xfrm>
          <a:prstGeom prst="rect">
            <a:avLst/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4904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is_alive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44752" y="334670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bool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76272" y="33467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Dead or alive this tick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74904" y="3602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FIRE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444752" y="360273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bool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176272" y="36027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Is the player shooting this tick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3858768"/>
            <a:ext cx="5029200" cy="256032"/>
          </a:xfrm>
          <a:prstGeom prst="rect">
            <a:avLst/>
          </a:prstGeom>
          <a:solidFill>
            <a:srgbClr val="1A2D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374904" y="38587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B4D4"/>
                </a:solidFill>
              </a:rPr>
              <a:t>spotted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444752" y="38587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D166"/>
                </a:solidFill>
              </a:rPr>
              <a:t>bool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176272" y="3858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E"/>
                </a:solidFill>
              </a:rPr>
              <a:t>Is player visible to enemies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532120" y="960120"/>
            <a:ext cx="3383280" cy="1417320"/>
          </a:xfrm>
          <a:prstGeom prst="roundRect">
            <a:avLst>
              <a:gd name="adj" fmla="val 6452"/>
            </a:avLst>
          </a:prstGeom>
          <a:solidFill>
            <a:srgbClr val="1B2A3B"/>
          </a:solidFill>
          <a:ln w="12700">
            <a:solidFill>
              <a:srgbClr val="FFD166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650992" y="10058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166"/>
                </a:solidFill>
              </a:rPr>
              <a:t>JSON Metadata: Ground Truth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650992" y="13258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{"cheaters": [{"steamid": "Player_3"},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{"steamid": "Player_4"}]}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650992" y="181051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VAC-banned steamids → every tick from that player = "cheater" label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532120" y="2514600"/>
            <a:ext cx="3383280" cy="2194560"/>
          </a:xfrm>
          <a:prstGeom prst="roundRect">
            <a:avLst>
              <a:gd name="adj" fmla="val 4167"/>
            </a:avLst>
          </a:prstGeom>
          <a:solidFill>
            <a:srgbClr val="1B2A3B"/>
          </a:solidFill>
          <a:ln w="12700">
            <a:solidFill>
              <a:srgbClr val="28D8A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5650992" y="25603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8D8A0"/>
                </a:solidFill>
              </a:rPr>
              <a:t>Raw → Features Pipeline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650992" y="2889504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1. Parse X, Y, yaw, velocity, FIRE, spotted per tick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50992" y="3236976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2. Compute aim_delta = |current_yaw − prev_yaw|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650992" y="35844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3. Compute nearest_enemy_dist via Euclidean distance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650992" y="393192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4. Feed into sliding-window extractor (1s/5s/30s)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650992" y="42793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</a:rPr>
              <a:t>5. Output: 18 features + cheat_label = training row</a:t>
            </a:r>
            <a:endParaRPr lang="en-US" sz="850" dirty="0"/>
          </a:p>
        </p:txBody>
      </p:sp>
      <p:sp>
        <p:nvSpPr>
          <p:cNvPr id="53" name="TextBox 52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Grafana Dashboards: Before vs After Cheating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41248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8600" y="841248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47472" y="841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✅  Before  -  Clean Gameplay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11480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Prediction Pie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100% green (Normal)  ·  XGBoost classifies all ticks as clean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182880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11480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Rule Engine Alerts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Flat line at 0  ·  No physics violations detected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11480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ML Alerts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Flat line at 0  ·  No predictions above 95% confidence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88950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11480" y="2907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Total Alert Rate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Green zone (0/min)  ·  System confirms fair play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" y="341985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11480" y="3438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Anomaly Heatmap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Cluster at 0.3 - 0.6  ·  LSTM reconstructs behavior well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841248"/>
            <a:ext cx="4206240" cy="324612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09160" y="841248"/>
            <a:ext cx="4206240" cy="384048"/>
          </a:xfrm>
          <a:prstGeom prst="roundRect">
            <a:avLst>
              <a:gd name="adj" fmla="val 23810"/>
            </a:avLst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828032" y="841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🚨  After  -  Cheats Enabled (F5-F8)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298448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892040" y="1316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Prediction Pie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92040" y="151790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Red slice grows (Cheater)  ·  XGBoost detects ≥ 95% confidence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00600" y="1828800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892040" y="18470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Rule Engine Alerts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20482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Stacked bars spike  ·  speed_cap, aim_snap rules fire instantly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00600" y="2359152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92040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ML Alerts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xgboost + ensemble bars  ·  Both ML layers triggering concurrently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800600" y="2889504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892040" y="29077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Total Alert 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92040" y="31089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Red zone (50+/min)  ·  Multiple detection layers converging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3419856"/>
            <a:ext cx="4023360" cy="475488"/>
          </a:xfrm>
          <a:prstGeom prst="roundRect">
            <a:avLst>
              <a:gd name="adj" fmla="val 11538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892040" y="3438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Anomaly Heatmap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892040" y="36393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Scores shift to 2.0 - 10.0+  ·  LSTM cannot reconstruct cheat behavior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4160520"/>
            <a:ext cx="8686800" cy="822960"/>
          </a:xfrm>
          <a:prstGeom prst="roundRect">
            <a:avLst>
              <a:gd name="adj" fmla="val 8889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7472" y="4187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6FF"/>
                </a:solidFill>
              </a:rPr>
              <a:t>Key PromQL Queries: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47472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Pie: increase(ml_predictions_total[5m])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690872" y="44622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Rules: rate(rule_alerts_total[1m]) by (rule)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47472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Alert Rate: sum(rate(ml_alerts_total[1m])) * 60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690872" y="47365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0C4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 Anomaly: ml_autoencoder_anomaly_score_bucket</a:t>
            </a:r>
            <a:endParaRPr lang="en-US" sz="850" dirty="0"/>
          </a:p>
        </p:txBody>
      </p:sp>
      <p:sp>
        <p:nvSpPr>
          <p:cNvPr id="46" name="TextBox 4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Live Demo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6FF"/>
                </a:solidFill>
              </a:rPr>
              <a:t>Demonstrating real-time cheat detection end-to-end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 game client at localhost:80 · show clean gameplay with bots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481328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029200" y="1600200"/>
            <a:ext cx="438912" cy="438912"/>
          </a:xfrm>
          <a:prstGeom prst="ellipse">
            <a:avLst/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029200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3212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Open Grafana (:3000) · show zero alerts baseline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86000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48640" y="2404872"/>
            <a:ext cx="438912" cy="43891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Toggle Aimbot (F5) · aim_snap + aim_lock rules fire instantly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0" y="2404872"/>
            <a:ext cx="438912" cy="438912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029200" y="2404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32120" y="23774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Toggle Speedhack (F6) · speed_cap fires · ML changes to "cheater"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090672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3209544"/>
            <a:ext cx="438912" cy="438912"/>
          </a:xfrm>
          <a:prstGeom prst="ellipse">
            <a:avLst/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Toggle Wallhack (F7) · prefire rule fires after shot accumulation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3090672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029200" y="3209544"/>
            <a:ext cx="438912" cy="438912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0" y="32095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318211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Toggle Triggerbot (F8) · reaction_time rule fires within 1 second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895344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548640" y="4014216"/>
            <a:ext cx="438912" cy="438912"/>
          </a:xfrm>
          <a:prstGeom prst="ellipse">
            <a:avLst/>
          </a:prstGeom>
          <a:solidFill>
            <a:srgbClr val="28D8A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864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39867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Disable all cheats (F5-F8) · alerts stop · pie returns to "none"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895344"/>
            <a:ext cx="4160520" cy="685800"/>
          </a:xfrm>
          <a:prstGeom prst="roundRect">
            <a:avLst>
              <a:gd name="adj" fmla="val 13333"/>
            </a:avLst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029200" y="4014216"/>
            <a:ext cx="438912" cy="438912"/>
          </a:xfrm>
          <a:prstGeom prst="ellipse">
            <a:avLst/>
          </a:prstGeom>
          <a:solidFill>
            <a:srgbClr val="00C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02920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532120" y="398678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Show ML service /health endpoint · confirms trained inference mode</a:t>
            </a:r>
            <a:endParaRPr lang="en-US" sz="1000" dirty="0"/>
          </a:p>
        </p:txBody>
      </p:sp>
      <p:sp>
        <p:nvSpPr>
          <p:cNvPr id="36" name="TextBox 3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ML Scores, Metrics &amp;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175K samples · 131K train / 44K test · 8 players · player-ID split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1115568"/>
            <a:ext cx="640080" cy="640080"/>
          </a:xfrm>
          <a:prstGeom prst="ellipse">
            <a:avLst/>
          </a:prstGeom>
          <a:solidFill>
            <a:srgbClr val="0072FF">
              <a:alpha val="20000"/>
            </a:srgbClr>
          </a:solidFill>
          <a:ln w="12700">
            <a:solidFill>
              <a:srgbClr val="0072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74320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2FF"/>
                </a:solidFill>
              </a:rPr>
              <a:t>85.9%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XGBoost Accuracy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74320" y="2359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test set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136392" y="1115568"/>
            <a:ext cx="640080" cy="640080"/>
          </a:xfrm>
          <a:prstGeom prst="ellipse">
            <a:avLst/>
          </a:prstGeom>
          <a:solidFill>
            <a:srgbClr val="28D8A0">
              <a:alpha val="20000"/>
            </a:srgbClr>
          </a:solidFill>
          <a:ln w="12700">
            <a:solidFill>
              <a:srgbClr val="28D8A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450592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D8A0"/>
                </a:solidFill>
              </a:rPr>
              <a:t>85.1%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XGBoost F1 Score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450592" y="2359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weighted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26864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5312664" y="1115568"/>
            <a:ext cx="640080" cy="640080"/>
          </a:xfrm>
          <a:prstGeom prst="ellipse">
            <a:avLst/>
          </a:prstGeom>
          <a:solidFill>
            <a:srgbClr val="FFD166">
              <a:alpha val="2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26864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</a:rPr>
              <a:t>0.95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Confidence Threshold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626864" y="2359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below = clean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105156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88936" y="1115568"/>
            <a:ext cx="640080" cy="640080"/>
          </a:xfrm>
          <a:prstGeom prst="ellipse">
            <a:avLst/>
          </a:prstGeom>
          <a:solidFill>
            <a:srgbClr val="EF476F">
              <a:alpha val="20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03136" y="17830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</a:rPr>
              <a:t>0%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03136" y="21762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2332"/>
                </a:solidFill>
              </a:rPr>
              <a:t>Rule Engine FP 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803136" y="2359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physics-derived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274320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0.53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74320" y="3090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LSTM Anomaly Mean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reconstruction error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450592" y="2606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450592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</a:rPr>
              <a:t>1.12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2450592" y="3090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Anomaly Alert Threshold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450592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mean + 4σ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626864" y="2606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626864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</a:rPr>
              <a:t>&lt; 1ms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626864" y="3090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XGBoost Inference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26864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per tick, 60Hz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803136" y="2606040"/>
            <a:ext cx="20116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803136" y="26334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6FF"/>
                </a:solidFill>
              </a:rPr>
              <a:t>&lt; 5s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803136" y="3090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A2332"/>
                </a:solidFill>
              </a:rPr>
              <a:t>End-to-End Latency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803136" y="32735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cheat → Grafana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374904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11480" y="378561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2FF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11480" y="4059936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▸  Speedhack: detected instantly by rule engine AND XGBoost (99% confidence)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11480" y="427939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▸  Aimbot: rule fires same tick; XGBoost confirms within 1-2 seconds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11480" y="44988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▸  LSTM clean scores cluster at 0.3-0.6 (below 1.12 threshold); cheat scores spike to 2.0-10.0+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11480" y="4718304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▸  Confidence gating at 0.95 eliminates low-confidence ML false positives</a:t>
            </a:r>
            <a:endParaRPr lang="en-US" sz="950" dirty="0"/>
          </a:p>
        </p:txBody>
      </p:sp>
      <p:sp>
        <p:nvSpPr>
          <p:cNvPr id="47" name="TextBox 46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Team Responsibilities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8686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74320" y="941832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0072FF">
              <a:alpha val="85000"/>
            </a:srgbClr>
          </a:solidFill>
          <a:ln w="12700">
            <a:solidFill>
              <a:srgbClr val="0072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74320" y="9418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🎮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72FF"/>
                </a:solidFill>
              </a:rPr>
              <a:t>Ankit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92354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Game Client &amp; Kafka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508760" y="1179576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HTML5 Canvas client, WebSocket, F5-F8 cheat toggles, Kafka topic setup (KRaft, 4 partitions, player_id key)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303520" y="941832"/>
            <a:ext cx="3520440" cy="594360"/>
          </a:xfrm>
          <a:prstGeom prst="roundRect">
            <a:avLst>
              <a:gd name="adj" fmla="val 1076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394960" y="960120"/>
            <a:ext cx="3337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🔑  KRaft mode; player_id partitioning for ordered per-player processing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28600" y="1709928"/>
            <a:ext cx="8686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74320" y="1783080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28D8A0">
              <a:alpha val="85000"/>
            </a:srgbClr>
          </a:solidFill>
          <a:ln w="12700">
            <a:solidFill>
              <a:srgbClr val="28D8A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74320" y="178308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74320" y="207568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D8A0"/>
                </a:solidFill>
              </a:rPr>
              <a:t>Rohan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1764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Game Server &amp; Feature Pipeline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08760" y="20208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Authoritative 60Hz loop in Go, physics + raycast + spatial engine, 8 AI bots, 18-feature engine, 6 rule detectors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03520" y="1783080"/>
            <a:ext cx="3520440" cy="594360"/>
          </a:xfrm>
          <a:prstGeom prst="roundRect">
            <a:avLst>
              <a:gd name="adj" fmla="val 1076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94960" y="1801368"/>
            <a:ext cx="3337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🔑  Server-side authority, ring-buffer sliding windows, physics-derived thresholds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551176"/>
            <a:ext cx="8686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74320" y="2624328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274320" y="262432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74320" y="29169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Sid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08760" y="2606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XGBoost Training Pipeline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286207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CS2CD parser (Parquet + JSON), 3D→2D feature mapping, player-ID train/test split, hyperparameter tuning, confidence gating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03520" y="2624328"/>
            <a:ext cx="3520440" cy="594360"/>
          </a:xfrm>
          <a:prstGeom prst="roundRect">
            <a:avLst>
              <a:gd name="adj" fmla="val 1076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394960" y="2642616"/>
            <a:ext cx="3337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🔑  Player-ID split prevents data leakage; binary:logistic objective; 0.95 threshold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92424"/>
            <a:ext cx="8686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274320" y="3465576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00C6FF">
              <a:alpha val="85000"/>
            </a:srgbClr>
          </a:solidFill>
          <a:ln w="1270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274320" y="34655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74320" y="375818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6FF"/>
                </a:solidFill>
              </a:rPr>
              <a:t>Priyanka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34472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LSTM Autoencoder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50876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Encoder LSTM(64→32), Decoder LSTM(32→64)→Dense(18), trained on clean-only sequences, anomaly threshold calibration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03520" y="3465576"/>
            <a:ext cx="3520440" cy="594360"/>
          </a:xfrm>
          <a:prstGeom prst="roundRect">
            <a:avLst>
              <a:gd name="adj" fmla="val 1076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394960" y="3483864"/>
            <a:ext cx="3337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🔑  Clean-only training for novel cheat detection; MSE reconstruction as anomaly score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28600" y="4233672"/>
            <a:ext cx="868680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74320" y="4306824"/>
            <a:ext cx="1143000" cy="594360"/>
          </a:xfrm>
          <a:prstGeom prst="roundRect">
            <a:avLst>
              <a:gd name="adj" fmla="val 12308"/>
            </a:avLst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74320" y="430682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274320" y="459943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Nithilan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08760" y="42885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332"/>
                </a:solidFill>
              </a:rPr>
              <a:t>Grafana Dashboards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508760" y="4544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2 auto-provisioned dashboards, Prometheus metrics, PromQL queries, pie chart with color overrides, anomaly heatmap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303520" y="4306824"/>
            <a:ext cx="3520440" cy="594360"/>
          </a:xfrm>
          <a:prstGeom prst="roundRect">
            <a:avLst>
              <a:gd name="adj" fmla="val 10769"/>
            </a:avLst>
          </a:prstGeom>
          <a:solidFill>
            <a:srgbClr val="F4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394960" y="4325112"/>
            <a:ext cx="33375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332"/>
                </a:solidFill>
              </a:rPr>
              <a:t>🔑  Docker volume provisioning (zero manual setup), 5-second scrape, color-coded thresholds</a:t>
            </a:r>
            <a:endParaRPr lang="en-US" sz="850" dirty="0"/>
          </a:p>
        </p:txBody>
      </p:sp>
      <p:sp>
        <p:nvSpPr>
          <p:cNvPr id="44" name="TextBox 4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Comparison with AntiCheatPT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B0C4DE"/>
                </a:solidFill>
              </a:rPr>
              <a:t>AntiCheatPT (Lopes et al., 2025): transformer-based offline classifier trained on the same CS2CD dataset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868680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2004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6FF"/>
                </a:solidFill>
              </a:rPr>
              <a:t>Dimension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51760" y="9601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76F"/>
                </a:solidFill>
              </a:rPr>
              <a:t>AntiCheatPT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23560" y="9601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D8A0"/>
                </a:solidFill>
              </a:rPr>
              <a:t>Our System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25880"/>
            <a:ext cx="8686800" cy="393192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20040" y="132588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Detection Timing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51760" y="132588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Offline, post-match batch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623560" y="132588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Real-time: 1-5 seconds from activation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1737360"/>
            <a:ext cx="8686800" cy="3931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20040" y="17373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Recall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73736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63.13% (misses ~37%)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173736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Triple-layer: rules + XGBoost (85.9%) + LSTM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2148840"/>
            <a:ext cx="8686800" cy="393192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20040" y="21488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Detection Paradigm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214884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Single: supervised transformer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214884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Three: rules + XGBoost + LSTM autoencoder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560320"/>
            <a:ext cx="8686800" cy="3931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20040" y="256032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Novel Cheat Detection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256032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Cannot detect (VAC labels only)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23560" y="256032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LSTM detects ANY behavioral deviation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2971800"/>
            <a:ext cx="8686800" cy="393192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20040" y="297180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False Positive Handling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651760" y="297180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~11% FP 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23560" y="297180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Rules: 0%; XGBoost: 0.95 confidence gate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" y="3383280"/>
            <a:ext cx="8686800" cy="3931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20040" y="338328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Cheat Types Tested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51760" y="338328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Unknown (VAC-banned)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623560" y="338328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4 explicit: aimbot, speedhack, wallhack, triggerbot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794760"/>
            <a:ext cx="8686800" cy="393192"/>
          </a:xfrm>
          <a:prstGeom prst="rect">
            <a:avLst/>
          </a:prstGeom>
          <a:solidFill>
            <a:srgbClr val="1B2A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20040" y="379476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Observability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651760" y="379476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None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79476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Prometheus + Grafana (20+ metrics, 2 dashboards)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" y="4206240"/>
            <a:ext cx="8686800" cy="393192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320040" y="4206240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51760" y="420624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C8181"/>
                </a:solidFill>
              </a:rPr>
              <a:t>Research notebook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23560" y="4206240"/>
            <a:ext cx="3246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8D8A0"/>
                </a:solidFill>
              </a:rPr>
              <a:t>Docker Compose: 1-command, 7 containers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28600" y="4663440"/>
            <a:ext cx="8686800" cy="384048"/>
          </a:xfrm>
          <a:prstGeom prst="roundRect">
            <a:avLst>
              <a:gd name="adj" fmla="val 16667"/>
            </a:avLst>
          </a:prstGeom>
          <a:solidFill>
            <a:srgbClr val="0072FF">
              <a:alpha val="20000"/>
            </a:srgbClr>
          </a:solidFill>
          <a:ln w="12700">
            <a:solidFill>
              <a:srgbClr val="0072FF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47472" y="4663440"/>
            <a:ext cx="8458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💡  AntiCheatPT asks "was this player cheating?" after the match. Our system asks "is this player cheating right now?" while the match is live.</a:t>
            </a:r>
            <a:endParaRPr lang="en-US" sz="1000" dirty="0"/>
          </a:p>
        </p:txBody>
      </p:sp>
      <p:sp>
        <p:nvSpPr>
          <p:cNvPr id="42" name="TextBox 41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13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Limitations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519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8600" y="868680"/>
            <a:ext cx="4251960" cy="384048"/>
          </a:xfrm>
          <a:prstGeom prst="roundRect">
            <a:avLst>
              <a:gd name="adj" fmla="val 23810"/>
            </a:avLst>
          </a:prstGeom>
          <a:solidFill>
            <a:srgbClr val="EF476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47472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⚠️  Current Limitations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32588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Feature distribution gap: CS2 (3D) vs our game (2D) cross-domain 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746504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Scale: tested 9 players; horizontal scaling not yet implemented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" y="216712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Wallhack without active aim produces subtle, harder-to-detect signals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58775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No online learning: models need manual retrain on behavior drift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3008376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CPU-only LSTM inference limits throughput without GPU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68680"/>
            <a:ext cx="42519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663440" y="868680"/>
            <a:ext cx="4251960" cy="384048"/>
          </a:xfrm>
          <a:prstGeom prst="roundRect">
            <a:avLst>
              <a:gd name="adj" fmla="val 23810"/>
            </a:avLst>
          </a:prstGeom>
          <a:solidFill>
            <a:srgbClr val="007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82312" y="868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Future Improvements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325880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Temporal transformer: better long-range pattern detection than LSTM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82312" y="1746504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Graph neural network: multi-player collusion via kill-graph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82312" y="2167128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Adversarial training: generator creates stealthy cheats, detector learns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82312" y="2587752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Federated learning: train across titles without sharing raw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3008376"/>
            <a:ext cx="40416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Tiered inference: run expensive LSTM only for rule/XGBoost-flagged players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547872"/>
            <a:ext cx="8686800" cy="1463040"/>
          </a:xfrm>
          <a:prstGeom prst="roundRect">
            <a:avLst>
              <a:gd name="adj" fmla="val 6250"/>
            </a:avLst>
          </a:prstGeom>
          <a:solidFill>
            <a:srgbClr val="0D1B2A"/>
          </a:solidFill>
          <a:ln w="12700">
            <a:solidFill>
              <a:srgbClr val="00C6FF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3593592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6FF"/>
                </a:solidFill>
              </a:rPr>
              <a:t>Key Contributions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" y="391363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End-to-end real-time pipeline: 60Hz telemetry → Grafana alert in &lt; 5 seconds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048" y="418795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Dual-paradigm ML: supervised XGBoost for known cheats + unsupervised LSTM for novel cheats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84048" y="446227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Physics-derived rule engine: 0% false positives, no ML dependency, deterministic detection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84048" y="4736592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▸  Trained on public CS2CD dataset (795 real matches) for reproducibility and academic rigor</a:t>
            </a:r>
            <a:endParaRPr lang="en-US" sz="950" dirty="0"/>
          </a:p>
        </p:txBody>
      </p:sp>
      <p:sp>
        <p:nvSpPr>
          <p:cNvPr id="26" name="TextBox 25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Calibri"/>
              </a:rP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C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72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315200" y="2651760"/>
            <a:ext cx="2286000" cy="2286000"/>
          </a:xfrm>
          <a:prstGeom prst="ellipse">
            <a:avLst/>
          </a:prstGeom>
          <a:solidFill>
            <a:srgbClr val="00C6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0" y="182880"/>
            <a:ext cx="1371600" cy="13716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C6FF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2286000" y="2743200"/>
            <a:ext cx="4572000" cy="0"/>
          </a:xfrm>
          <a:prstGeom prst="line">
            <a:avLst/>
          </a:prstGeom>
          <a:noFill/>
          <a:ln w="19050">
            <a:solidFill>
              <a:srgbClr val="00C6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600" y="30175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</a:rPr>
              <a:t>📁  Source Code:  Docker Compose  -  single command deployment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371600" y="342900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</a:rPr>
              <a:t>🛠  Tech Stack:  Go 1.22 · Python 3.11 · Kafka · XGBoost · LSTM · Prometheus · Grafana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71600" y="384048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0C4DE"/>
                </a:solidFill>
              </a:rPr>
              <a:t>🎓  Course:  ENGR 5785G  -  Ontario Tech University  -  Summer 2026</a:t>
            </a:r>
            <a:endParaRPr lang="en-US" sz="1150" dirty="0"/>
          </a:p>
        </p:txBody>
      </p:sp>
      <p:sp>
        <p:nvSpPr>
          <p:cNvPr id="11" name="TextBox 10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B7A8D"/>
                </a:solidFill>
                <a:latin typeface="Calibri"/>
              </a:rPr>
              <a:t>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7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Cheat Detection for Multiplayer Games</dc:title>
  <dc:subject>PptxGenJS Presentation</dc:subject>
  <dc:creator>PptxGenJS</dc:creator>
  <cp:lastModifiedBy>PptxGenJS</cp:lastModifiedBy>
  <cp:revision>1</cp:revision>
  <dcterms:created xsi:type="dcterms:W3CDTF">2026-06-17T21:55:29Z</dcterms:created>
  <dcterms:modified xsi:type="dcterms:W3CDTF">2026-06-17T21:55:29Z</dcterms:modified>
</cp:coreProperties>
</file>