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41033700" cy="41033700"/>
  <p:notesSz cx="41033700" cy="410337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033700" cy="5360194"/>
          </a:xfrm>
          <a:prstGeom prst="rect">
            <a:avLst/>
          </a:prstGeom>
          <a:solidFill>
            <a:srgbClr val="1628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245894"/>
            <a:ext cx="41033700" cy="114300"/>
          </a:xfrm>
          <a:prstGeom prst="rect">
            <a:avLst/>
          </a:prstGeom>
          <a:solidFill>
            <a:srgbClr val="D450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033700" cy="5245894"/>
          </a:xfrm>
          <a:prstGeom prst="rect">
            <a:avLst/>
          </a:prstGeom>
          <a:gradFill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914400" y="1718072"/>
            <a:ext cx="4381500" cy="180975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47650" dist="95250" dir="5400000">
              <a:srgbClr val="000000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655" y="2003822"/>
            <a:ext cx="3480792" cy="12380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10150" y="476250"/>
            <a:ext cx="3101340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spc="450" kern="0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ENGR 5785G · REAL-TIME DATA ANALYTICS FOR IOT · SPRING 2026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5010150" y="996950"/>
            <a:ext cx="31013400" cy="11475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8400" b="1" spc="-37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Real-Time Cheat Detection for Multiplayer Games</a:t>
            </a:r>
            <a:endParaRPr lang="en-US" sz="8400" dirty="0"/>
          </a:p>
        </p:txBody>
      </p:sp>
      <p:sp>
        <p:nvSpPr>
          <p:cNvPr id="9" name="Text 6"/>
          <p:cNvSpPr/>
          <p:nvPr/>
        </p:nvSpPr>
        <p:spPr>
          <a:xfrm>
            <a:off x="5010150" y="2335014"/>
            <a:ext cx="310134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650" b="1" spc="15" kern="0" dirty="0">
                <a:solidFill>
                  <a:srgbClr val="F0894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IoT-Inspired Server-Side Anti-Cheat Pipeline</a:t>
            </a:r>
            <a:endParaRPr lang="en-US" sz="4650" dirty="0"/>
          </a:p>
        </p:txBody>
      </p:sp>
      <p:sp>
        <p:nvSpPr>
          <p:cNvPr id="10" name="Shape 7"/>
          <p:cNvSpPr/>
          <p:nvPr/>
        </p:nvSpPr>
        <p:spPr>
          <a:xfrm>
            <a:off x="18040350" y="3251200"/>
            <a:ext cx="4953000" cy="38100"/>
          </a:xfrm>
          <a:prstGeom prst="rect">
            <a:avLst/>
          </a:prstGeom>
          <a:solidFill>
            <a:srgbClr val="FFFFFF">
              <a:alpha val="28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5010150" y="3536950"/>
            <a:ext cx="31013400" cy="629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4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Rohan Umesh Muslekar · Siddhartha Reddy Challa · Lakshmi Priyanka Imadabattina · Nithilan Murugan · Ankit Suman</a:t>
            </a:r>
            <a:endParaRPr lang="en-US" sz="3450" dirty="0"/>
          </a:p>
        </p:txBody>
      </p:sp>
      <p:sp>
        <p:nvSpPr>
          <p:cNvPr id="12" name="Text 9"/>
          <p:cNvSpPr/>
          <p:nvPr/>
        </p:nvSpPr>
        <p:spPr>
          <a:xfrm>
            <a:off x="5010150" y="4280694"/>
            <a:ext cx="31013400" cy="58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>
                    <a:alpha val="78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Ontario Tech University | Faculty of Engineering &amp; Applied Science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1047750" y="5969794"/>
            <a:ext cx="18707100" cy="901700"/>
          </a:xfrm>
          <a:prstGeom prst="roundRect">
            <a:avLst>
              <a:gd name="adj" fmla="val 21127"/>
            </a:avLst>
          </a:prstGeom>
          <a:solidFill>
            <a:srgbClr val="16284A"/>
          </a:solidFill>
          <a:ln/>
          <a:effectLst>
            <a:outerShdw sx="100000" sy="100000" kx="0" ky="0" algn="bl" rotWithShape="0" blurRad="190500" dist="76200" dir="5400000">
              <a:srgbClr val="16284A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90650" y="6185694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850" dirty="0"/>
          </a:p>
        </p:txBody>
      </p:sp>
      <p:sp>
        <p:nvSpPr>
          <p:cNvPr id="15" name="Text 12"/>
          <p:cNvSpPr/>
          <p:nvPr/>
        </p:nvSpPr>
        <p:spPr>
          <a:xfrm>
            <a:off x="2034580" y="6160294"/>
            <a:ext cx="3056374" cy="55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Introduction</a:t>
            </a:r>
            <a:endParaRPr lang="en-US" sz="3750" dirty="0"/>
          </a:p>
        </p:txBody>
      </p:sp>
      <p:sp>
        <p:nvSpPr>
          <p:cNvPr id="16" name="Shape 13"/>
          <p:cNvSpPr/>
          <p:nvPr/>
        </p:nvSpPr>
        <p:spPr>
          <a:xfrm rot="2700000">
            <a:off x="1047750" y="7290594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17" name="Text 14"/>
          <p:cNvSpPr/>
          <p:nvPr/>
        </p:nvSpPr>
        <p:spPr>
          <a:xfrm>
            <a:off x="1409700" y="7157244"/>
            <a:ext cx="18125858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Competitive multiplayer games face an escalating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cheat problem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that undermines fair play and erodes player trust.</a:t>
            </a:r>
            <a:endParaRPr lang="en-US" sz="2700" dirty="0"/>
          </a:p>
        </p:txBody>
      </p:sp>
      <p:sp>
        <p:nvSpPr>
          <p:cNvPr id="18" name="Shape 15"/>
          <p:cNvSpPr/>
          <p:nvPr/>
        </p:nvSpPr>
        <p:spPr>
          <a:xfrm rot="2700000">
            <a:off x="1047750" y="7933531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19" name="Text 16"/>
          <p:cNvSpPr/>
          <p:nvPr/>
        </p:nvSpPr>
        <p:spPr>
          <a:xfrm>
            <a:off x="1409700" y="7800181"/>
            <a:ext cx="19963349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Traditional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client-side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anti-cheat (kernel drivers, memory scanners) is privacy-invasive and ineffective against hardware cheats.</a:t>
            </a:r>
            <a:endParaRPr lang="en-US" sz="2700" dirty="0"/>
          </a:p>
        </p:txBody>
      </p:sp>
      <p:sp>
        <p:nvSpPr>
          <p:cNvPr id="20" name="Shape 17"/>
          <p:cNvSpPr/>
          <p:nvPr/>
        </p:nvSpPr>
        <p:spPr>
          <a:xfrm rot="2700000">
            <a:off x="1047750" y="8576469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21" name="Text 18"/>
          <p:cNvSpPr/>
          <p:nvPr/>
        </p:nvSpPr>
        <p:spPr>
          <a:xfrm>
            <a:off x="1409700" y="8443119"/>
            <a:ext cx="13876139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 reframe game clients as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IoT sensor nodes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streaming telemetry at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60 Hz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 the server.</a:t>
            </a:r>
            <a:endParaRPr lang="en-US" sz="2700" dirty="0"/>
          </a:p>
        </p:txBody>
      </p:sp>
      <p:sp>
        <p:nvSpPr>
          <p:cNvPr id="22" name="Shape 19"/>
          <p:cNvSpPr/>
          <p:nvPr/>
        </p:nvSpPr>
        <p:spPr>
          <a:xfrm rot="2700000">
            <a:off x="1047750" y="9219406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23" name="Text 20"/>
          <p:cNvSpPr/>
          <p:nvPr/>
        </p:nvSpPr>
        <p:spPr>
          <a:xfrm>
            <a:off x="1409700" y="9086056"/>
            <a:ext cx="1553136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Detection happens entirely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server-side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via real-time stream processing —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client trust required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700" dirty="0"/>
          </a:p>
        </p:txBody>
      </p:sp>
      <p:sp>
        <p:nvSpPr>
          <p:cNvPr id="24" name="Shape 21"/>
          <p:cNvSpPr/>
          <p:nvPr/>
        </p:nvSpPr>
        <p:spPr>
          <a:xfrm rot="2700000">
            <a:off x="1047750" y="9862345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25" name="Text 22"/>
          <p:cNvSpPr/>
          <p:nvPr/>
        </p:nvSpPr>
        <p:spPr>
          <a:xfrm>
            <a:off x="1409700" y="9728994"/>
            <a:ext cx="20172026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D4502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Research gap: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open, server-side pipeline treats game telemetry as IoT sensor streams for real-time, trust-free cheat detection.</a:t>
            </a:r>
            <a:endParaRPr lang="en-US" sz="2700" dirty="0"/>
          </a:p>
        </p:txBody>
      </p:sp>
      <p:sp>
        <p:nvSpPr>
          <p:cNvPr id="26" name="Shape 23"/>
          <p:cNvSpPr/>
          <p:nvPr/>
        </p:nvSpPr>
        <p:spPr>
          <a:xfrm>
            <a:off x="1047750" y="10600532"/>
            <a:ext cx="18707100" cy="901700"/>
          </a:xfrm>
          <a:prstGeom prst="roundRect">
            <a:avLst>
              <a:gd name="adj" fmla="val 21127"/>
            </a:avLst>
          </a:prstGeom>
          <a:solidFill>
            <a:srgbClr val="16284A"/>
          </a:solidFill>
          <a:ln/>
          <a:effectLst>
            <a:outerShdw sx="100000" sy="100000" kx="0" ky="0" algn="bl" rotWithShape="0" blurRad="190500" dist="76200" dir="5400000">
              <a:srgbClr val="16284A">
                <a:alpha val="18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1390650" y="10816432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850" dirty="0"/>
          </a:p>
        </p:txBody>
      </p:sp>
      <p:sp>
        <p:nvSpPr>
          <p:cNvPr id="28" name="Text 25"/>
          <p:cNvSpPr/>
          <p:nvPr/>
        </p:nvSpPr>
        <p:spPr>
          <a:xfrm>
            <a:off x="2034580" y="10791032"/>
            <a:ext cx="5095776" cy="55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System Architecture</a:t>
            </a:r>
            <a:endParaRPr lang="en-US" sz="3750" dirty="0"/>
          </a:p>
        </p:txBody>
      </p:sp>
      <p:sp>
        <p:nvSpPr>
          <p:cNvPr id="29" name="Shape 26"/>
          <p:cNvSpPr/>
          <p:nvPr/>
        </p:nvSpPr>
        <p:spPr>
          <a:xfrm rot="2700000">
            <a:off x="1047750" y="11921332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30" name="Text 27"/>
          <p:cNvSpPr/>
          <p:nvPr/>
        </p:nvSpPr>
        <p:spPr>
          <a:xfrm>
            <a:off x="1409700" y="11787982"/>
            <a:ext cx="19778464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 Docker containers: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 game server (60 Hz), HTML5 client, Kafka (KRaft), Python ML service (FastAPI), Prometheus &amp; Grafana.</a:t>
            </a:r>
            <a:endParaRPr lang="en-US" sz="2700" dirty="0"/>
          </a:p>
        </p:txBody>
      </p:sp>
      <p:sp>
        <p:nvSpPr>
          <p:cNvPr id="31" name="Shape 28"/>
          <p:cNvSpPr/>
          <p:nvPr/>
        </p:nvSpPr>
        <p:spPr>
          <a:xfrm rot="2700000">
            <a:off x="1047750" y="12564269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32" name="Text 29"/>
          <p:cNvSpPr/>
          <p:nvPr/>
        </p:nvSpPr>
        <p:spPr>
          <a:xfrm>
            <a:off x="1409700" y="12430919"/>
            <a:ext cx="18895505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 Kafka topics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(</a:t>
            </a:r>
            <a:pPr algn="l" indent="0" marL="0">
              <a:lnSpc>
                <a:spcPct val="132000"/>
              </a:lnSpc>
              <a:buNone/>
            </a:pPr>
            <a:r>
              <a:rPr lang="en-US" sz="2250" dirty="0">
                <a:solidFill>
                  <a:srgbClr val="1C2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telemetry.raw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pPr algn="l" indent="0" marL="0">
              <a:lnSpc>
                <a:spcPct val="132000"/>
              </a:lnSpc>
              <a:buNone/>
            </a:pPr>
            <a:r>
              <a:rPr lang="en-US" sz="2250" dirty="0">
                <a:solidFill>
                  <a:srgbClr val="1C2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events.kills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pPr algn="l" indent="0" marL="0">
              <a:lnSpc>
                <a:spcPct val="132000"/>
              </a:lnSpc>
              <a:buNone/>
            </a:pPr>
            <a:r>
              <a:rPr lang="en-US" sz="2250" dirty="0">
                <a:solidFill>
                  <a:srgbClr val="1C2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features.computed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pPr algn="l" indent="0" marL="0">
              <a:lnSpc>
                <a:spcPct val="132000"/>
              </a:lnSpc>
              <a:buNone/>
            </a:pPr>
            <a:r>
              <a:rPr lang="en-US" sz="2250" dirty="0">
                <a:solidFill>
                  <a:srgbClr val="1C2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alerts.detections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), each with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 partitions keyed by </a:t>
            </a:r>
            <a:pPr algn="l" indent="0" marL="0">
              <a:lnSpc>
                <a:spcPct val="132000"/>
              </a:lnSpc>
              <a:buNone/>
            </a:pPr>
            <a:r>
              <a:rPr lang="en-US" sz="2250" dirty="0">
                <a:solidFill>
                  <a:srgbClr val="1C2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player_id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700" dirty="0"/>
          </a:p>
        </p:txBody>
      </p:sp>
      <p:sp>
        <p:nvSpPr>
          <p:cNvPr id="33" name="Shape 30"/>
          <p:cNvSpPr/>
          <p:nvPr/>
        </p:nvSpPr>
        <p:spPr>
          <a:xfrm>
            <a:off x="1047750" y="13602494"/>
            <a:ext cx="18707100" cy="7842250"/>
          </a:xfrm>
          <a:prstGeom prst="roundRect">
            <a:avLst>
              <a:gd name="adj" fmla="val 1943"/>
            </a:avLst>
          </a:prstGeom>
          <a:solidFill>
            <a:srgbClr val="FFFFFF"/>
          </a:solidFill>
          <a:ln w="12700">
            <a:solidFill>
              <a:srgbClr val="D8D4C8"/>
            </a:solidFill>
            <a:prstDash val="solid"/>
          </a:ln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100" y="13824745"/>
            <a:ext cx="13106400" cy="695325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398780" y="20930395"/>
            <a:ext cx="2000504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2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 1 — End-to-end pipeline across five stages, ~540 events/sec, zero backpressure.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1047750" y="21863845"/>
            <a:ext cx="18707100" cy="901700"/>
          </a:xfrm>
          <a:prstGeom prst="roundRect">
            <a:avLst>
              <a:gd name="adj" fmla="val 21127"/>
            </a:avLst>
          </a:prstGeom>
          <a:solidFill>
            <a:srgbClr val="16284A"/>
          </a:solidFill>
          <a:ln/>
          <a:effectLst>
            <a:outerShdw sx="100000" sy="100000" kx="0" ky="0" algn="bl" rotWithShape="0" blurRad="190500" dist="76200" dir="5400000">
              <a:srgbClr val="16284A">
                <a:alpha val="18000"/>
              </a:srgbClr>
            </a:outerShdw>
          </a:effectLst>
        </p:spPr>
      </p:sp>
      <p:sp>
        <p:nvSpPr>
          <p:cNvPr id="37" name="Text 33"/>
          <p:cNvSpPr/>
          <p:nvPr/>
        </p:nvSpPr>
        <p:spPr>
          <a:xfrm>
            <a:off x="1390650" y="22079745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850" dirty="0"/>
          </a:p>
        </p:txBody>
      </p:sp>
      <p:sp>
        <p:nvSpPr>
          <p:cNvPr id="38" name="Text 34"/>
          <p:cNvSpPr/>
          <p:nvPr/>
        </p:nvSpPr>
        <p:spPr>
          <a:xfrm>
            <a:off x="2034580" y="22054345"/>
            <a:ext cx="7102872" cy="55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Three-Layer Detection Stack</a:t>
            </a:r>
            <a:endParaRPr lang="en-US" sz="3750" dirty="0"/>
          </a:p>
        </p:txBody>
      </p:sp>
      <p:sp>
        <p:nvSpPr>
          <p:cNvPr id="39" name="Shape 35"/>
          <p:cNvSpPr/>
          <p:nvPr/>
        </p:nvSpPr>
        <p:spPr>
          <a:xfrm>
            <a:off x="1047750" y="23051295"/>
            <a:ext cx="9294614" cy="2322513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7150" dir="5400000">
              <a:srgbClr val="16284A">
                <a:alpha val="8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1047750" y="25361108"/>
            <a:ext cx="9294614" cy="12700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41" name="Shape 37"/>
          <p:cNvSpPr/>
          <p:nvPr/>
        </p:nvSpPr>
        <p:spPr>
          <a:xfrm>
            <a:off x="1047750" y="23051295"/>
            <a:ext cx="9294614" cy="12700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42" name="Shape 38"/>
          <p:cNvSpPr/>
          <p:nvPr/>
        </p:nvSpPr>
        <p:spPr>
          <a:xfrm>
            <a:off x="1047750" y="23051295"/>
            <a:ext cx="127000" cy="2322513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3" name="Shape 39"/>
          <p:cNvSpPr/>
          <p:nvPr/>
        </p:nvSpPr>
        <p:spPr>
          <a:xfrm>
            <a:off x="10329664" y="23051295"/>
            <a:ext cx="12700" cy="2322513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44" name="Text 40"/>
          <p:cNvSpPr/>
          <p:nvPr/>
        </p:nvSpPr>
        <p:spPr>
          <a:xfrm>
            <a:off x="1479550" y="23311645"/>
            <a:ext cx="9399846" cy="44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84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Layer 1 — Rule Engine </a:t>
            </a:r>
            <a:pPr algn="l" indent="0" marL="0">
              <a:buNone/>
            </a:pPr>
            <a:r>
              <a:rPr lang="en-US" sz="2250" b="1" dirty="0">
                <a:solidFill>
                  <a:srgbClr val="3A78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 Go · &lt;1 ms · 0% FP</a:t>
            </a:r>
            <a:endParaRPr lang="en-US" sz="3000" dirty="0"/>
          </a:p>
        </p:txBody>
      </p:sp>
      <p:sp>
        <p:nvSpPr>
          <p:cNvPr id="45" name="Text 41"/>
          <p:cNvSpPr/>
          <p:nvPr/>
        </p:nvSpPr>
        <p:spPr>
          <a:xfrm>
            <a:off x="1479550" y="23813295"/>
            <a:ext cx="8801674" cy="1338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 physics-derived threshold rules: 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C2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speed_cap, aim_snap, inhuman_accuracy, aim_lock, prefire, triggerbot_react </a:t>
            </a:r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625" dirty="0"/>
          </a:p>
        </p:txBody>
      </p:sp>
      <p:sp>
        <p:nvSpPr>
          <p:cNvPr id="46" name="Shape 42"/>
          <p:cNvSpPr/>
          <p:nvPr/>
        </p:nvSpPr>
        <p:spPr>
          <a:xfrm>
            <a:off x="1047750" y="25583357"/>
            <a:ext cx="9294614" cy="2206823"/>
          </a:xfrm>
          <a:prstGeom prst="roundRect">
            <a:avLst>
              <a:gd name="adj" fmla="val 5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7150" dir="5400000">
              <a:srgbClr val="16284A">
                <a:alpha val="8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1047750" y="27777480"/>
            <a:ext cx="9294614" cy="12700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48" name="Shape 44"/>
          <p:cNvSpPr/>
          <p:nvPr/>
        </p:nvSpPr>
        <p:spPr>
          <a:xfrm>
            <a:off x="1047750" y="25583357"/>
            <a:ext cx="9294614" cy="12700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49" name="Shape 45"/>
          <p:cNvSpPr/>
          <p:nvPr/>
        </p:nvSpPr>
        <p:spPr>
          <a:xfrm>
            <a:off x="1047750" y="25583357"/>
            <a:ext cx="127000" cy="2206823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29664" y="25583357"/>
            <a:ext cx="12700" cy="2206823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51" name="Text 47"/>
          <p:cNvSpPr/>
          <p:nvPr/>
        </p:nvSpPr>
        <p:spPr>
          <a:xfrm>
            <a:off x="1479550" y="25843706"/>
            <a:ext cx="9399846" cy="44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84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Layer 2 — XGBoost </a:t>
            </a:r>
            <a:pPr algn="l" indent="0" marL="0">
              <a:buNone/>
            </a:pPr>
            <a:r>
              <a:rPr lang="en-US" sz="2250" b="1" dirty="0">
                <a:solidFill>
                  <a:srgbClr val="B87D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 &lt;1 ms</a:t>
            </a:r>
            <a:endParaRPr lang="en-US" sz="3000" dirty="0"/>
          </a:p>
        </p:txBody>
      </p:sp>
      <p:sp>
        <p:nvSpPr>
          <p:cNvPr id="52" name="Text 48"/>
          <p:cNvSpPr/>
          <p:nvPr/>
        </p:nvSpPr>
        <p:spPr>
          <a:xfrm>
            <a:off x="1479550" y="26345357"/>
            <a:ext cx="8801674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Binary classifier trained on </a:t>
            </a:r>
            <a:pPr algn="l" indent="0" marL="0">
              <a:lnSpc>
                <a:spcPct val="130000"/>
              </a:lnSpc>
              <a:buNone/>
            </a:pPr>
            <a:r>
              <a:rPr lang="en-US" sz="2625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175K samples </a:t>
            </a:r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from the CS2CD dataset; confidence gate at </a:t>
            </a:r>
            <a:pPr algn="l" indent="0" marL="0">
              <a:lnSpc>
                <a:spcPct val="130000"/>
              </a:lnSpc>
              <a:buNone/>
            </a:pPr>
            <a:r>
              <a:rPr lang="en-US" sz="2625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0.95</a:t>
            </a:r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625" dirty="0"/>
          </a:p>
        </p:txBody>
      </p:sp>
      <p:sp>
        <p:nvSpPr>
          <p:cNvPr id="53" name="Shape 49"/>
          <p:cNvSpPr/>
          <p:nvPr/>
        </p:nvSpPr>
        <p:spPr>
          <a:xfrm>
            <a:off x="1047750" y="27999730"/>
            <a:ext cx="9294614" cy="2206823"/>
          </a:xfrm>
          <a:prstGeom prst="roundRect">
            <a:avLst>
              <a:gd name="adj" fmla="val 5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7150" dir="5400000">
              <a:srgbClr val="16284A">
                <a:alpha val="8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1047750" y="30193854"/>
            <a:ext cx="9294614" cy="12700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55" name="Shape 51"/>
          <p:cNvSpPr/>
          <p:nvPr/>
        </p:nvSpPr>
        <p:spPr>
          <a:xfrm>
            <a:off x="1047750" y="27999730"/>
            <a:ext cx="9294614" cy="12700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56" name="Shape 52"/>
          <p:cNvSpPr/>
          <p:nvPr/>
        </p:nvSpPr>
        <p:spPr>
          <a:xfrm>
            <a:off x="1047750" y="27999730"/>
            <a:ext cx="127000" cy="2206823"/>
          </a:xfrm>
          <a:prstGeom prst="rect">
            <a:avLst/>
          </a:prstGeom>
          <a:solidFill>
            <a:srgbClr val="D4502A"/>
          </a:solidFill>
          <a:ln/>
        </p:spPr>
      </p:sp>
      <p:sp>
        <p:nvSpPr>
          <p:cNvPr id="57" name="Shape 53"/>
          <p:cNvSpPr/>
          <p:nvPr/>
        </p:nvSpPr>
        <p:spPr>
          <a:xfrm>
            <a:off x="10329664" y="27999730"/>
            <a:ext cx="12700" cy="2206823"/>
          </a:xfrm>
          <a:prstGeom prst="rect">
            <a:avLst/>
          </a:prstGeom>
          <a:solidFill>
            <a:srgbClr val="D8D4C8"/>
          </a:solidFill>
          <a:ln/>
        </p:spPr>
      </p:sp>
      <p:sp>
        <p:nvSpPr>
          <p:cNvPr id="58" name="Text 54"/>
          <p:cNvSpPr/>
          <p:nvPr/>
        </p:nvSpPr>
        <p:spPr>
          <a:xfrm>
            <a:off x="1479550" y="28260080"/>
            <a:ext cx="9399846" cy="44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84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Layer 3 — LSTM Autoencoder </a:t>
            </a:r>
            <a:pPr algn="l" indent="0" marL="0">
              <a:buNone/>
            </a:pPr>
            <a:r>
              <a:rPr lang="en-US" sz="2250" b="1" dirty="0">
                <a:solidFill>
                  <a:srgbClr val="D450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 ~20 ms</a:t>
            </a:r>
            <a:endParaRPr lang="en-US" sz="3000" dirty="0"/>
          </a:p>
        </p:txBody>
      </p:sp>
      <p:sp>
        <p:nvSpPr>
          <p:cNvPr id="59" name="Text 55"/>
          <p:cNvSpPr/>
          <p:nvPr/>
        </p:nvSpPr>
        <p:spPr>
          <a:xfrm>
            <a:off x="1479550" y="28761730"/>
            <a:ext cx="8801674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Unsupervised anomaly detector trained on clean gameplay only; threshold = mean + 4·σ = </a:t>
            </a:r>
            <a:pPr algn="l" indent="0" marL="0">
              <a:lnSpc>
                <a:spcPct val="130000"/>
              </a:lnSpc>
              <a:buNone/>
            </a:pPr>
            <a:r>
              <a:rPr lang="en-US" sz="2625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1.12</a:t>
            </a:r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 Catches </a:t>
            </a:r>
            <a:pPr algn="l" indent="0" marL="0">
              <a:lnSpc>
                <a:spcPct val="130000"/>
              </a:lnSpc>
              <a:buNone/>
            </a:pPr>
            <a:r>
              <a:rPr lang="en-US" sz="2625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novel cheats</a:t>
            </a:r>
            <a:pPr algn="l" indent="0" marL="0">
              <a:lnSpc>
                <a:spcPct val="130000"/>
              </a:lnSpc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625" dirty="0"/>
          </a:p>
        </p:txBody>
      </p:sp>
      <p:sp>
        <p:nvSpPr>
          <p:cNvPr id="60" name="Shape 56"/>
          <p:cNvSpPr/>
          <p:nvPr/>
        </p:nvSpPr>
        <p:spPr>
          <a:xfrm>
            <a:off x="10628114" y="23051295"/>
            <a:ext cx="9126736" cy="7155260"/>
          </a:xfrm>
          <a:prstGeom prst="roundRect">
            <a:avLst>
              <a:gd name="adj" fmla="val 2130"/>
            </a:avLst>
          </a:prstGeom>
          <a:solidFill>
            <a:srgbClr val="FFFFFF"/>
          </a:solidFill>
          <a:ln w="12700">
            <a:solidFill>
              <a:srgbClr val="D8D4C8"/>
            </a:solidFill>
            <a:prstDash val="solid"/>
          </a:ln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pic>
        <p:nvPicPr>
          <p:cNvPr id="6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8464" y="23273545"/>
            <a:ext cx="8606036" cy="5974160"/>
          </a:xfrm>
          <a:prstGeom prst="rect">
            <a:avLst/>
          </a:prstGeom>
        </p:spPr>
      </p:pic>
      <p:sp>
        <p:nvSpPr>
          <p:cNvPr id="62" name="Text 57"/>
          <p:cNvSpPr/>
          <p:nvPr/>
        </p:nvSpPr>
        <p:spPr>
          <a:xfrm>
            <a:off x="10759374" y="29400103"/>
            <a:ext cx="8864217" cy="62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2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 2 — Ensemble combiner: 2/3 layers agree → high confidence; 1/3 → warning.</a:t>
            </a:r>
            <a:endParaRPr lang="en-US" sz="1800" dirty="0"/>
          </a:p>
        </p:txBody>
      </p:sp>
      <p:sp>
        <p:nvSpPr>
          <p:cNvPr id="63" name="Shape 58"/>
          <p:cNvSpPr/>
          <p:nvPr/>
        </p:nvSpPr>
        <p:spPr>
          <a:xfrm>
            <a:off x="1047750" y="30473254"/>
            <a:ext cx="18707100" cy="879475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2700">
            <a:solidFill>
              <a:srgbClr val="D8D4C8"/>
            </a:solidFill>
            <a:prstDash val="solid"/>
          </a:ln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595" y="30695503"/>
            <a:ext cx="15213410" cy="7905750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398780" y="38753653"/>
            <a:ext cx="2000504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2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 3 — Live detection in action: the three-layer stack flagging cheats in real time.</a:t>
            </a:r>
            <a:endParaRPr lang="en-US" sz="1800" dirty="0"/>
          </a:p>
        </p:txBody>
      </p:sp>
      <p:sp>
        <p:nvSpPr>
          <p:cNvPr id="66" name="Shape 60"/>
          <p:cNvSpPr/>
          <p:nvPr/>
        </p:nvSpPr>
        <p:spPr>
          <a:xfrm>
            <a:off x="20497800" y="5969794"/>
            <a:ext cx="38100" cy="33755807"/>
          </a:xfrm>
          <a:prstGeom prst="roundRect">
            <a:avLst>
              <a:gd name="adj" fmla="val 50000"/>
            </a:avLst>
          </a:prstGeom>
          <a:solidFill>
            <a:srgbClr val="16284A">
              <a:alpha val="22000"/>
            </a:srgbClr>
          </a:solidFill>
          <a:ln/>
        </p:spPr>
      </p:sp>
      <p:sp>
        <p:nvSpPr>
          <p:cNvPr id="67" name="Shape 61"/>
          <p:cNvSpPr/>
          <p:nvPr/>
        </p:nvSpPr>
        <p:spPr>
          <a:xfrm>
            <a:off x="21278850" y="5969794"/>
            <a:ext cx="18707100" cy="901700"/>
          </a:xfrm>
          <a:prstGeom prst="roundRect">
            <a:avLst>
              <a:gd name="adj" fmla="val 21127"/>
            </a:avLst>
          </a:prstGeom>
          <a:solidFill>
            <a:srgbClr val="16284A"/>
          </a:solidFill>
          <a:ln/>
          <a:effectLst>
            <a:outerShdw sx="100000" sy="100000" kx="0" ky="0" algn="bl" rotWithShape="0" blurRad="190500" dist="76200" dir="5400000">
              <a:srgbClr val="16284A">
                <a:alpha val="18000"/>
              </a:srgbClr>
            </a:outerShdw>
          </a:effectLst>
        </p:spPr>
      </p:sp>
      <p:sp>
        <p:nvSpPr>
          <p:cNvPr id="68" name="Text 62"/>
          <p:cNvSpPr/>
          <p:nvPr/>
        </p:nvSpPr>
        <p:spPr>
          <a:xfrm>
            <a:off x="21621750" y="6185694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850" dirty="0"/>
          </a:p>
        </p:txBody>
      </p:sp>
      <p:sp>
        <p:nvSpPr>
          <p:cNvPr id="69" name="Text 63"/>
          <p:cNvSpPr/>
          <p:nvPr/>
        </p:nvSpPr>
        <p:spPr>
          <a:xfrm>
            <a:off x="22265680" y="6160294"/>
            <a:ext cx="7601863" cy="55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Dataset &amp; Feature Engineering</a:t>
            </a:r>
            <a:endParaRPr lang="en-US" sz="3750" dirty="0"/>
          </a:p>
        </p:txBody>
      </p:sp>
      <p:sp>
        <p:nvSpPr>
          <p:cNvPr id="70" name="Shape 64"/>
          <p:cNvSpPr/>
          <p:nvPr/>
        </p:nvSpPr>
        <p:spPr>
          <a:xfrm rot="2700000">
            <a:off x="21278852" y="9237663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71" name="Text 65"/>
          <p:cNvSpPr/>
          <p:nvPr/>
        </p:nvSpPr>
        <p:spPr>
          <a:xfrm>
            <a:off x="21640800" y="9104313"/>
            <a:ext cx="8324217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CS2CD dataset: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795 real CS2 matches, 48.9 GB, 225 raw columns → 12 fields projected to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18 features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700" dirty="0"/>
          </a:p>
        </p:txBody>
      </p:sp>
      <p:sp>
        <p:nvSpPr>
          <p:cNvPr id="72" name="Shape 66"/>
          <p:cNvSpPr/>
          <p:nvPr/>
        </p:nvSpPr>
        <p:spPr>
          <a:xfrm rot="2700000">
            <a:off x="21278852" y="10371138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73" name="Text 67"/>
          <p:cNvSpPr/>
          <p:nvPr/>
        </p:nvSpPr>
        <p:spPr>
          <a:xfrm>
            <a:off x="21640800" y="10237788"/>
            <a:ext cx="8324217" cy="1395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Three sliding windows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1s, 5s, 30s — capture aim behavior, shooting performance, movement &amp; combat metrics.</a:t>
            </a:r>
            <a:endParaRPr lang="en-US" sz="2700" dirty="0"/>
          </a:p>
        </p:txBody>
      </p:sp>
      <p:sp>
        <p:nvSpPr>
          <p:cNvPr id="74" name="Shape 68"/>
          <p:cNvSpPr/>
          <p:nvPr/>
        </p:nvSpPr>
        <p:spPr>
          <a:xfrm rot="2700000">
            <a:off x="21278852" y="11957050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75" name="Text 69"/>
          <p:cNvSpPr/>
          <p:nvPr/>
        </p:nvSpPr>
        <p:spPr>
          <a:xfrm>
            <a:off x="21640800" y="11823700"/>
            <a:ext cx="8324217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131K train / 44K test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split by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player ID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(not timestamp) to prevent leakage and test on unseen players.</a:t>
            </a:r>
            <a:endParaRPr lang="en-US" sz="2700" dirty="0"/>
          </a:p>
        </p:txBody>
      </p:sp>
      <p:sp>
        <p:nvSpPr>
          <p:cNvPr id="76" name="Shape 70"/>
          <p:cNvSpPr/>
          <p:nvPr/>
        </p:nvSpPr>
        <p:spPr>
          <a:xfrm>
            <a:off x="30008315" y="7157244"/>
            <a:ext cx="9977636" cy="7518599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D8D4C8"/>
            </a:solidFill>
            <a:prstDash val="solid"/>
          </a:ln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pic>
        <p:nvPicPr>
          <p:cNvPr id="7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68664" y="7379494"/>
            <a:ext cx="9456936" cy="6629599"/>
          </a:xfrm>
          <a:prstGeom prst="rect">
            <a:avLst/>
          </a:prstGeom>
        </p:spPr>
      </p:pic>
      <p:sp>
        <p:nvSpPr>
          <p:cNvPr id="78" name="Text 71"/>
          <p:cNvSpPr/>
          <p:nvPr/>
        </p:nvSpPr>
        <p:spPr>
          <a:xfrm>
            <a:off x="29795817" y="14161493"/>
            <a:ext cx="1040263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2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 4 — 18-feature hierarchy across 1s / 5s / 30s windows.</a:t>
            </a:r>
            <a:endParaRPr lang="en-US" sz="1800" dirty="0"/>
          </a:p>
        </p:txBody>
      </p:sp>
      <p:sp>
        <p:nvSpPr>
          <p:cNvPr id="79" name="Shape 72"/>
          <p:cNvSpPr/>
          <p:nvPr/>
        </p:nvSpPr>
        <p:spPr>
          <a:xfrm>
            <a:off x="21278850" y="14675843"/>
            <a:ext cx="18707100" cy="901700"/>
          </a:xfrm>
          <a:prstGeom prst="roundRect">
            <a:avLst>
              <a:gd name="adj" fmla="val 21127"/>
            </a:avLst>
          </a:prstGeom>
          <a:solidFill>
            <a:srgbClr val="16284A"/>
          </a:solidFill>
          <a:ln/>
          <a:effectLst>
            <a:outerShdw sx="100000" sy="100000" kx="0" ky="0" algn="bl" rotWithShape="0" blurRad="190500" dist="76200" dir="5400000">
              <a:srgbClr val="16284A">
                <a:alpha val="18000"/>
              </a:srgbClr>
            </a:outerShdw>
          </a:effectLst>
        </p:spPr>
      </p:sp>
      <p:sp>
        <p:nvSpPr>
          <p:cNvPr id="80" name="Text 73"/>
          <p:cNvSpPr/>
          <p:nvPr/>
        </p:nvSpPr>
        <p:spPr>
          <a:xfrm>
            <a:off x="21621750" y="14891742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2850" dirty="0"/>
          </a:p>
        </p:txBody>
      </p:sp>
      <p:sp>
        <p:nvSpPr>
          <p:cNvPr id="81" name="Text 74"/>
          <p:cNvSpPr/>
          <p:nvPr/>
        </p:nvSpPr>
        <p:spPr>
          <a:xfrm>
            <a:off x="22265680" y="14866343"/>
            <a:ext cx="1898610" cy="55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Results</a:t>
            </a:r>
            <a:endParaRPr lang="en-US" sz="3750" dirty="0"/>
          </a:p>
        </p:txBody>
      </p:sp>
      <p:sp>
        <p:nvSpPr>
          <p:cNvPr id="82" name="Shape 75"/>
          <p:cNvSpPr/>
          <p:nvPr/>
        </p:nvSpPr>
        <p:spPr>
          <a:xfrm>
            <a:off x="21278850" y="15863292"/>
            <a:ext cx="18707100" cy="7200900"/>
          </a:xfrm>
          <a:prstGeom prst="roundRect">
            <a:avLst>
              <a:gd name="adj" fmla="val 1852"/>
            </a:avLst>
          </a:prstGeom>
          <a:ln/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sp>
        <p:nvSpPr>
          <p:cNvPr id="83" name="Shape 76"/>
          <p:cNvSpPr/>
          <p:nvPr/>
        </p:nvSpPr>
        <p:spPr>
          <a:xfrm>
            <a:off x="21278850" y="15863292"/>
            <a:ext cx="18707100" cy="698500"/>
          </a:xfrm>
          <a:prstGeom prst="rect">
            <a:avLst/>
          </a:prstGeom>
          <a:solidFill>
            <a:srgbClr val="16284A"/>
          </a:solidFill>
          <a:ln/>
        </p:spPr>
      </p:sp>
      <p:sp>
        <p:nvSpPr>
          <p:cNvPr id="84" name="Text 77"/>
          <p:cNvSpPr/>
          <p:nvPr/>
        </p:nvSpPr>
        <p:spPr>
          <a:xfrm>
            <a:off x="21583650" y="16015692"/>
            <a:ext cx="9670226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Metric</a:t>
            </a:r>
            <a:endParaRPr lang="en-US" sz="2850" dirty="0"/>
          </a:p>
        </p:txBody>
      </p:sp>
      <p:sp>
        <p:nvSpPr>
          <p:cNvPr id="85" name="Text 78"/>
          <p:cNvSpPr/>
          <p:nvPr/>
        </p:nvSpPr>
        <p:spPr>
          <a:xfrm>
            <a:off x="31302263" y="16015692"/>
            <a:ext cx="8378887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Value</a:t>
            </a:r>
            <a:endParaRPr lang="en-US" sz="2850" dirty="0"/>
          </a:p>
        </p:txBody>
      </p:sp>
      <p:sp>
        <p:nvSpPr>
          <p:cNvPr id="86" name="Shape 79"/>
          <p:cNvSpPr/>
          <p:nvPr/>
        </p:nvSpPr>
        <p:spPr>
          <a:xfrm>
            <a:off x="21278850" y="16561793"/>
            <a:ext cx="18707100" cy="7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7" name="Shape 80"/>
          <p:cNvSpPr/>
          <p:nvPr/>
        </p:nvSpPr>
        <p:spPr>
          <a:xfrm>
            <a:off x="21278850" y="172666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88" name="Text 81"/>
          <p:cNvSpPr/>
          <p:nvPr/>
        </p:nvSpPr>
        <p:spPr>
          <a:xfrm>
            <a:off x="21583650" y="16676093"/>
            <a:ext cx="9670226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XGBoost Accuracy</a:t>
            </a:r>
            <a:endParaRPr lang="en-US" sz="2625" dirty="0"/>
          </a:p>
        </p:txBody>
      </p:sp>
      <p:sp>
        <p:nvSpPr>
          <p:cNvPr id="89" name="Shape 82"/>
          <p:cNvSpPr/>
          <p:nvPr/>
        </p:nvSpPr>
        <p:spPr>
          <a:xfrm>
            <a:off x="31259264" y="172666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90" name="Text 83"/>
          <p:cNvSpPr/>
          <p:nvPr/>
        </p:nvSpPr>
        <p:spPr>
          <a:xfrm>
            <a:off x="31302263" y="16676093"/>
            <a:ext cx="837888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D450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85.9%</a:t>
            </a:r>
            <a:endParaRPr lang="en-US" sz="2625" dirty="0"/>
          </a:p>
        </p:txBody>
      </p:sp>
      <p:sp>
        <p:nvSpPr>
          <p:cNvPr id="91" name="Shape 84"/>
          <p:cNvSpPr/>
          <p:nvPr/>
        </p:nvSpPr>
        <p:spPr>
          <a:xfrm>
            <a:off x="21278850" y="17279343"/>
            <a:ext cx="18707100" cy="723900"/>
          </a:xfrm>
          <a:prstGeom prst="rect">
            <a:avLst/>
          </a:prstGeom>
          <a:solidFill>
            <a:srgbClr val="F7F5EF"/>
          </a:solidFill>
          <a:ln/>
        </p:spPr>
      </p:sp>
      <p:sp>
        <p:nvSpPr>
          <p:cNvPr id="92" name="Shape 85"/>
          <p:cNvSpPr/>
          <p:nvPr/>
        </p:nvSpPr>
        <p:spPr>
          <a:xfrm>
            <a:off x="21278850" y="179905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93" name="Text 86"/>
          <p:cNvSpPr/>
          <p:nvPr/>
        </p:nvSpPr>
        <p:spPr>
          <a:xfrm>
            <a:off x="21583650" y="173936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XGBoost F1 (weighted)</a:t>
            </a:r>
            <a:endParaRPr lang="en-US" sz="2625" dirty="0"/>
          </a:p>
        </p:txBody>
      </p:sp>
      <p:sp>
        <p:nvSpPr>
          <p:cNvPr id="94" name="Shape 87"/>
          <p:cNvSpPr/>
          <p:nvPr/>
        </p:nvSpPr>
        <p:spPr>
          <a:xfrm>
            <a:off x="31259264" y="179905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95" name="Text 88"/>
          <p:cNvSpPr/>
          <p:nvPr/>
        </p:nvSpPr>
        <p:spPr>
          <a:xfrm>
            <a:off x="31302263" y="173936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85.1%</a:t>
            </a:r>
            <a:endParaRPr lang="en-US" sz="2625" dirty="0"/>
          </a:p>
        </p:txBody>
      </p:sp>
      <p:sp>
        <p:nvSpPr>
          <p:cNvPr id="96" name="Shape 89"/>
          <p:cNvSpPr/>
          <p:nvPr/>
        </p:nvSpPr>
        <p:spPr>
          <a:xfrm>
            <a:off x="21278850" y="18003243"/>
            <a:ext cx="18707100" cy="723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0"/>
          <p:cNvSpPr/>
          <p:nvPr/>
        </p:nvSpPr>
        <p:spPr>
          <a:xfrm>
            <a:off x="21278850" y="187144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98" name="Text 91"/>
          <p:cNvSpPr/>
          <p:nvPr/>
        </p:nvSpPr>
        <p:spPr>
          <a:xfrm>
            <a:off x="21583650" y="181175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Rule Engine FP Rate</a:t>
            </a:r>
            <a:endParaRPr lang="en-US" sz="2625" dirty="0"/>
          </a:p>
        </p:txBody>
      </p:sp>
      <p:sp>
        <p:nvSpPr>
          <p:cNvPr id="99" name="Shape 92"/>
          <p:cNvSpPr/>
          <p:nvPr/>
        </p:nvSpPr>
        <p:spPr>
          <a:xfrm>
            <a:off x="31259264" y="187144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00" name="Text 93"/>
          <p:cNvSpPr/>
          <p:nvPr/>
        </p:nvSpPr>
        <p:spPr>
          <a:xfrm>
            <a:off x="31302263" y="181175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D450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0%</a:t>
            </a:r>
            <a:endParaRPr lang="en-US" sz="2625" dirty="0"/>
          </a:p>
        </p:txBody>
      </p:sp>
      <p:sp>
        <p:nvSpPr>
          <p:cNvPr id="101" name="Shape 94"/>
          <p:cNvSpPr/>
          <p:nvPr/>
        </p:nvSpPr>
        <p:spPr>
          <a:xfrm>
            <a:off x="21278850" y="18727143"/>
            <a:ext cx="18707100" cy="723900"/>
          </a:xfrm>
          <a:prstGeom prst="rect">
            <a:avLst/>
          </a:prstGeom>
          <a:solidFill>
            <a:srgbClr val="F7F5EF"/>
          </a:solidFill>
          <a:ln/>
        </p:spPr>
      </p:sp>
      <p:sp>
        <p:nvSpPr>
          <p:cNvPr id="102" name="Shape 95"/>
          <p:cNvSpPr/>
          <p:nvPr/>
        </p:nvSpPr>
        <p:spPr>
          <a:xfrm>
            <a:off x="21278850" y="194383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03" name="Text 96"/>
          <p:cNvSpPr/>
          <p:nvPr/>
        </p:nvSpPr>
        <p:spPr>
          <a:xfrm>
            <a:off x="21583650" y="188414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LSTM Anomaly Threshold</a:t>
            </a:r>
            <a:endParaRPr lang="en-US" sz="2625" dirty="0"/>
          </a:p>
        </p:txBody>
      </p:sp>
      <p:sp>
        <p:nvSpPr>
          <p:cNvPr id="104" name="Shape 97"/>
          <p:cNvSpPr/>
          <p:nvPr/>
        </p:nvSpPr>
        <p:spPr>
          <a:xfrm>
            <a:off x="31259264" y="194383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05" name="Text 98"/>
          <p:cNvSpPr/>
          <p:nvPr/>
        </p:nvSpPr>
        <p:spPr>
          <a:xfrm>
            <a:off x="31302263" y="188414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1.12</a:t>
            </a:r>
            <a:endParaRPr lang="en-US" sz="2625" dirty="0"/>
          </a:p>
        </p:txBody>
      </p:sp>
      <p:sp>
        <p:nvSpPr>
          <p:cNvPr id="106" name="Shape 99"/>
          <p:cNvSpPr/>
          <p:nvPr/>
        </p:nvSpPr>
        <p:spPr>
          <a:xfrm>
            <a:off x="21278850" y="19451043"/>
            <a:ext cx="18707100" cy="723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hape 100"/>
          <p:cNvSpPr/>
          <p:nvPr/>
        </p:nvSpPr>
        <p:spPr>
          <a:xfrm>
            <a:off x="21278850" y="201622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08" name="Text 101"/>
          <p:cNvSpPr/>
          <p:nvPr/>
        </p:nvSpPr>
        <p:spPr>
          <a:xfrm>
            <a:off x="21583650" y="195653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XGBoost Inference</a:t>
            </a:r>
            <a:endParaRPr lang="en-US" sz="2625" dirty="0"/>
          </a:p>
        </p:txBody>
      </p:sp>
      <p:sp>
        <p:nvSpPr>
          <p:cNvPr id="109" name="Shape 102"/>
          <p:cNvSpPr/>
          <p:nvPr/>
        </p:nvSpPr>
        <p:spPr>
          <a:xfrm>
            <a:off x="31259264" y="201622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10" name="Text 103"/>
          <p:cNvSpPr/>
          <p:nvPr/>
        </p:nvSpPr>
        <p:spPr>
          <a:xfrm>
            <a:off x="31302263" y="195653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&lt;1 ms</a:t>
            </a:r>
            <a:endParaRPr lang="en-US" sz="2625" dirty="0"/>
          </a:p>
        </p:txBody>
      </p:sp>
      <p:sp>
        <p:nvSpPr>
          <p:cNvPr id="111" name="Shape 104"/>
          <p:cNvSpPr/>
          <p:nvPr/>
        </p:nvSpPr>
        <p:spPr>
          <a:xfrm>
            <a:off x="21278850" y="20174943"/>
            <a:ext cx="18707100" cy="723900"/>
          </a:xfrm>
          <a:prstGeom prst="rect">
            <a:avLst/>
          </a:prstGeom>
          <a:solidFill>
            <a:srgbClr val="F7F5EF"/>
          </a:solidFill>
          <a:ln/>
        </p:spPr>
      </p:sp>
      <p:sp>
        <p:nvSpPr>
          <p:cNvPr id="112" name="Shape 105"/>
          <p:cNvSpPr/>
          <p:nvPr/>
        </p:nvSpPr>
        <p:spPr>
          <a:xfrm>
            <a:off x="21278850" y="208861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13" name="Text 106"/>
          <p:cNvSpPr/>
          <p:nvPr/>
        </p:nvSpPr>
        <p:spPr>
          <a:xfrm>
            <a:off x="21583650" y="202892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LSTM Inference</a:t>
            </a:r>
            <a:endParaRPr lang="en-US" sz="2625" dirty="0"/>
          </a:p>
        </p:txBody>
      </p:sp>
      <p:sp>
        <p:nvSpPr>
          <p:cNvPr id="114" name="Shape 107"/>
          <p:cNvSpPr/>
          <p:nvPr/>
        </p:nvSpPr>
        <p:spPr>
          <a:xfrm>
            <a:off x="31259264" y="208861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15" name="Text 108"/>
          <p:cNvSpPr/>
          <p:nvPr/>
        </p:nvSpPr>
        <p:spPr>
          <a:xfrm>
            <a:off x="31302263" y="202892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~20 ms</a:t>
            </a:r>
            <a:endParaRPr lang="en-US" sz="2625" dirty="0"/>
          </a:p>
        </p:txBody>
      </p:sp>
      <p:sp>
        <p:nvSpPr>
          <p:cNvPr id="116" name="Shape 109"/>
          <p:cNvSpPr/>
          <p:nvPr/>
        </p:nvSpPr>
        <p:spPr>
          <a:xfrm>
            <a:off x="21278850" y="20898843"/>
            <a:ext cx="18707100" cy="723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Shape 110"/>
          <p:cNvSpPr/>
          <p:nvPr/>
        </p:nvSpPr>
        <p:spPr>
          <a:xfrm>
            <a:off x="21278850" y="216100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18" name="Text 111"/>
          <p:cNvSpPr/>
          <p:nvPr/>
        </p:nvSpPr>
        <p:spPr>
          <a:xfrm>
            <a:off x="21583650" y="210131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End-to-End Latency</a:t>
            </a:r>
            <a:endParaRPr lang="en-US" sz="2625" dirty="0"/>
          </a:p>
        </p:txBody>
      </p:sp>
      <p:sp>
        <p:nvSpPr>
          <p:cNvPr id="119" name="Shape 112"/>
          <p:cNvSpPr/>
          <p:nvPr/>
        </p:nvSpPr>
        <p:spPr>
          <a:xfrm>
            <a:off x="31259264" y="216100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20" name="Text 113"/>
          <p:cNvSpPr/>
          <p:nvPr/>
        </p:nvSpPr>
        <p:spPr>
          <a:xfrm>
            <a:off x="31302263" y="210131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D450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&lt;5 seconds</a:t>
            </a:r>
            <a:endParaRPr lang="en-US" sz="2625" dirty="0"/>
          </a:p>
        </p:txBody>
      </p:sp>
      <p:sp>
        <p:nvSpPr>
          <p:cNvPr id="121" name="Shape 114"/>
          <p:cNvSpPr/>
          <p:nvPr/>
        </p:nvSpPr>
        <p:spPr>
          <a:xfrm>
            <a:off x="21278850" y="21622743"/>
            <a:ext cx="18707100" cy="723900"/>
          </a:xfrm>
          <a:prstGeom prst="rect">
            <a:avLst/>
          </a:prstGeom>
          <a:solidFill>
            <a:srgbClr val="F7F5EF"/>
          </a:solidFill>
          <a:ln/>
        </p:spPr>
      </p:sp>
      <p:sp>
        <p:nvSpPr>
          <p:cNvPr id="122" name="Shape 115"/>
          <p:cNvSpPr/>
          <p:nvPr/>
        </p:nvSpPr>
        <p:spPr>
          <a:xfrm>
            <a:off x="21278850" y="22333943"/>
            <a:ext cx="9980414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23" name="Text 116"/>
          <p:cNvSpPr/>
          <p:nvPr/>
        </p:nvSpPr>
        <p:spPr>
          <a:xfrm>
            <a:off x="21583650" y="21737043"/>
            <a:ext cx="9670226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Detection Path Latency</a:t>
            </a:r>
            <a:endParaRPr lang="en-US" sz="2625" dirty="0"/>
          </a:p>
        </p:txBody>
      </p:sp>
      <p:sp>
        <p:nvSpPr>
          <p:cNvPr id="124" name="Shape 117"/>
          <p:cNvSpPr/>
          <p:nvPr/>
        </p:nvSpPr>
        <p:spPr>
          <a:xfrm>
            <a:off x="31259264" y="22333943"/>
            <a:ext cx="8726686" cy="12700"/>
          </a:xfrm>
          <a:prstGeom prst="rect">
            <a:avLst/>
          </a:prstGeom>
          <a:solidFill>
            <a:srgbClr val="EAE6DC"/>
          </a:solidFill>
          <a:ln/>
        </p:spPr>
      </p:sp>
      <p:sp>
        <p:nvSpPr>
          <p:cNvPr id="125" name="Text 118"/>
          <p:cNvSpPr/>
          <p:nvPr/>
        </p:nvSpPr>
        <p:spPr>
          <a:xfrm>
            <a:off x="31302263" y="21737043"/>
            <a:ext cx="8378887" cy="52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&lt;50 ms</a:t>
            </a:r>
            <a:endParaRPr lang="en-US" sz="2625" dirty="0"/>
          </a:p>
        </p:txBody>
      </p:sp>
      <p:sp>
        <p:nvSpPr>
          <p:cNvPr id="126" name="Shape 119"/>
          <p:cNvSpPr/>
          <p:nvPr/>
        </p:nvSpPr>
        <p:spPr>
          <a:xfrm>
            <a:off x="21278850" y="22346643"/>
            <a:ext cx="18707100" cy="7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7" name="Text 120"/>
          <p:cNvSpPr/>
          <p:nvPr/>
        </p:nvSpPr>
        <p:spPr>
          <a:xfrm>
            <a:off x="21583650" y="22460943"/>
            <a:ext cx="9670226" cy="527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625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Throughput</a:t>
            </a:r>
            <a:endParaRPr lang="en-US" sz="2625" dirty="0"/>
          </a:p>
        </p:txBody>
      </p:sp>
      <p:sp>
        <p:nvSpPr>
          <p:cNvPr id="128" name="Text 121"/>
          <p:cNvSpPr/>
          <p:nvPr/>
        </p:nvSpPr>
        <p:spPr>
          <a:xfrm>
            <a:off x="31302263" y="22460943"/>
            <a:ext cx="8378887" cy="527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625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~540 events/sec</a:t>
            </a:r>
            <a:endParaRPr lang="en-US" sz="2625" dirty="0"/>
          </a:p>
        </p:txBody>
      </p:sp>
      <p:sp>
        <p:nvSpPr>
          <p:cNvPr id="129" name="Text 122"/>
          <p:cNvSpPr/>
          <p:nvPr/>
        </p:nvSpPr>
        <p:spPr>
          <a:xfrm>
            <a:off x="21278850" y="23292792"/>
            <a:ext cx="2057781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84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Per-cheat threat profiles</a:t>
            </a:r>
            <a:endParaRPr lang="en-US" sz="2700" dirty="0"/>
          </a:p>
        </p:txBody>
      </p:sp>
      <p:sp>
        <p:nvSpPr>
          <p:cNvPr id="130" name="Shape 123"/>
          <p:cNvSpPr/>
          <p:nvPr/>
        </p:nvSpPr>
        <p:spPr>
          <a:xfrm>
            <a:off x="21278850" y="23807142"/>
            <a:ext cx="18707100" cy="7670800"/>
          </a:xfrm>
          <a:prstGeom prst="roundRect">
            <a:avLst>
              <a:gd name="adj" fmla="val 1987"/>
            </a:avLst>
          </a:prstGeom>
          <a:solidFill>
            <a:srgbClr val="FFFFFF"/>
          </a:solidFill>
          <a:ln w="12700">
            <a:solidFill>
              <a:srgbClr val="D8D4C8"/>
            </a:solidFill>
            <a:prstDash val="solid"/>
          </a:ln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pic>
        <p:nvPicPr>
          <p:cNvPr id="1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79200" y="24029394"/>
            <a:ext cx="13106400" cy="6781800"/>
          </a:xfrm>
          <a:prstGeom prst="rect">
            <a:avLst/>
          </a:prstGeom>
        </p:spPr>
      </p:pic>
      <p:sp>
        <p:nvSpPr>
          <p:cNvPr id="132" name="Text 124"/>
          <p:cNvSpPr/>
          <p:nvPr/>
        </p:nvSpPr>
        <p:spPr>
          <a:xfrm>
            <a:off x="20629882" y="30963594"/>
            <a:ext cx="2000504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2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 5 — Per-cheat threat profiles: which layer flags each cheat, and when.</a:t>
            </a:r>
            <a:endParaRPr lang="en-US" sz="1800" dirty="0"/>
          </a:p>
        </p:txBody>
      </p:sp>
      <p:sp>
        <p:nvSpPr>
          <p:cNvPr id="133" name="Shape 125"/>
          <p:cNvSpPr/>
          <p:nvPr/>
        </p:nvSpPr>
        <p:spPr>
          <a:xfrm>
            <a:off x="21278850" y="31801794"/>
            <a:ext cx="18707100" cy="901700"/>
          </a:xfrm>
          <a:prstGeom prst="roundRect">
            <a:avLst>
              <a:gd name="adj" fmla="val 21127"/>
            </a:avLst>
          </a:prstGeom>
          <a:solidFill>
            <a:srgbClr val="D4502A"/>
          </a:solidFill>
          <a:ln/>
          <a:effectLst>
            <a:outerShdw sx="100000" sy="100000" kx="0" ky="0" algn="bl" rotWithShape="0" blurRad="190500" dist="76200" dir="5400000">
              <a:srgbClr val="D4502A">
                <a:alpha val="22000"/>
              </a:srgbClr>
            </a:outerShdw>
          </a:effectLst>
        </p:spPr>
      </p:sp>
      <p:sp>
        <p:nvSpPr>
          <p:cNvPr id="134" name="Text 126"/>
          <p:cNvSpPr/>
          <p:nvPr/>
        </p:nvSpPr>
        <p:spPr>
          <a:xfrm>
            <a:off x="21621750" y="32017692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28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2850" dirty="0"/>
          </a:p>
        </p:txBody>
      </p:sp>
      <p:sp>
        <p:nvSpPr>
          <p:cNvPr id="135" name="Text 127"/>
          <p:cNvSpPr/>
          <p:nvPr/>
        </p:nvSpPr>
        <p:spPr>
          <a:xfrm>
            <a:off x="22265680" y="31992294"/>
            <a:ext cx="2843113" cy="55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Conclusion</a:t>
            </a:r>
            <a:endParaRPr lang="en-US" sz="3750" dirty="0"/>
          </a:p>
        </p:txBody>
      </p:sp>
      <p:sp>
        <p:nvSpPr>
          <p:cNvPr id="136" name="Shape 128"/>
          <p:cNvSpPr/>
          <p:nvPr/>
        </p:nvSpPr>
        <p:spPr>
          <a:xfrm rot="2700000">
            <a:off x="21278852" y="34006830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137" name="Text 129"/>
          <p:cNvSpPr/>
          <p:nvPr/>
        </p:nvSpPr>
        <p:spPr>
          <a:xfrm>
            <a:off x="21640800" y="33873481"/>
            <a:ext cx="8621197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Treating game clients as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IoT sensor nodes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enables fully server-side cheat detection with no client trust.</a:t>
            </a:r>
            <a:endParaRPr lang="en-US" sz="2700" dirty="0"/>
          </a:p>
        </p:txBody>
      </p:sp>
      <p:sp>
        <p:nvSpPr>
          <p:cNvPr id="138" name="Shape 130"/>
          <p:cNvSpPr/>
          <p:nvPr/>
        </p:nvSpPr>
        <p:spPr>
          <a:xfrm rot="2700000">
            <a:off x="21278852" y="35140305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139" name="Text 131"/>
          <p:cNvSpPr/>
          <p:nvPr/>
        </p:nvSpPr>
        <p:spPr>
          <a:xfrm>
            <a:off x="21640800" y="35006956"/>
            <a:ext cx="8621197" cy="1395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three-layer stack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provides defense in depth: rules for known cheats, XGBoost for statistical anomalies, LSTM for novel cheats.</a:t>
            </a:r>
            <a:endParaRPr lang="en-US" sz="2700" dirty="0"/>
          </a:p>
        </p:txBody>
      </p:sp>
      <p:sp>
        <p:nvSpPr>
          <p:cNvPr id="140" name="Shape 132"/>
          <p:cNvSpPr/>
          <p:nvPr/>
        </p:nvSpPr>
        <p:spPr>
          <a:xfrm rot="2700000">
            <a:off x="21278852" y="36726217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D4502A"/>
          </a:solidFill>
          <a:ln/>
        </p:spPr>
      </p:sp>
      <p:sp>
        <p:nvSpPr>
          <p:cNvPr id="141" name="Text 133"/>
          <p:cNvSpPr/>
          <p:nvPr/>
        </p:nvSpPr>
        <p:spPr>
          <a:xfrm>
            <a:off x="21640800" y="36592869"/>
            <a:ext cx="8621197" cy="1395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85.9% accuracy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&lt;5 s latency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pPr algn="l" indent="0" marL="0">
              <a:lnSpc>
                <a:spcPct val="132000"/>
              </a:lnSpc>
              <a:buNone/>
            </a:pPr>
            <a:r>
              <a:rPr lang="en-US" sz="2700" b="1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~540 events/sec </a:t>
            </a:r>
            <a:pPr algn="l" indent="0" marL="0">
              <a:lnSpc>
                <a:spcPct val="132000"/>
              </a:lnSpc>
              <a:buNone/>
            </a:pPr>
            <a:r>
              <a:rPr lang="en-US" sz="2700" dirty="0">
                <a:solidFill>
                  <a:srgbClr val="1C233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fully containerized with Docker Compose for reproducible deployment.</a:t>
            </a:r>
            <a:endParaRPr lang="en-US" sz="2700" dirty="0"/>
          </a:p>
        </p:txBody>
      </p:sp>
      <p:sp>
        <p:nvSpPr>
          <p:cNvPr id="142" name="Shape 134"/>
          <p:cNvSpPr/>
          <p:nvPr/>
        </p:nvSpPr>
        <p:spPr>
          <a:xfrm>
            <a:off x="30296644" y="32989242"/>
            <a:ext cx="9689306" cy="5845175"/>
          </a:xfrm>
          <a:prstGeom prst="roundRect">
            <a:avLst>
              <a:gd name="adj" fmla="val 2607"/>
            </a:avLst>
          </a:prstGeom>
          <a:solidFill>
            <a:srgbClr val="FFFFFF"/>
          </a:solidFill>
          <a:ln w="12700">
            <a:solidFill>
              <a:srgbClr val="D8D4C8"/>
            </a:solidFill>
            <a:prstDash val="solid"/>
          </a:ln>
          <a:effectLst>
            <a:outerShdw sx="100000" sy="100000" kx="0" ky="0" algn="bl" rotWithShape="0" blurRad="247650" dist="95250" dir="5400000">
              <a:srgbClr val="16284A">
                <a:alpha val="10000"/>
              </a:srgbClr>
            </a:outerShdw>
          </a:effectLst>
        </p:spPr>
      </p:sp>
      <p:pic>
        <p:nvPicPr>
          <p:cNvPr id="1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56995" y="33211494"/>
            <a:ext cx="9168607" cy="4664075"/>
          </a:xfrm>
          <a:prstGeom prst="rect">
            <a:avLst/>
          </a:prstGeom>
        </p:spPr>
      </p:pic>
      <p:sp>
        <p:nvSpPr>
          <p:cNvPr id="144" name="Text 135"/>
          <p:cNvSpPr/>
          <p:nvPr/>
        </p:nvSpPr>
        <p:spPr>
          <a:xfrm>
            <a:off x="30419466" y="38027967"/>
            <a:ext cx="9443665" cy="62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2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 6 — State-of-the-art comparison: real-time, multi-layer, deployable.</a:t>
            </a:r>
            <a:endParaRPr lang="en-US" sz="1800" dirty="0"/>
          </a:p>
        </p:txBody>
      </p:sp>
      <p:sp>
        <p:nvSpPr>
          <p:cNvPr id="145" name="Shape 136"/>
          <p:cNvSpPr/>
          <p:nvPr/>
        </p:nvSpPr>
        <p:spPr>
          <a:xfrm>
            <a:off x="0" y="40106603"/>
            <a:ext cx="41033700" cy="927100"/>
          </a:xfrm>
          <a:prstGeom prst="rect">
            <a:avLst/>
          </a:prstGeom>
          <a:solidFill>
            <a:srgbClr val="16284A"/>
          </a:solidFill>
          <a:ln/>
        </p:spPr>
      </p:sp>
      <p:sp>
        <p:nvSpPr>
          <p:cNvPr id="146" name="Text 137"/>
          <p:cNvSpPr/>
          <p:nvPr/>
        </p:nvSpPr>
        <p:spPr>
          <a:xfrm>
            <a:off x="1428750" y="40392353"/>
            <a:ext cx="11003558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75" kern="0" dirty="0">
                <a:solidFill>
                  <a:srgbClr val="FFFFFF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ENGR 5785G — REAL-TIME DATA ANALYTICS FOR IoT · SPRING 2026</a:t>
            </a:r>
            <a:endParaRPr lang="en-US" sz="2100" dirty="0"/>
          </a:p>
        </p:txBody>
      </p:sp>
      <p:sp>
        <p:nvSpPr>
          <p:cNvPr id="147" name="Text 138"/>
          <p:cNvSpPr/>
          <p:nvPr/>
        </p:nvSpPr>
        <p:spPr>
          <a:xfrm>
            <a:off x="28245397" y="40392353"/>
            <a:ext cx="12495511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75" kern="0" dirty="0">
                <a:solidFill>
                  <a:srgbClr val="F08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 CONTAINERS · 4 KAFKA TOPICS · 3 DETECTION LAYERS · &lt;5s END-TO-END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2026-06-23T20:08:00Z</dcterms:created>
  <dcterms:modified xsi:type="dcterms:W3CDTF">2026-06-23T20:08:00Z</dcterms:modified>
</cp:coreProperties>
</file>